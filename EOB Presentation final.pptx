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8288000" cy="10287000"/>
  <p:notesSz cx="6858000" cy="9144000"/>
  <p:embeddedFontLst>
    <p:embeddedFont>
      <p:font typeface="Arimo" panose="020B0604020202020204" charset="0"/>
      <p:regular r:id="rId40"/>
    </p:embeddedFont>
    <p:embeddedFont>
      <p:font typeface="Arimo Bold" panose="020B0604020202020204" charset="0"/>
      <p:regular r:id="rId41"/>
    </p:embeddedFont>
    <p:embeddedFont>
      <p:font typeface="Canva Sans Bold" panose="020B0604020202020204" charset="0"/>
      <p:regular r:id="rId42"/>
    </p:embeddedFont>
    <p:embeddedFont>
      <p:font typeface="The Seasons" panose="020B0604020202020204" charset="0"/>
      <p:regular r:id="rId43"/>
    </p:embeddedFont>
    <p:embeddedFont>
      <p:font typeface="Times New Roman MT" panose="020B0604020202020204" charset="0"/>
      <p:regular r:id="rId44"/>
    </p:embeddedFont>
    <p:embeddedFont>
      <p:font typeface="Times New Roman MT Bold" panose="020B0604020202020204" charset="0"/>
      <p:regular r:id="rId45"/>
    </p:embeddedFont>
    <p:embeddedFont>
      <p:font typeface="Times New Roman MT Semi-Bold" panose="020B0604020202020204" charset="0"/>
      <p:regular r:id="rId46"/>
    </p:embeddedFont>
    <p:embeddedFont>
      <p:font typeface="Vollkorn" panose="020B0604020202020204" charset="0"/>
      <p:regular r:id="rId47"/>
    </p:embeddedFont>
    <p:embeddedFont>
      <p:font typeface="Vollkorn Bold" panose="020B0604020202020204" charset="0"/>
      <p:regular r:id="rId48"/>
    </p:embeddedFont>
    <p:embeddedFont>
      <p:font typeface="Work Sans" panose="020F0502020204030204" pitchFamily="2" charset="0"/>
      <p:regular r:id="rId49"/>
    </p:embeddedFont>
    <p:embeddedFont>
      <p:font typeface="Work Sans Bold" panose="020B0604020202020204" charset="0"/>
      <p:regular r:id="rId5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65" d="100"/>
          <a:sy n="65" d="100"/>
        </p:scale>
        <p:origin x="82" y="18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font" Target="fonts/font1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7.xml"/><Relationship Id="rId6" Type="http://schemas.openxmlformats.org/officeDocument/2006/relationships/image" Target="../media/image13.svg"/><Relationship Id="rId5" Type="http://schemas.openxmlformats.org/officeDocument/2006/relationships/image" Target="../media/image12.jpeg"/><Relationship Id="rId4" Type="http://schemas.openxmlformats.org/officeDocument/2006/relationships/image" Target="../media/image11.jpeg"/></Relationships>
</file>

<file path=ppt/slides/_rels/slide3.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svg"/><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7.xml"/><Relationship Id="rId1" Type="http://schemas.openxmlformats.org/officeDocument/2006/relationships/video" Target="https://www.youtube.com/watch?v=CEmYXYpAhvk" TargetMode="Externa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7.xml"/><Relationship Id="rId1" Type="http://schemas.openxmlformats.org/officeDocument/2006/relationships/video" Target="https://www.youtube.com/watch?v=N7kUpPLKQfA" TargetMode="External"/></Relationships>
</file>

<file path=ppt/slides/_rels/slide1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4" Type="http://schemas.openxmlformats.org/officeDocument/2006/relationships/image" Target="../media/image34.png"/></Relationships>
</file>

<file path=ppt/slides/_rels/slide1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5.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slideLayout" Target="../slideLayouts/slideLayout7.xml"/><Relationship Id="rId1" Type="http://schemas.openxmlformats.org/officeDocument/2006/relationships/video" Target="https://youtu.be/gN5A6L4ry9k?si=as8N2QewwYlL06C0" TargetMode="External"/><Relationship Id="rId4" Type="http://schemas.openxmlformats.org/officeDocument/2006/relationships/image" Target="../media/image2.svg"/></Relationships>
</file>

<file path=ppt/slides/_rels/slide2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svg"/><Relationship Id="rId1" Type="http://schemas.openxmlformats.org/officeDocument/2006/relationships/slideLayout" Target="../slideLayouts/slideLayout7.xml"/><Relationship Id="rId6" Type="http://schemas.openxmlformats.org/officeDocument/2006/relationships/image" Target="../media/image2.svg"/><Relationship Id="rId5" Type="http://schemas.openxmlformats.org/officeDocument/2006/relationships/image" Target="../media/image44.png"/><Relationship Id="rId4" Type="http://schemas.openxmlformats.org/officeDocument/2006/relationships/image" Target="../media/image43.png"/></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48.sv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7.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4.sv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3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svg"/><Relationship Id="rId7" Type="http://schemas.openxmlformats.org/officeDocument/2006/relationships/image" Target="../media/image7.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1.png"/><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grpSp>
        <p:nvGrpSpPr>
          <p:cNvPr id="2" name="Group 2"/>
          <p:cNvGrpSpPr/>
          <p:nvPr/>
        </p:nvGrpSpPr>
        <p:grpSpPr>
          <a:xfrm>
            <a:off x="12243762" y="-325944"/>
            <a:ext cx="2838650" cy="2439465"/>
            <a:chOff x="0" y="0"/>
            <a:chExt cx="812800" cy="698500"/>
          </a:xfrm>
        </p:grpSpPr>
        <p:sp>
          <p:nvSpPr>
            <p:cNvPr id="3" name="Freeform 3"/>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ln w="66675" cap="sq">
              <a:solidFill>
                <a:srgbClr val="1B1B1B"/>
              </a:solidFill>
              <a:prstDash val="solid"/>
              <a:miter/>
            </a:ln>
          </p:spPr>
          <p:txBody>
            <a:bodyPr/>
            <a:lstStyle/>
            <a:p>
              <a:endParaRPr lang="en-US"/>
            </a:p>
          </p:txBody>
        </p:sp>
        <p:sp>
          <p:nvSpPr>
            <p:cNvPr id="4" name="TextBox 4"/>
            <p:cNvSpPr txBox="1"/>
            <p:nvPr/>
          </p:nvSpPr>
          <p:spPr>
            <a:xfrm>
              <a:off x="114300" y="-57150"/>
              <a:ext cx="584200" cy="755650"/>
            </a:xfrm>
            <a:prstGeom prst="rect">
              <a:avLst/>
            </a:prstGeom>
          </p:spPr>
          <p:txBody>
            <a:bodyPr lIns="50800" tIns="50800" rIns="50800" bIns="50800" rtlCol="0" anchor="ctr"/>
            <a:lstStyle/>
            <a:p>
              <a:pPr algn="ctr">
                <a:lnSpc>
                  <a:spcPts val="3359"/>
                </a:lnSpc>
              </a:pPr>
              <a:endParaRPr/>
            </a:p>
          </p:txBody>
        </p:sp>
      </p:grpSp>
      <p:sp>
        <p:nvSpPr>
          <p:cNvPr id="5" name="Freeform 5"/>
          <p:cNvSpPr/>
          <p:nvPr/>
        </p:nvSpPr>
        <p:spPr>
          <a:xfrm>
            <a:off x="14670319" y="-1432063"/>
            <a:ext cx="4688686" cy="4651703"/>
          </a:xfrm>
          <a:custGeom>
            <a:avLst/>
            <a:gdLst/>
            <a:ahLst/>
            <a:cxnLst/>
            <a:rect l="l" t="t" r="r" b="b"/>
            <a:pathLst>
              <a:path w="4688686" h="4651703">
                <a:moveTo>
                  <a:pt x="0" y="0"/>
                </a:moveTo>
                <a:lnTo>
                  <a:pt x="4688686" y="0"/>
                </a:lnTo>
                <a:lnTo>
                  <a:pt x="4688686" y="4651703"/>
                </a:lnTo>
                <a:lnTo>
                  <a:pt x="0" y="46517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rot="-5400000">
            <a:off x="-137146" y="6967906"/>
            <a:ext cx="3657222" cy="3382931"/>
          </a:xfrm>
          <a:custGeom>
            <a:avLst/>
            <a:gdLst/>
            <a:ahLst/>
            <a:cxnLst/>
            <a:rect l="l" t="t" r="r" b="b"/>
            <a:pathLst>
              <a:path w="3657222" h="3382931">
                <a:moveTo>
                  <a:pt x="0" y="0"/>
                </a:moveTo>
                <a:lnTo>
                  <a:pt x="3657223" y="0"/>
                </a:lnTo>
                <a:lnTo>
                  <a:pt x="3657223" y="3382930"/>
                </a:lnTo>
                <a:lnTo>
                  <a:pt x="0" y="338293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Freeform 7"/>
          <p:cNvSpPr/>
          <p:nvPr/>
        </p:nvSpPr>
        <p:spPr>
          <a:xfrm>
            <a:off x="722474" y="8154514"/>
            <a:ext cx="1050353" cy="1522251"/>
          </a:xfrm>
          <a:custGeom>
            <a:avLst/>
            <a:gdLst/>
            <a:ahLst/>
            <a:cxnLst/>
            <a:rect l="l" t="t" r="r" b="b"/>
            <a:pathLst>
              <a:path w="1050353" h="1522251">
                <a:moveTo>
                  <a:pt x="0" y="0"/>
                </a:moveTo>
                <a:lnTo>
                  <a:pt x="1050353" y="0"/>
                </a:lnTo>
                <a:lnTo>
                  <a:pt x="1050353" y="1522251"/>
                </a:lnTo>
                <a:lnTo>
                  <a:pt x="0" y="1522251"/>
                </a:lnTo>
                <a:lnTo>
                  <a:pt x="0" y="0"/>
                </a:lnTo>
                <a:close/>
              </a:path>
            </a:pathLst>
          </a:custGeom>
          <a:blipFill>
            <a:blip>
              <a:alphaModFix amt="8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8" name="Freeform 8"/>
          <p:cNvSpPr/>
          <p:nvPr/>
        </p:nvSpPr>
        <p:spPr>
          <a:xfrm rot="-766226">
            <a:off x="13390340" y="5843648"/>
            <a:ext cx="6829304" cy="6829304"/>
          </a:xfrm>
          <a:custGeom>
            <a:avLst/>
            <a:gdLst/>
            <a:ahLst/>
            <a:cxnLst/>
            <a:rect l="l" t="t" r="r" b="b"/>
            <a:pathLst>
              <a:path w="6829304" h="6829304">
                <a:moveTo>
                  <a:pt x="0" y="0"/>
                </a:moveTo>
                <a:lnTo>
                  <a:pt x="6829304" y="0"/>
                </a:lnTo>
                <a:lnTo>
                  <a:pt x="6829304" y="6829304"/>
                </a:lnTo>
                <a:lnTo>
                  <a:pt x="0" y="6829304"/>
                </a:lnTo>
                <a:lnTo>
                  <a:pt x="0" y="0"/>
                </a:lnTo>
                <a:close/>
              </a:path>
            </a:pathLst>
          </a:custGeom>
          <a:blipFill>
            <a:blip r:embed="rId5">
              <a:alphaModFix amt="81000"/>
            </a:blip>
            <a:stretch>
              <a:fillRect/>
            </a:stretch>
          </a:blipFill>
        </p:spPr>
        <p:txBody>
          <a:bodyPr/>
          <a:lstStyle/>
          <a:p>
            <a:endParaRPr lang="en-US"/>
          </a:p>
        </p:txBody>
      </p:sp>
      <p:sp>
        <p:nvSpPr>
          <p:cNvPr id="9" name="Freeform 9"/>
          <p:cNvSpPr/>
          <p:nvPr/>
        </p:nvSpPr>
        <p:spPr>
          <a:xfrm>
            <a:off x="-862410" y="-790900"/>
            <a:ext cx="2990770" cy="2990770"/>
          </a:xfrm>
          <a:custGeom>
            <a:avLst/>
            <a:gdLst/>
            <a:ahLst/>
            <a:cxnLst/>
            <a:rect l="l" t="t" r="r" b="b"/>
            <a:pathLst>
              <a:path w="2990770" h="2990770">
                <a:moveTo>
                  <a:pt x="0" y="0"/>
                </a:moveTo>
                <a:lnTo>
                  <a:pt x="2990770" y="0"/>
                </a:lnTo>
                <a:lnTo>
                  <a:pt x="2990770" y="2990770"/>
                </a:lnTo>
                <a:lnTo>
                  <a:pt x="0" y="2990770"/>
                </a:lnTo>
                <a:lnTo>
                  <a:pt x="0" y="0"/>
                </a:lnTo>
                <a:close/>
              </a:path>
            </a:pathLst>
          </a:custGeom>
          <a:blipFill>
            <a:blip r:embed="rId6"/>
            <a:stretch>
              <a:fillRect/>
            </a:stretch>
          </a:blipFill>
        </p:spPr>
        <p:txBody>
          <a:bodyPr/>
          <a:lstStyle/>
          <a:p>
            <a:endParaRPr lang="en-US"/>
          </a:p>
        </p:txBody>
      </p:sp>
      <p:sp>
        <p:nvSpPr>
          <p:cNvPr id="10" name="Freeform 10"/>
          <p:cNvSpPr/>
          <p:nvPr/>
        </p:nvSpPr>
        <p:spPr>
          <a:xfrm rot="-10800000">
            <a:off x="-1314895" y="-2162607"/>
            <a:ext cx="12003214" cy="7761893"/>
          </a:xfrm>
          <a:custGeom>
            <a:avLst/>
            <a:gdLst/>
            <a:ahLst/>
            <a:cxnLst/>
            <a:rect l="l" t="t" r="r" b="b"/>
            <a:pathLst>
              <a:path w="12003214" h="7761893">
                <a:moveTo>
                  <a:pt x="0" y="0"/>
                </a:moveTo>
                <a:lnTo>
                  <a:pt x="12003213" y="0"/>
                </a:lnTo>
                <a:lnTo>
                  <a:pt x="12003213" y="7761893"/>
                </a:lnTo>
                <a:lnTo>
                  <a:pt x="0" y="7761893"/>
                </a:lnTo>
                <a:lnTo>
                  <a:pt x="0" y="0"/>
                </a:lnTo>
                <a:close/>
              </a:path>
            </a:pathLst>
          </a:custGeom>
          <a:blipFill>
            <a:blip r:embed="rId7"/>
            <a:stretch>
              <a:fillRect/>
            </a:stretch>
          </a:blipFill>
        </p:spPr>
        <p:txBody>
          <a:bodyPr/>
          <a:lstStyle/>
          <a:p>
            <a:endParaRPr lang="en-US"/>
          </a:p>
        </p:txBody>
      </p:sp>
      <p:grpSp>
        <p:nvGrpSpPr>
          <p:cNvPr id="11" name="Group 11"/>
          <p:cNvGrpSpPr/>
          <p:nvPr/>
        </p:nvGrpSpPr>
        <p:grpSpPr>
          <a:xfrm>
            <a:off x="12299174" y="-310401"/>
            <a:ext cx="2727826" cy="2362297"/>
            <a:chOff x="0" y="0"/>
            <a:chExt cx="6350000" cy="5499100"/>
          </a:xfrm>
        </p:grpSpPr>
        <p:sp>
          <p:nvSpPr>
            <p:cNvPr id="12" name="Freeform 12"/>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8"/>
              <a:stretch>
                <a:fillRect l="-7733" r="-7733"/>
              </a:stretch>
            </a:blipFill>
          </p:spPr>
          <p:txBody>
            <a:bodyPr/>
            <a:lstStyle/>
            <a:p>
              <a:endParaRPr lang="en-US"/>
            </a:p>
          </p:txBody>
        </p:sp>
      </p:grpSp>
      <p:grpSp>
        <p:nvGrpSpPr>
          <p:cNvPr id="13" name="Group 13"/>
          <p:cNvGrpSpPr/>
          <p:nvPr/>
        </p:nvGrpSpPr>
        <p:grpSpPr>
          <a:xfrm>
            <a:off x="14826106" y="1028700"/>
            <a:ext cx="2344343" cy="2046392"/>
            <a:chOff x="0" y="0"/>
            <a:chExt cx="6350000" cy="5542956"/>
          </a:xfrm>
        </p:grpSpPr>
        <p:sp>
          <p:nvSpPr>
            <p:cNvPr id="14" name="Freeform 14"/>
            <p:cNvSpPr/>
            <p:nvPr/>
          </p:nvSpPr>
          <p:spPr>
            <a:xfrm>
              <a:off x="0" y="0"/>
              <a:ext cx="6350000" cy="5542956"/>
            </a:xfrm>
            <a:custGeom>
              <a:avLst/>
              <a:gdLst/>
              <a:ahLst/>
              <a:cxnLst/>
              <a:rect l="l" t="t" r="r" b="b"/>
              <a:pathLst>
                <a:path w="6350000" h="5542956">
                  <a:moveTo>
                    <a:pt x="4762500" y="0"/>
                  </a:moveTo>
                  <a:lnTo>
                    <a:pt x="1587500" y="0"/>
                  </a:lnTo>
                  <a:lnTo>
                    <a:pt x="0" y="2771478"/>
                  </a:lnTo>
                  <a:lnTo>
                    <a:pt x="1587500" y="5542956"/>
                  </a:lnTo>
                  <a:lnTo>
                    <a:pt x="4762500" y="5542956"/>
                  </a:lnTo>
                  <a:lnTo>
                    <a:pt x="6350000" y="2771478"/>
                  </a:lnTo>
                  <a:close/>
                </a:path>
              </a:pathLst>
            </a:custGeom>
            <a:blipFill>
              <a:blip r:embed="rId8"/>
              <a:stretch>
                <a:fillRect l="-8193" r="-8193"/>
              </a:stretch>
            </a:blipFill>
          </p:spPr>
          <p:txBody>
            <a:bodyPr/>
            <a:lstStyle/>
            <a:p>
              <a:endParaRPr lang="en-US"/>
            </a:p>
          </p:txBody>
        </p:sp>
      </p:grpSp>
      <p:grpSp>
        <p:nvGrpSpPr>
          <p:cNvPr id="15" name="Group 15"/>
          <p:cNvGrpSpPr/>
          <p:nvPr/>
        </p:nvGrpSpPr>
        <p:grpSpPr>
          <a:xfrm>
            <a:off x="14826106" y="-1292946"/>
            <a:ext cx="2433194" cy="2107146"/>
            <a:chOff x="0" y="0"/>
            <a:chExt cx="6350000" cy="5499100"/>
          </a:xfrm>
        </p:grpSpPr>
        <p:sp>
          <p:nvSpPr>
            <p:cNvPr id="16" name="Freeform 16"/>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8"/>
              <a:stretch>
                <a:fillRect l="-7733" r="-7733"/>
              </a:stretch>
            </a:blipFill>
          </p:spPr>
          <p:txBody>
            <a:bodyPr/>
            <a:lstStyle/>
            <a:p>
              <a:endParaRPr lang="en-US"/>
            </a:p>
          </p:txBody>
        </p:sp>
      </p:grpSp>
      <p:grpSp>
        <p:nvGrpSpPr>
          <p:cNvPr id="17" name="Group 17"/>
          <p:cNvGrpSpPr/>
          <p:nvPr/>
        </p:nvGrpSpPr>
        <p:grpSpPr>
          <a:xfrm>
            <a:off x="16804992" y="-159784"/>
            <a:ext cx="2433194" cy="2107146"/>
            <a:chOff x="0" y="0"/>
            <a:chExt cx="6350000" cy="5499100"/>
          </a:xfrm>
        </p:grpSpPr>
        <p:sp>
          <p:nvSpPr>
            <p:cNvPr id="18" name="Freeform 18"/>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8"/>
              <a:stretch>
                <a:fillRect l="-7733" r="-7733"/>
              </a:stretch>
            </a:blipFill>
          </p:spPr>
          <p:txBody>
            <a:bodyPr/>
            <a:lstStyle/>
            <a:p>
              <a:endParaRPr lang="en-US"/>
            </a:p>
          </p:txBody>
        </p:sp>
      </p:grpSp>
      <p:sp>
        <p:nvSpPr>
          <p:cNvPr id="19" name="Freeform 19"/>
          <p:cNvSpPr/>
          <p:nvPr/>
        </p:nvSpPr>
        <p:spPr>
          <a:xfrm rot="-4208746">
            <a:off x="16803444" y="1835572"/>
            <a:ext cx="3183011" cy="3183011"/>
          </a:xfrm>
          <a:custGeom>
            <a:avLst/>
            <a:gdLst/>
            <a:ahLst/>
            <a:cxnLst/>
            <a:rect l="l" t="t" r="r" b="b"/>
            <a:pathLst>
              <a:path w="3183011" h="3183011">
                <a:moveTo>
                  <a:pt x="0" y="0"/>
                </a:moveTo>
                <a:lnTo>
                  <a:pt x="3183011" y="0"/>
                </a:lnTo>
                <a:lnTo>
                  <a:pt x="3183011" y="3183010"/>
                </a:lnTo>
                <a:lnTo>
                  <a:pt x="0" y="3183010"/>
                </a:lnTo>
                <a:lnTo>
                  <a:pt x="0" y="0"/>
                </a:lnTo>
                <a:close/>
              </a:path>
            </a:pathLst>
          </a:custGeom>
          <a:blipFill>
            <a:blip r:embed="rId9"/>
            <a:stretch>
              <a:fillRect/>
            </a:stretch>
          </a:blipFill>
        </p:spPr>
        <p:txBody>
          <a:bodyPr/>
          <a:lstStyle/>
          <a:p>
            <a:endParaRPr lang="en-US"/>
          </a:p>
        </p:txBody>
      </p:sp>
      <p:sp>
        <p:nvSpPr>
          <p:cNvPr id="20" name="TextBox 20"/>
          <p:cNvSpPr txBox="1"/>
          <p:nvPr/>
        </p:nvSpPr>
        <p:spPr>
          <a:xfrm>
            <a:off x="312866" y="3383962"/>
            <a:ext cx="17708723" cy="3204604"/>
          </a:xfrm>
          <a:prstGeom prst="rect">
            <a:avLst/>
          </a:prstGeom>
        </p:spPr>
        <p:txBody>
          <a:bodyPr lIns="0" tIns="0" rIns="0" bIns="0" rtlCol="0" anchor="t">
            <a:spAutoFit/>
          </a:bodyPr>
          <a:lstStyle/>
          <a:p>
            <a:pPr algn="ctr">
              <a:lnSpc>
                <a:spcPts val="8384"/>
              </a:lnSpc>
            </a:pPr>
            <a:r>
              <a:rPr lang="en-US" sz="7622" b="1">
                <a:solidFill>
                  <a:srgbClr val="6B2A06"/>
                </a:solidFill>
                <a:latin typeface="Vollkorn Bold"/>
                <a:ea typeface="Vollkorn Bold"/>
                <a:cs typeface="Vollkorn Bold"/>
                <a:sym typeface="Vollkorn Bold"/>
              </a:rPr>
              <a:t> Honeycomb Structures  </a:t>
            </a:r>
          </a:p>
          <a:p>
            <a:pPr algn="ctr">
              <a:lnSpc>
                <a:spcPts val="8384"/>
              </a:lnSpc>
              <a:spcBef>
                <a:spcPct val="0"/>
              </a:spcBef>
            </a:pPr>
            <a:r>
              <a:rPr lang="en-US" sz="7622" b="1">
                <a:solidFill>
                  <a:srgbClr val="6B2A06"/>
                </a:solidFill>
                <a:latin typeface="Vollkorn Bold"/>
                <a:ea typeface="Vollkorn Bold"/>
                <a:cs typeface="Vollkorn Bold"/>
                <a:sym typeface="Vollkorn Bold"/>
              </a:rPr>
              <a:t>&amp; Spider-Web Inspired Structures/Buildings </a:t>
            </a:r>
          </a:p>
        </p:txBody>
      </p:sp>
      <p:grpSp>
        <p:nvGrpSpPr>
          <p:cNvPr id="21" name="Group 21"/>
          <p:cNvGrpSpPr/>
          <p:nvPr/>
        </p:nvGrpSpPr>
        <p:grpSpPr>
          <a:xfrm>
            <a:off x="4278105" y="8407052"/>
            <a:ext cx="9731790" cy="1017176"/>
            <a:chOff x="0" y="0"/>
            <a:chExt cx="12975720" cy="1356234"/>
          </a:xfrm>
        </p:grpSpPr>
        <p:sp>
          <p:nvSpPr>
            <p:cNvPr id="22" name="TextBox 22"/>
            <p:cNvSpPr txBox="1"/>
            <p:nvPr/>
          </p:nvSpPr>
          <p:spPr>
            <a:xfrm>
              <a:off x="0" y="19050"/>
              <a:ext cx="5921349" cy="1337184"/>
            </a:xfrm>
            <a:prstGeom prst="rect">
              <a:avLst/>
            </a:prstGeom>
          </p:spPr>
          <p:txBody>
            <a:bodyPr lIns="0" tIns="0" rIns="0" bIns="0" rtlCol="0" anchor="t">
              <a:spAutoFit/>
            </a:bodyPr>
            <a:lstStyle/>
            <a:p>
              <a:pPr algn="ctr">
                <a:lnSpc>
                  <a:spcPts val="3877"/>
                </a:lnSpc>
              </a:pPr>
              <a:r>
                <a:rPr lang="en-US" sz="3524" b="1">
                  <a:solidFill>
                    <a:srgbClr val="000000"/>
                  </a:solidFill>
                  <a:latin typeface="Vollkorn Bold"/>
                  <a:ea typeface="Vollkorn Bold"/>
                  <a:cs typeface="Vollkorn Bold"/>
                  <a:sym typeface="Vollkorn Bold"/>
                </a:rPr>
                <a:t>Abantika Nandi C328</a:t>
              </a:r>
            </a:p>
            <a:p>
              <a:pPr algn="ctr">
                <a:lnSpc>
                  <a:spcPts val="3877"/>
                </a:lnSpc>
                <a:spcBef>
                  <a:spcPct val="0"/>
                </a:spcBef>
              </a:pPr>
              <a:r>
                <a:rPr lang="en-US" sz="3524" b="1">
                  <a:solidFill>
                    <a:srgbClr val="000000"/>
                  </a:solidFill>
                  <a:latin typeface="Vollkorn Bold"/>
                  <a:ea typeface="Vollkorn Bold"/>
                  <a:cs typeface="Vollkorn Bold"/>
                  <a:sym typeface="Vollkorn Bold"/>
                </a:rPr>
                <a:t>Srija Nandi C329</a:t>
              </a:r>
            </a:p>
          </p:txBody>
        </p:sp>
        <p:sp>
          <p:nvSpPr>
            <p:cNvPr id="23" name="TextBox 23"/>
            <p:cNvSpPr txBox="1"/>
            <p:nvPr/>
          </p:nvSpPr>
          <p:spPr>
            <a:xfrm>
              <a:off x="5965498" y="19050"/>
              <a:ext cx="7010222" cy="1337184"/>
            </a:xfrm>
            <a:prstGeom prst="rect">
              <a:avLst/>
            </a:prstGeom>
          </p:spPr>
          <p:txBody>
            <a:bodyPr lIns="0" tIns="0" rIns="0" bIns="0" rtlCol="0" anchor="t">
              <a:spAutoFit/>
            </a:bodyPr>
            <a:lstStyle/>
            <a:p>
              <a:pPr algn="ctr">
                <a:lnSpc>
                  <a:spcPts val="3877"/>
                </a:lnSpc>
                <a:spcBef>
                  <a:spcPct val="0"/>
                </a:spcBef>
              </a:pPr>
              <a:r>
                <a:rPr lang="en-US" sz="3524" b="1">
                  <a:solidFill>
                    <a:srgbClr val="000000"/>
                  </a:solidFill>
                  <a:latin typeface="Vollkorn Bold"/>
                  <a:ea typeface="Vollkorn Bold"/>
                  <a:cs typeface="Vollkorn Bold"/>
                  <a:sym typeface="Vollkorn Bold"/>
                </a:rPr>
                <a:t>Tvisha Mehta C310 Khushaal Naik C325</a:t>
              </a: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grpSp>
        <p:nvGrpSpPr>
          <p:cNvPr id="2" name="Group 2"/>
          <p:cNvGrpSpPr/>
          <p:nvPr/>
        </p:nvGrpSpPr>
        <p:grpSpPr>
          <a:xfrm>
            <a:off x="-3772768" y="506907"/>
            <a:ext cx="7334162" cy="6351385"/>
            <a:chOff x="0" y="0"/>
            <a:chExt cx="6350000" cy="5499100"/>
          </a:xfrm>
        </p:grpSpPr>
        <p:sp>
          <p:nvSpPr>
            <p:cNvPr id="3" name="Freeform 3"/>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2"/>
              <a:stretch>
                <a:fillRect t="-34231" b="-34231"/>
              </a:stretch>
            </a:blipFill>
          </p:spPr>
          <p:txBody>
            <a:bodyPr/>
            <a:lstStyle/>
            <a:p>
              <a:endParaRPr lang="en-US"/>
            </a:p>
          </p:txBody>
        </p:sp>
      </p:grpSp>
      <p:grpSp>
        <p:nvGrpSpPr>
          <p:cNvPr id="4" name="Group 4"/>
          <p:cNvGrpSpPr/>
          <p:nvPr/>
        </p:nvGrpSpPr>
        <p:grpSpPr>
          <a:xfrm>
            <a:off x="-1736101" y="7214747"/>
            <a:ext cx="4536828" cy="3928893"/>
            <a:chOff x="0" y="0"/>
            <a:chExt cx="6350000" cy="5499100"/>
          </a:xfrm>
        </p:grpSpPr>
        <p:sp>
          <p:nvSpPr>
            <p:cNvPr id="5" name="Freeform 5"/>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3"/>
              <a:stretch>
                <a:fillRect t="-36526" b="-36526"/>
              </a:stretch>
            </a:blipFill>
          </p:spPr>
          <p:txBody>
            <a:bodyPr/>
            <a:lstStyle/>
            <a:p>
              <a:endParaRPr lang="en-US"/>
            </a:p>
          </p:txBody>
        </p:sp>
      </p:grpSp>
      <p:grpSp>
        <p:nvGrpSpPr>
          <p:cNvPr id="6" name="Group 6"/>
          <p:cNvGrpSpPr/>
          <p:nvPr/>
        </p:nvGrpSpPr>
        <p:grpSpPr>
          <a:xfrm>
            <a:off x="1999828" y="4678788"/>
            <a:ext cx="5581487" cy="4833567"/>
            <a:chOff x="0" y="0"/>
            <a:chExt cx="6350000" cy="5499100"/>
          </a:xfrm>
        </p:grpSpPr>
        <p:sp>
          <p:nvSpPr>
            <p:cNvPr id="7" name="Freeform 7"/>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4"/>
              <a:stretch>
                <a:fillRect l="-7663" r="-7663"/>
              </a:stretch>
            </a:blipFill>
          </p:spPr>
          <p:txBody>
            <a:bodyPr/>
            <a:lstStyle/>
            <a:p>
              <a:endParaRPr lang="en-US"/>
            </a:p>
          </p:txBody>
        </p:sp>
      </p:grpSp>
      <p:grpSp>
        <p:nvGrpSpPr>
          <p:cNvPr id="8" name="Group 8"/>
          <p:cNvGrpSpPr/>
          <p:nvPr/>
        </p:nvGrpSpPr>
        <p:grpSpPr>
          <a:xfrm>
            <a:off x="1980496" y="-850591"/>
            <a:ext cx="2838650" cy="2458271"/>
            <a:chOff x="0" y="0"/>
            <a:chExt cx="6350000" cy="5499100"/>
          </a:xfrm>
        </p:grpSpPr>
        <p:sp>
          <p:nvSpPr>
            <p:cNvPr id="9" name="Freeform 9"/>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5"/>
              <a:stretch>
                <a:fillRect l="-61110" r="-61110"/>
              </a:stretch>
            </a:blipFill>
          </p:spPr>
          <p:txBody>
            <a:bodyPr/>
            <a:lstStyle/>
            <a:p>
              <a:endParaRPr lang="en-US"/>
            </a:p>
          </p:txBody>
        </p:sp>
      </p:grpSp>
      <p:sp>
        <p:nvSpPr>
          <p:cNvPr id="10" name="Freeform 10"/>
          <p:cNvSpPr/>
          <p:nvPr/>
        </p:nvSpPr>
        <p:spPr>
          <a:xfrm>
            <a:off x="14411648" y="-1880173"/>
            <a:ext cx="4688686" cy="4651703"/>
          </a:xfrm>
          <a:custGeom>
            <a:avLst/>
            <a:gdLst/>
            <a:ahLst/>
            <a:cxnLst/>
            <a:rect l="l" t="t" r="r" b="b"/>
            <a:pathLst>
              <a:path w="4688686" h="4651703">
                <a:moveTo>
                  <a:pt x="0" y="0"/>
                </a:moveTo>
                <a:lnTo>
                  <a:pt x="4688685" y="0"/>
                </a:lnTo>
                <a:lnTo>
                  <a:pt x="4688685" y="4651703"/>
                </a:lnTo>
                <a:lnTo>
                  <a:pt x="0" y="4651703"/>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TextBox 11"/>
          <p:cNvSpPr txBox="1"/>
          <p:nvPr/>
        </p:nvSpPr>
        <p:spPr>
          <a:xfrm>
            <a:off x="7581314" y="3727419"/>
            <a:ext cx="10015037" cy="2426612"/>
          </a:xfrm>
          <a:prstGeom prst="rect">
            <a:avLst/>
          </a:prstGeom>
        </p:spPr>
        <p:txBody>
          <a:bodyPr lIns="0" tIns="0" rIns="0" bIns="0" rtlCol="0" anchor="t">
            <a:spAutoFit/>
          </a:bodyPr>
          <a:lstStyle/>
          <a:p>
            <a:pPr algn="l">
              <a:lnSpc>
                <a:spcPts val="9047"/>
              </a:lnSpc>
            </a:pPr>
            <a:r>
              <a:rPr lang="en-US" sz="12226" b="1" spc="-110">
                <a:solidFill>
                  <a:srgbClr val="6B2A06"/>
                </a:solidFill>
                <a:latin typeface="Work Sans Bold"/>
                <a:ea typeface="Work Sans Bold"/>
                <a:cs typeface="Work Sans Bold"/>
                <a:sym typeface="Work Sans Bold"/>
              </a:rPr>
              <a:t>HONEYCOMB</a:t>
            </a:r>
          </a:p>
          <a:p>
            <a:pPr algn="l">
              <a:lnSpc>
                <a:spcPts val="8751"/>
              </a:lnSpc>
            </a:pPr>
            <a:r>
              <a:rPr lang="en-US" sz="11826" b="1" spc="-106">
                <a:solidFill>
                  <a:srgbClr val="6B2A06"/>
                </a:solidFill>
                <a:latin typeface="Work Sans Bold"/>
                <a:ea typeface="Work Sans Bold"/>
                <a:cs typeface="Work Sans Bold"/>
                <a:sym typeface="Work Sans Bold"/>
              </a:rPr>
              <a:t>STRUCTURES</a:t>
            </a:r>
          </a:p>
        </p:txBody>
      </p:sp>
      <p:grpSp>
        <p:nvGrpSpPr>
          <p:cNvPr id="12" name="Group 12"/>
          <p:cNvGrpSpPr/>
          <p:nvPr/>
        </p:nvGrpSpPr>
        <p:grpSpPr>
          <a:xfrm>
            <a:off x="1770030" y="-1215117"/>
            <a:ext cx="3259581" cy="2822797"/>
            <a:chOff x="0" y="0"/>
            <a:chExt cx="6350000" cy="5499100"/>
          </a:xfrm>
        </p:grpSpPr>
        <p:sp>
          <p:nvSpPr>
            <p:cNvPr id="13" name="Freeform 13"/>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3"/>
              <a:stretch>
                <a:fillRect t="-36526" b="-36526"/>
              </a:stretch>
            </a:blipFill>
          </p:spPr>
          <p:txBody>
            <a:bodyPr/>
            <a:lstStyle/>
            <a:p>
              <a:endParaRPr lang="en-US"/>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0987812" y="3101133"/>
            <a:ext cx="6090491" cy="7041030"/>
          </a:xfrm>
          <a:custGeom>
            <a:avLst/>
            <a:gdLst/>
            <a:ahLst/>
            <a:cxnLst/>
            <a:rect l="l" t="t" r="r" b="b"/>
            <a:pathLst>
              <a:path w="6090491" h="7041030">
                <a:moveTo>
                  <a:pt x="0" y="0"/>
                </a:moveTo>
                <a:lnTo>
                  <a:pt x="6090491" y="0"/>
                </a:lnTo>
                <a:lnTo>
                  <a:pt x="6090491" y="7041030"/>
                </a:lnTo>
                <a:lnTo>
                  <a:pt x="0" y="704103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5303085" y="-197144"/>
            <a:ext cx="3726282" cy="3726282"/>
          </a:xfrm>
          <a:custGeom>
            <a:avLst/>
            <a:gdLst/>
            <a:ahLst/>
            <a:cxnLst/>
            <a:rect l="l" t="t" r="r" b="b"/>
            <a:pathLst>
              <a:path w="3726282" h="3726282">
                <a:moveTo>
                  <a:pt x="0" y="0"/>
                </a:moveTo>
                <a:lnTo>
                  <a:pt x="3726282" y="0"/>
                </a:lnTo>
                <a:lnTo>
                  <a:pt x="3726282" y="3726282"/>
                </a:lnTo>
                <a:lnTo>
                  <a:pt x="0" y="372628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6021282" y="1386922"/>
            <a:ext cx="6245437" cy="604949"/>
          </a:xfrm>
          <a:prstGeom prst="rect">
            <a:avLst/>
          </a:prstGeom>
        </p:spPr>
        <p:txBody>
          <a:bodyPr lIns="0" tIns="0" rIns="0" bIns="0" rtlCol="0" anchor="t">
            <a:spAutoFit/>
          </a:bodyPr>
          <a:lstStyle/>
          <a:p>
            <a:pPr algn="ctr">
              <a:lnSpc>
                <a:spcPts val="4547"/>
              </a:lnSpc>
              <a:spcBef>
                <a:spcPct val="0"/>
              </a:spcBef>
            </a:pPr>
            <a:r>
              <a:rPr lang="en-US" sz="4133">
                <a:solidFill>
                  <a:srgbClr val="1B1B1B"/>
                </a:solidFill>
                <a:latin typeface="Vollkorn"/>
                <a:ea typeface="Vollkorn"/>
                <a:cs typeface="Vollkorn"/>
                <a:sym typeface="Vollkorn"/>
              </a:rPr>
              <a:t>The engineering challenge :</a:t>
            </a:r>
          </a:p>
        </p:txBody>
      </p:sp>
      <p:sp>
        <p:nvSpPr>
          <p:cNvPr id="5" name="Freeform 5"/>
          <p:cNvSpPr/>
          <p:nvPr/>
        </p:nvSpPr>
        <p:spPr>
          <a:xfrm>
            <a:off x="-1624665" y="-451223"/>
            <a:ext cx="6335830" cy="3552356"/>
          </a:xfrm>
          <a:custGeom>
            <a:avLst/>
            <a:gdLst/>
            <a:ahLst/>
            <a:cxnLst/>
            <a:rect l="l" t="t" r="r" b="b"/>
            <a:pathLst>
              <a:path w="6335830" h="3552356">
                <a:moveTo>
                  <a:pt x="0" y="0"/>
                </a:moveTo>
                <a:lnTo>
                  <a:pt x="6335830" y="0"/>
                </a:lnTo>
                <a:lnTo>
                  <a:pt x="6335830" y="3552356"/>
                </a:lnTo>
                <a:lnTo>
                  <a:pt x="0" y="3552356"/>
                </a:lnTo>
                <a:lnTo>
                  <a:pt x="0" y="0"/>
                </a:lnTo>
                <a:close/>
              </a:path>
            </a:pathLst>
          </a:custGeom>
          <a:blipFill>
            <a:blip r:embed="rId4"/>
            <a:stretch>
              <a:fillRect/>
            </a:stretch>
          </a:blipFill>
        </p:spPr>
        <p:txBody>
          <a:bodyPr/>
          <a:lstStyle/>
          <a:p>
            <a:endParaRPr lang="en-US"/>
          </a:p>
        </p:txBody>
      </p:sp>
      <p:sp>
        <p:nvSpPr>
          <p:cNvPr id="6" name="Freeform 6"/>
          <p:cNvSpPr/>
          <p:nvPr/>
        </p:nvSpPr>
        <p:spPr>
          <a:xfrm>
            <a:off x="376123" y="4431720"/>
            <a:ext cx="1054724" cy="1019980"/>
          </a:xfrm>
          <a:custGeom>
            <a:avLst/>
            <a:gdLst/>
            <a:ahLst/>
            <a:cxnLst/>
            <a:rect l="l" t="t" r="r" b="b"/>
            <a:pathLst>
              <a:path w="1054724" h="1019980">
                <a:moveTo>
                  <a:pt x="0" y="0"/>
                </a:moveTo>
                <a:lnTo>
                  <a:pt x="1054725" y="0"/>
                </a:lnTo>
                <a:lnTo>
                  <a:pt x="1054725" y="1019980"/>
                </a:lnTo>
                <a:lnTo>
                  <a:pt x="0" y="1019980"/>
                </a:lnTo>
                <a:lnTo>
                  <a:pt x="0" y="0"/>
                </a:lnTo>
                <a:close/>
              </a:path>
            </a:pathLst>
          </a:custGeom>
          <a:blipFill>
            <a:blip r:embed="rId5"/>
            <a:stretch>
              <a:fillRect t="-1703" b="-1703"/>
            </a:stretch>
          </a:blipFill>
        </p:spPr>
        <p:txBody>
          <a:bodyPr/>
          <a:lstStyle/>
          <a:p>
            <a:endParaRPr lang="en-US"/>
          </a:p>
        </p:txBody>
      </p:sp>
      <p:sp>
        <p:nvSpPr>
          <p:cNvPr id="7" name="Freeform 7"/>
          <p:cNvSpPr/>
          <p:nvPr/>
        </p:nvSpPr>
        <p:spPr>
          <a:xfrm>
            <a:off x="371080" y="6381632"/>
            <a:ext cx="1059768" cy="1059768"/>
          </a:xfrm>
          <a:custGeom>
            <a:avLst/>
            <a:gdLst/>
            <a:ahLst/>
            <a:cxnLst/>
            <a:rect l="l" t="t" r="r" b="b"/>
            <a:pathLst>
              <a:path w="1059768" h="1059768">
                <a:moveTo>
                  <a:pt x="0" y="0"/>
                </a:moveTo>
                <a:lnTo>
                  <a:pt x="1059768" y="0"/>
                </a:lnTo>
                <a:lnTo>
                  <a:pt x="1059768" y="1059768"/>
                </a:lnTo>
                <a:lnTo>
                  <a:pt x="0" y="1059768"/>
                </a:lnTo>
                <a:lnTo>
                  <a:pt x="0" y="0"/>
                </a:lnTo>
                <a:close/>
              </a:path>
            </a:pathLst>
          </a:custGeom>
          <a:blipFill>
            <a:blip r:embed="rId6"/>
            <a:stretch>
              <a:fillRect/>
            </a:stretch>
          </a:blipFill>
        </p:spPr>
        <p:txBody>
          <a:bodyPr/>
          <a:lstStyle/>
          <a:p>
            <a:endParaRPr lang="en-US"/>
          </a:p>
        </p:txBody>
      </p:sp>
      <p:sp>
        <p:nvSpPr>
          <p:cNvPr id="8" name="Freeform 8"/>
          <p:cNvSpPr/>
          <p:nvPr/>
        </p:nvSpPr>
        <p:spPr>
          <a:xfrm>
            <a:off x="376123" y="8374850"/>
            <a:ext cx="1055727" cy="1055727"/>
          </a:xfrm>
          <a:custGeom>
            <a:avLst/>
            <a:gdLst/>
            <a:ahLst/>
            <a:cxnLst/>
            <a:rect l="l" t="t" r="r" b="b"/>
            <a:pathLst>
              <a:path w="1055727" h="1055727">
                <a:moveTo>
                  <a:pt x="0" y="0"/>
                </a:moveTo>
                <a:lnTo>
                  <a:pt x="1055727" y="0"/>
                </a:lnTo>
                <a:lnTo>
                  <a:pt x="1055727" y="1055727"/>
                </a:lnTo>
                <a:lnTo>
                  <a:pt x="0" y="1055727"/>
                </a:lnTo>
                <a:lnTo>
                  <a:pt x="0" y="0"/>
                </a:lnTo>
                <a:close/>
              </a:path>
            </a:pathLst>
          </a:custGeom>
          <a:blipFill>
            <a:blip r:embed="rId7"/>
            <a:stretch>
              <a:fillRect/>
            </a:stretch>
          </a:blipFill>
        </p:spPr>
        <p:txBody>
          <a:bodyPr/>
          <a:lstStyle/>
          <a:p>
            <a:endParaRPr lang="en-US"/>
          </a:p>
        </p:txBody>
      </p:sp>
      <p:sp>
        <p:nvSpPr>
          <p:cNvPr id="9" name="TextBox 9"/>
          <p:cNvSpPr txBox="1"/>
          <p:nvPr/>
        </p:nvSpPr>
        <p:spPr>
          <a:xfrm>
            <a:off x="4820106" y="291397"/>
            <a:ext cx="8647787" cy="1033558"/>
          </a:xfrm>
          <a:prstGeom prst="rect">
            <a:avLst/>
          </a:prstGeom>
        </p:spPr>
        <p:txBody>
          <a:bodyPr lIns="0" tIns="0" rIns="0" bIns="0" rtlCol="0" anchor="t">
            <a:spAutoFit/>
          </a:bodyPr>
          <a:lstStyle/>
          <a:p>
            <a:pPr algn="ctr">
              <a:lnSpc>
                <a:spcPts val="7846"/>
              </a:lnSpc>
            </a:pPr>
            <a:r>
              <a:rPr lang="en-US" sz="7133">
                <a:solidFill>
                  <a:srgbClr val="1B1B1B"/>
                </a:solidFill>
                <a:latin typeface="Vollkorn"/>
                <a:ea typeface="Vollkorn"/>
                <a:cs typeface="Vollkorn"/>
                <a:sym typeface="Vollkorn"/>
              </a:rPr>
              <a:t>Problem Statement</a:t>
            </a:r>
          </a:p>
        </p:txBody>
      </p:sp>
      <p:sp>
        <p:nvSpPr>
          <p:cNvPr id="10" name="TextBox 10"/>
          <p:cNvSpPr txBox="1"/>
          <p:nvPr/>
        </p:nvSpPr>
        <p:spPr>
          <a:xfrm>
            <a:off x="11407270" y="5076825"/>
            <a:ext cx="5251575" cy="2393950"/>
          </a:xfrm>
          <a:prstGeom prst="rect">
            <a:avLst/>
          </a:prstGeom>
        </p:spPr>
        <p:txBody>
          <a:bodyPr lIns="0" tIns="0" rIns="0" bIns="0" rtlCol="0" anchor="t">
            <a:spAutoFit/>
          </a:bodyPr>
          <a:lstStyle/>
          <a:p>
            <a:pPr algn="l">
              <a:lnSpc>
                <a:spcPts val="3124"/>
              </a:lnSpc>
              <a:spcBef>
                <a:spcPct val="0"/>
              </a:spcBef>
            </a:pPr>
            <a:r>
              <a:rPr lang="en-US" sz="2499">
                <a:solidFill>
                  <a:srgbClr val="FFFFFF"/>
                </a:solidFill>
                <a:latin typeface="Times New Roman MT"/>
                <a:ea typeface="Times New Roman MT"/>
                <a:cs typeface="Times New Roman MT"/>
                <a:sym typeface="Times New Roman MT"/>
              </a:rPr>
              <a:t>Honeycomb-inspired structures </a:t>
            </a:r>
            <a:r>
              <a:rPr lang="en-US" sz="2499" b="1">
                <a:solidFill>
                  <a:srgbClr val="FFFFFF"/>
                </a:solidFill>
                <a:latin typeface="Times New Roman MT Bold"/>
                <a:ea typeface="Times New Roman MT Bold"/>
                <a:cs typeface="Times New Roman MT Bold"/>
                <a:sym typeface="Times New Roman MT Bold"/>
              </a:rPr>
              <a:t>mimic the natural hexagonal patterns</a:t>
            </a:r>
            <a:r>
              <a:rPr lang="en-US" sz="2499">
                <a:solidFill>
                  <a:srgbClr val="FFFFFF"/>
                </a:solidFill>
                <a:latin typeface="Times New Roman MT"/>
                <a:ea typeface="Times New Roman MT"/>
                <a:cs typeface="Times New Roman MT"/>
                <a:sym typeface="Times New Roman MT"/>
              </a:rPr>
              <a:t> found in beehives to develop </a:t>
            </a:r>
            <a:r>
              <a:rPr lang="en-US" sz="2499" b="1">
                <a:solidFill>
                  <a:srgbClr val="FFFFFF"/>
                </a:solidFill>
                <a:latin typeface="Times New Roman MT Bold"/>
                <a:ea typeface="Times New Roman MT Bold"/>
                <a:cs typeface="Times New Roman MT Bold"/>
                <a:sym typeface="Times New Roman MT Bold"/>
              </a:rPr>
              <a:t>lightweight yet strong designs</a:t>
            </a:r>
            <a:r>
              <a:rPr lang="en-US" sz="2499">
                <a:solidFill>
                  <a:srgbClr val="FFFFFF"/>
                </a:solidFill>
                <a:latin typeface="Times New Roman MT"/>
                <a:ea typeface="Times New Roman MT"/>
                <a:cs typeface="Times New Roman MT"/>
                <a:sym typeface="Times New Roman MT"/>
              </a:rPr>
              <a:t> that distribute loads efficiently, absorb energy, and reduce material usage.</a:t>
            </a:r>
          </a:p>
        </p:txBody>
      </p:sp>
      <p:sp>
        <p:nvSpPr>
          <p:cNvPr id="11" name="TextBox 11"/>
          <p:cNvSpPr txBox="1"/>
          <p:nvPr/>
        </p:nvSpPr>
        <p:spPr>
          <a:xfrm>
            <a:off x="11407270" y="7599020"/>
            <a:ext cx="5251575" cy="2098040"/>
          </a:xfrm>
          <a:prstGeom prst="rect">
            <a:avLst/>
          </a:prstGeom>
        </p:spPr>
        <p:txBody>
          <a:bodyPr lIns="0" tIns="0" rIns="0" bIns="0" rtlCol="0" anchor="t">
            <a:spAutoFit/>
          </a:bodyPr>
          <a:lstStyle/>
          <a:p>
            <a:pPr algn="l">
              <a:lnSpc>
                <a:spcPts val="3249"/>
              </a:lnSpc>
              <a:spcBef>
                <a:spcPct val="0"/>
              </a:spcBef>
            </a:pPr>
            <a:r>
              <a:rPr lang="en-US" sz="2599">
                <a:solidFill>
                  <a:srgbClr val="FFFFFF"/>
                </a:solidFill>
                <a:latin typeface="Times New Roman MT"/>
                <a:ea typeface="Times New Roman MT"/>
                <a:cs typeface="Times New Roman MT"/>
                <a:sym typeface="Times New Roman MT"/>
              </a:rPr>
              <a:t>This project looks at how honey bees optimise these structures for </a:t>
            </a:r>
            <a:r>
              <a:rPr lang="en-US" sz="2599" b="1">
                <a:solidFill>
                  <a:srgbClr val="FFFFFF"/>
                </a:solidFill>
                <a:latin typeface="Times New Roman MT Bold"/>
                <a:ea typeface="Times New Roman MT Bold"/>
                <a:cs typeface="Times New Roman MT Bold"/>
                <a:sym typeface="Times New Roman MT Bold"/>
              </a:rPr>
              <a:t>improved strength, stability, durability, and sustainability</a:t>
            </a:r>
            <a:r>
              <a:rPr lang="en-US" sz="2599">
                <a:solidFill>
                  <a:srgbClr val="FFFFFF"/>
                </a:solidFill>
                <a:latin typeface="Times New Roman MT"/>
                <a:ea typeface="Times New Roman MT"/>
                <a:cs typeface="Times New Roman MT"/>
                <a:sym typeface="Times New Roman MT"/>
              </a:rPr>
              <a:t> in modern construction.</a:t>
            </a:r>
          </a:p>
        </p:txBody>
      </p:sp>
      <p:sp>
        <p:nvSpPr>
          <p:cNvPr id="12" name="TextBox 12"/>
          <p:cNvSpPr txBox="1"/>
          <p:nvPr/>
        </p:nvSpPr>
        <p:spPr>
          <a:xfrm>
            <a:off x="1028700" y="2391921"/>
            <a:ext cx="14721299" cy="1236219"/>
          </a:xfrm>
          <a:prstGeom prst="rect">
            <a:avLst/>
          </a:prstGeom>
        </p:spPr>
        <p:txBody>
          <a:bodyPr lIns="0" tIns="0" rIns="0" bIns="0" rtlCol="0" anchor="t">
            <a:spAutoFit/>
          </a:bodyPr>
          <a:lstStyle/>
          <a:p>
            <a:pPr algn="l">
              <a:lnSpc>
                <a:spcPts val="3124"/>
              </a:lnSpc>
              <a:spcBef>
                <a:spcPct val="0"/>
              </a:spcBef>
            </a:pPr>
            <a:r>
              <a:rPr lang="en-US" sz="2840">
                <a:solidFill>
                  <a:srgbClr val="1B1B1B"/>
                </a:solidFill>
                <a:latin typeface="Times New Roman MT"/>
                <a:ea typeface="Times New Roman MT"/>
                <a:cs typeface="Times New Roman MT"/>
                <a:sym typeface="Times New Roman MT"/>
              </a:rPr>
              <a:t>Conventional building and structural materials often face challenges in </a:t>
            </a:r>
            <a:r>
              <a:rPr lang="en-US" sz="2840" b="1">
                <a:solidFill>
                  <a:srgbClr val="1B1B1B"/>
                </a:solidFill>
                <a:latin typeface="Times New Roman MT Bold"/>
                <a:ea typeface="Times New Roman MT Bold"/>
                <a:cs typeface="Times New Roman MT Bold"/>
                <a:sym typeface="Times New Roman MT Bold"/>
              </a:rPr>
              <a:t>balancing strength, lightweight design, material efficiency, and resistance to impact.</a:t>
            </a:r>
            <a:r>
              <a:rPr lang="en-US" sz="2840">
                <a:solidFill>
                  <a:srgbClr val="1B1B1B"/>
                </a:solidFill>
                <a:latin typeface="Times New Roman MT"/>
                <a:ea typeface="Times New Roman MT"/>
                <a:cs typeface="Times New Roman MT"/>
                <a:sym typeface="Times New Roman MT"/>
              </a:rPr>
              <a:t> These limitations can increase </a:t>
            </a:r>
            <a:r>
              <a:rPr lang="en-US" sz="2840" b="1">
                <a:solidFill>
                  <a:srgbClr val="1B1B1B"/>
                </a:solidFill>
                <a:latin typeface="Times New Roman MT Bold"/>
                <a:ea typeface="Times New Roman MT Bold"/>
                <a:cs typeface="Times New Roman MT Bold"/>
                <a:sym typeface="Times New Roman MT Bold"/>
              </a:rPr>
              <a:t>construction costs, material consumption, and structural vulnerability. </a:t>
            </a:r>
          </a:p>
        </p:txBody>
      </p:sp>
      <p:sp>
        <p:nvSpPr>
          <p:cNvPr id="13" name="TextBox 13"/>
          <p:cNvSpPr txBox="1"/>
          <p:nvPr/>
        </p:nvSpPr>
        <p:spPr>
          <a:xfrm>
            <a:off x="11279075" y="4086765"/>
            <a:ext cx="5275056" cy="418293"/>
          </a:xfrm>
          <a:prstGeom prst="rect">
            <a:avLst/>
          </a:prstGeom>
        </p:spPr>
        <p:txBody>
          <a:bodyPr lIns="0" tIns="0" rIns="0" bIns="0" rtlCol="0" anchor="t">
            <a:spAutoFit/>
          </a:bodyPr>
          <a:lstStyle/>
          <a:p>
            <a:pPr algn="ctr">
              <a:lnSpc>
                <a:spcPts val="3348"/>
              </a:lnSpc>
              <a:spcBef>
                <a:spcPct val="0"/>
              </a:spcBef>
            </a:pPr>
            <a:r>
              <a:rPr lang="en-US" sz="2678" b="1">
                <a:solidFill>
                  <a:srgbClr val="CB992A"/>
                </a:solidFill>
                <a:latin typeface="Vollkorn Bold"/>
                <a:ea typeface="Vollkorn Bold"/>
                <a:cs typeface="Vollkorn Bold"/>
                <a:sym typeface="Vollkorn Bold"/>
              </a:rPr>
              <a:t>NATURE SOLVED THIS ALREADY</a:t>
            </a:r>
          </a:p>
        </p:txBody>
      </p:sp>
      <p:sp>
        <p:nvSpPr>
          <p:cNvPr id="14" name="TextBox 14"/>
          <p:cNvSpPr txBox="1"/>
          <p:nvPr/>
        </p:nvSpPr>
        <p:spPr>
          <a:xfrm>
            <a:off x="1818382" y="4476484"/>
            <a:ext cx="8781896" cy="1626235"/>
          </a:xfrm>
          <a:prstGeom prst="rect">
            <a:avLst/>
          </a:prstGeom>
        </p:spPr>
        <p:txBody>
          <a:bodyPr lIns="0" tIns="0" rIns="0" bIns="0" rtlCol="0" anchor="t">
            <a:spAutoFit/>
          </a:bodyPr>
          <a:lstStyle/>
          <a:p>
            <a:pPr algn="l">
              <a:lnSpc>
                <a:spcPts val="3079"/>
              </a:lnSpc>
              <a:spcBef>
                <a:spcPct val="0"/>
              </a:spcBef>
            </a:pPr>
            <a:r>
              <a:rPr lang="en-US" sz="2799" b="1">
                <a:solidFill>
                  <a:srgbClr val="1B1B1B"/>
                </a:solidFill>
                <a:latin typeface="Times New Roman MT Bold"/>
                <a:ea typeface="Times New Roman MT Bold"/>
                <a:cs typeface="Times New Roman MT Bold"/>
                <a:sym typeface="Times New Roman MT Bold"/>
              </a:rPr>
              <a:t>Excessive Structural Weight: </a:t>
            </a:r>
            <a:r>
              <a:rPr lang="en-US" sz="2799">
                <a:solidFill>
                  <a:srgbClr val="1B1B1B"/>
                </a:solidFill>
                <a:latin typeface="Times New Roman MT"/>
                <a:ea typeface="Times New Roman MT"/>
                <a:cs typeface="Times New Roman MT"/>
                <a:sym typeface="Times New Roman MT"/>
              </a:rPr>
              <a:t>Conventional solid construction components can require substantial material, increasing dead load and the load transferred to beams, columns, and foundations.</a:t>
            </a:r>
          </a:p>
        </p:txBody>
      </p:sp>
      <p:sp>
        <p:nvSpPr>
          <p:cNvPr id="15" name="TextBox 15"/>
          <p:cNvSpPr txBox="1"/>
          <p:nvPr/>
        </p:nvSpPr>
        <p:spPr>
          <a:xfrm>
            <a:off x="1832972" y="6506409"/>
            <a:ext cx="8139308" cy="1235710"/>
          </a:xfrm>
          <a:prstGeom prst="rect">
            <a:avLst/>
          </a:prstGeom>
        </p:spPr>
        <p:txBody>
          <a:bodyPr lIns="0" tIns="0" rIns="0" bIns="0" rtlCol="0" anchor="t">
            <a:spAutoFit/>
          </a:bodyPr>
          <a:lstStyle/>
          <a:p>
            <a:pPr algn="l">
              <a:lnSpc>
                <a:spcPts val="3079"/>
              </a:lnSpc>
              <a:spcBef>
                <a:spcPct val="0"/>
              </a:spcBef>
            </a:pPr>
            <a:r>
              <a:rPr lang="en-US" sz="2799" b="1">
                <a:solidFill>
                  <a:srgbClr val="1B1B1B"/>
                </a:solidFill>
                <a:latin typeface="Times New Roman MT Bold"/>
                <a:ea typeface="Times New Roman MT Bold"/>
                <a:cs typeface="Times New Roman MT Bold"/>
                <a:sym typeface="Times New Roman MT Bold"/>
              </a:rPr>
              <a:t>Material Inefficiency:</a:t>
            </a:r>
            <a:r>
              <a:rPr lang="en-US" sz="2799">
                <a:solidFill>
                  <a:srgbClr val="1B1B1B"/>
                </a:solidFill>
                <a:latin typeface="Times New Roman MT"/>
                <a:ea typeface="Times New Roman MT"/>
                <a:cs typeface="Times New Roman MT"/>
                <a:sym typeface="Times New Roman MT"/>
              </a:rPr>
              <a:t> Using more material than necessary can increase resource consumption, transportation requirements, and construction costs.</a:t>
            </a:r>
          </a:p>
        </p:txBody>
      </p:sp>
      <p:sp>
        <p:nvSpPr>
          <p:cNvPr id="16" name="TextBox 16"/>
          <p:cNvSpPr txBox="1"/>
          <p:nvPr/>
        </p:nvSpPr>
        <p:spPr>
          <a:xfrm>
            <a:off x="1818382" y="8365689"/>
            <a:ext cx="8556945" cy="1626235"/>
          </a:xfrm>
          <a:prstGeom prst="rect">
            <a:avLst/>
          </a:prstGeom>
        </p:spPr>
        <p:txBody>
          <a:bodyPr lIns="0" tIns="0" rIns="0" bIns="0" rtlCol="0" anchor="t">
            <a:spAutoFit/>
          </a:bodyPr>
          <a:lstStyle/>
          <a:p>
            <a:pPr algn="l">
              <a:lnSpc>
                <a:spcPts val="3079"/>
              </a:lnSpc>
              <a:spcBef>
                <a:spcPct val="0"/>
              </a:spcBef>
            </a:pPr>
            <a:r>
              <a:rPr lang="en-US" sz="2799" b="1">
                <a:solidFill>
                  <a:srgbClr val="1B1B1B"/>
                </a:solidFill>
                <a:latin typeface="Times New Roman MT Bold"/>
                <a:ea typeface="Times New Roman MT Bold"/>
                <a:cs typeface="Times New Roman MT Bold"/>
                <a:sym typeface="Times New Roman MT Bold"/>
              </a:rPr>
              <a:t>Resistance to Impact and Deformation: </a:t>
            </a:r>
            <a:r>
              <a:rPr lang="en-US" sz="2799">
                <a:solidFill>
                  <a:srgbClr val="1B1B1B"/>
                </a:solidFill>
                <a:latin typeface="Times New Roman MT"/>
                <a:ea typeface="Times New Roman MT"/>
                <a:cs typeface="Times New Roman MT"/>
                <a:sym typeface="Times New Roman MT"/>
              </a:rPr>
              <a:t>Some conventional panels lack efficient energy-absorbing mechanisms, making it important to explore structures that can deform in a controlled manner under impact.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424383" y="1842614"/>
            <a:ext cx="9334658" cy="7677477"/>
          </a:xfrm>
          <a:custGeom>
            <a:avLst/>
            <a:gdLst/>
            <a:ahLst/>
            <a:cxnLst/>
            <a:rect l="l" t="t" r="r" b="b"/>
            <a:pathLst>
              <a:path w="9334658" h="7677477">
                <a:moveTo>
                  <a:pt x="0" y="0"/>
                </a:moveTo>
                <a:lnTo>
                  <a:pt x="9334658" y="0"/>
                </a:lnTo>
                <a:lnTo>
                  <a:pt x="9334658" y="7677477"/>
                </a:lnTo>
                <a:lnTo>
                  <a:pt x="0" y="7677477"/>
                </a:lnTo>
                <a:lnTo>
                  <a:pt x="0" y="0"/>
                </a:lnTo>
                <a:close/>
              </a:path>
            </a:pathLst>
          </a:custGeom>
          <a:blipFill>
            <a:blip r:embed="rId2"/>
            <a:stretch>
              <a:fillRect l="-43259" t="-30221" r="-31621" b="-8119"/>
            </a:stretch>
          </a:blipFill>
        </p:spPr>
        <p:txBody>
          <a:bodyPr/>
          <a:lstStyle/>
          <a:p>
            <a:endParaRPr lang="en-US"/>
          </a:p>
        </p:txBody>
      </p:sp>
      <p:sp>
        <p:nvSpPr>
          <p:cNvPr id="3" name="TextBox 3"/>
          <p:cNvSpPr txBox="1"/>
          <p:nvPr/>
        </p:nvSpPr>
        <p:spPr>
          <a:xfrm>
            <a:off x="4791607" y="383333"/>
            <a:ext cx="9636927" cy="1033558"/>
          </a:xfrm>
          <a:prstGeom prst="rect">
            <a:avLst/>
          </a:prstGeom>
        </p:spPr>
        <p:txBody>
          <a:bodyPr lIns="0" tIns="0" rIns="0" bIns="0" rtlCol="0" anchor="t">
            <a:spAutoFit/>
          </a:bodyPr>
          <a:lstStyle/>
          <a:p>
            <a:pPr algn="ctr">
              <a:lnSpc>
                <a:spcPts val="7846"/>
              </a:lnSpc>
            </a:pPr>
            <a:r>
              <a:rPr lang="en-US" sz="7133">
                <a:solidFill>
                  <a:srgbClr val="1B1B1B"/>
                </a:solidFill>
                <a:latin typeface="Vollkorn"/>
                <a:ea typeface="Vollkorn"/>
                <a:cs typeface="Vollkorn"/>
                <a:sym typeface="Vollkorn"/>
              </a:rPr>
              <a:t>Biological Phenomenon</a:t>
            </a:r>
          </a:p>
        </p:txBody>
      </p:sp>
      <p:sp>
        <p:nvSpPr>
          <p:cNvPr id="4" name="TextBox 4"/>
          <p:cNvSpPr txBox="1"/>
          <p:nvPr/>
        </p:nvSpPr>
        <p:spPr>
          <a:xfrm>
            <a:off x="10138847" y="1823564"/>
            <a:ext cx="7863401" cy="2524147"/>
          </a:xfrm>
          <a:prstGeom prst="rect">
            <a:avLst/>
          </a:prstGeom>
        </p:spPr>
        <p:txBody>
          <a:bodyPr lIns="0" tIns="0" rIns="0" bIns="0" rtlCol="0" anchor="t">
            <a:spAutoFit/>
          </a:bodyPr>
          <a:lstStyle/>
          <a:p>
            <a:pPr algn="l">
              <a:lnSpc>
                <a:spcPts val="4004"/>
              </a:lnSpc>
              <a:spcBef>
                <a:spcPct val="0"/>
              </a:spcBef>
            </a:pPr>
            <a:r>
              <a:rPr lang="en-US" sz="3203">
                <a:solidFill>
                  <a:srgbClr val="1B1B1B"/>
                </a:solidFill>
                <a:latin typeface="Vollkorn"/>
                <a:ea typeface="Vollkorn"/>
                <a:cs typeface="Vollkorn"/>
                <a:sym typeface="Vollkorn"/>
              </a:rPr>
              <a:t>Honeycomb-inspired structures imitate the hexagonal cells found in beehives to create building components that are lightweight, strong, material-efficient, and capable of absorbing impact energy.</a:t>
            </a:r>
          </a:p>
        </p:txBody>
      </p:sp>
      <p:sp>
        <p:nvSpPr>
          <p:cNvPr id="5" name="TextBox 5"/>
          <p:cNvSpPr txBox="1"/>
          <p:nvPr/>
        </p:nvSpPr>
        <p:spPr>
          <a:xfrm>
            <a:off x="10138847" y="5400511"/>
            <a:ext cx="7863401" cy="1513099"/>
          </a:xfrm>
          <a:prstGeom prst="rect">
            <a:avLst/>
          </a:prstGeom>
        </p:spPr>
        <p:txBody>
          <a:bodyPr lIns="0" tIns="0" rIns="0" bIns="0" rtlCol="0" anchor="t">
            <a:spAutoFit/>
          </a:bodyPr>
          <a:lstStyle/>
          <a:p>
            <a:pPr algn="l">
              <a:lnSpc>
                <a:spcPts val="4004"/>
              </a:lnSpc>
              <a:spcBef>
                <a:spcPct val="0"/>
              </a:spcBef>
            </a:pPr>
            <a:r>
              <a:rPr lang="en-US" sz="3203" u="sng">
                <a:solidFill>
                  <a:srgbClr val="1B1B1B"/>
                </a:solidFill>
                <a:latin typeface="Vollkorn"/>
                <a:ea typeface="Vollkorn"/>
                <a:cs typeface="Vollkorn"/>
                <a:sym typeface="Vollkorn"/>
              </a:rPr>
              <a:t>Wax production</a:t>
            </a:r>
            <a:r>
              <a:rPr lang="en-US" sz="3203">
                <a:solidFill>
                  <a:srgbClr val="1B1B1B"/>
                </a:solidFill>
                <a:latin typeface="Vollkorn"/>
                <a:ea typeface="Vollkorn"/>
                <a:cs typeface="Vollkorn"/>
                <a:sym typeface="Vollkorn"/>
              </a:rPr>
              <a:t>: Worker bees produce beeswax from specialised glands on their bodies.</a:t>
            </a:r>
          </a:p>
        </p:txBody>
      </p:sp>
      <p:sp>
        <p:nvSpPr>
          <p:cNvPr id="6" name="TextBox 6"/>
          <p:cNvSpPr txBox="1"/>
          <p:nvPr/>
        </p:nvSpPr>
        <p:spPr>
          <a:xfrm>
            <a:off x="10138847" y="4571604"/>
            <a:ext cx="7611746" cy="595489"/>
          </a:xfrm>
          <a:prstGeom prst="rect">
            <a:avLst/>
          </a:prstGeom>
        </p:spPr>
        <p:txBody>
          <a:bodyPr lIns="0" tIns="0" rIns="0" bIns="0" rtlCol="0" anchor="t">
            <a:spAutoFit/>
          </a:bodyPr>
          <a:lstStyle/>
          <a:p>
            <a:pPr algn="ctr">
              <a:lnSpc>
                <a:spcPts val="4658"/>
              </a:lnSpc>
              <a:spcBef>
                <a:spcPct val="0"/>
              </a:spcBef>
            </a:pPr>
            <a:r>
              <a:rPr lang="en-US" sz="3726" b="1">
                <a:solidFill>
                  <a:srgbClr val="1B1B1B"/>
                </a:solidFill>
                <a:latin typeface="Vollkorn Bold"/>
                <a:ea typeface="Vollkorn Bold"/>
                <a:cs typeface="Vollkorn Bold"/>
                <a:sym typeface="Vollkorn Bold"/>
              </a:rPr>
              <a:t>How does the phenomenon occur?</a:t>
            </a:r>
          </a:p>
        </p:txBody>
      </p:sp>
      <p:sp>
        <p:nvSpPr>
          <p:cNvPr id="7" name="TextBox 7"/>
          <p:cNvSpPr txBox="1"/>
          <p:nvPr/>
        </p:nvSpPr>
        <p:spPr>
          <a:xfrm>
            <a:off x="10138847" y="7323185"/>
            <a:ext cx="7863401" cy="1513099"/>
          </a:xfrm>
          <a:prstGeom prst="rect">
            <a:avLst/>
          </a:prstGeom>
        </p:spPr>
        <p:txBody>
          <a:bodyPr lIns="0" tIns="0" rIns="0" bIns="0" rtlCol="0" anchor="t">
            <a:spAutoFit/>
          </a:bodyPr>
          <a:lstStyle/>
          <a:p>
            <a:pPr algn="l">
              <a:lnSpc>
                <a:spcPts val="4004"/>
              </a:lnSpc>
              <a:spcBef>
                <a:spcPct val="0"/>
              </a:spcBef>
            </a:pPr>
            <a:r>
              <a:rPr lang="en-US" sz="3203" u="sng">
                <a:solidFill>
                  <a:srgbClr val="1B1B1B"/>
                </a:solidFill>
                <a:latin typeface="Vollkorn"/>
                <a:ea typeface="Vollkorn"/>
                <a:cs typeface="Vollkorn"/>
                <a:sym typeface="Vollkorn"/>
              </a:rPr>
              <a:t>Cell construction: </a:t>
            </a:r>
            <a:r>
              <a:rPr lang="en-US" sz="3203">
                <a:solidFill>
                  <a:srgbClr val="1B1B1B"/>
                </a:solidFill>
                <a:latin typeface="Vollkorn"/>
                <a:ea typeface="Vollkorn"/>
                <a:cs typeface="Vollkorn"/>
                <a:sym typeface="Vollkorn"/>
              </a:rPr>
              <a:t>Bees manipulate the wax to form adjoining cells, creating a repeating cellular structure within the hive.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4791607" y="383333"/>
            <a:ext cx="9636927" cy="1033558"/>
          </a:xfrm>
          <a:prstGeom prst="rect">
            <a:avLst/>
          </a:prstGeom>
        </p:spPr>
        <p:txBody>
          <a:bodyPr lIns="0" tIns="0" rIns="0" bIns="0" rtlCol="0" anchor="t">
            <a:spAutoFit/>
          </a:bodyPr>
          <a:lstStyle/>
          <a:p>
            <a:pPr algn="ctr">
              <a:lnSpc>
                <a:spcPts val="7846"/>
              </a:lnSpc>
            </a:pPr>
            <a:r>
              <a:rPr lang="en-US" sz="7133">
                <a:solidFill>
                  <a:srgbClr val="1B1B1B"/>
                </a:solidFill>
                <a:latin typeface="Vollkorn"/>
                <a:ea typeface="Vollkorn"/>
                <a:cs typeface="Vollkorn"/>
                <a:sym typeface="Vollkorn"/>
              </a:rPr>
              <a:t>Structural Significance</a:t>
            </a:r>
          </a:p>
        </p:txBody>
      </p:sp>
      <p:sp>
        <p:nvSpPr>
          <p:cNvPr id="3" name="TextBox 3"/>
          <p:cNvSpPr txBox="1"/>
          <p:nvPr/>
        </p:nvSpPr>
        <p:spPr>
          <a:xfrm>
            <a:off x="242338" y="1647717"/>
            <a:ext cx="17930645" cy="1008942"/>
          </a:xfrm>
          <a:prstGeom prst="rect">
            <a:avLst/>
          </a:prstGeom>
        </p:spPr>
        <p:txBody>
          <a:bodyPr lIns="0" tIns="0" rIns="0" bIns="0" rtlCol="0" anchor="t">
            <a:spAutoFit/>
          </a:bodyPr>
          <a:lstStyle/>
          <a:p>
            <a:pPr algn="l">
              <a:lnSpc>
                <a:spcPts val="4004"/>
              </a:lnSpc>
              <a:spcBef>
                <a:spcPct val="0"/>
              </a:spcBef>
            </a:pPr>
            <a:r>
              <a:rPr lang="en-US" sz="3203">
                <a:solidFill>
                  <a:srgbClr val="1B1B1B"/>
                </a:solidFill>
                <a:latin typeface="Vollkorn"/>
                <a:ea typeface="Vollkorn"/>
                <a:cs typeface="Vollkorn"/>
                <a:sym typeface="Vollkorn"/>
              </a:rPr>
              <a:t>Honeycomb-inspired structures imitate the hexagonal cells found in beehives to create building components that are lightweight, strong, material-efficient, and capable of absorbing impact energy.</a:t>
            </a:r>
          </a:p>
        </p:txBody>
      </p:sp>
      <p:sp>
        <p:nvSpPr>
          <p:cNvPr id="4" name="Freeform 4"/>
          <p:cNvSpPr/>
          <p:nvPr/>
        </p:nvSpPr>
        <p:spPr>
          <a:xfrm>
            <a:off x="2777368" y="2904308"/>
            <a:ext cx="5036245" cy="3617161"/>
          </a:xfrm>
          <a:custGeom>
            <a:avLst/>
            <a:gdLst/>
            <a:ahLst/>
            <a:cxnLst/>
            <a:rect l="l" t="t" r="r" b="b"/>
            <a:pathLst>
              <a:path w="5036245" h="3617161">
                <a:moveTo>
                  <a:pt x="0" y="0"/>
                </a:moveTo>
                <a:lnTo>
                  <a:pt x="5036244" y="0"/>
                </a:lnTo>
                <a:lnTo>
                  <a:pt x="5036244" y="3617161"/>
                </a:lnTo>
                <a:lnTo>
                  <a:pt x="0" y="3617161"/>
                </a:lnTo>
                <a:lnTo>
                  <a:pt x="0" y="0"/>
                </a:lnTo>
                <a:close/>
              </a:path>
            </a:pathLst>
          </a:custGeom>
          <a:blipFill>
            <a:blip r:embed="rId2"/>
            <a:stretch>
              <a:fillRect l="-59429" t="-65937" r="-59429" b="-32322"/>
            </a:stretch>
          </a:blipFill>
        </p:spPr>
        <p:txBody>
          <a:bodyPr/>
          <a:lstStyle/>
          <a:p>
            <a:endParaRPr lang="en-US"/>
          </a:p>
        </p:txBody>
      </p:sp>
      <p:sp>
        <p:nvSpPr>
          <p:cNvPr id="5" name="Freeform 5"/>
          <p:cNvSpPr/>
          <p:nvPr/>
        </p:nvSpPr>
        <p:spPr>
          <a:xfrm>
            <a:off x="9958852" y="2904308"/>
            <a:ext cx="6048534" cy="3617161"/>
          </a:xfrm>
          <a:custGeom>
            <a:avLst/>
            <a:gdLst/>
            <a:ahLst/>
            <a:cxnLst/>
            <a:rect l="l" t="t" r="r" b="b"/>
            <a:pathLst>
              <a:path w="6048534" h="3617161">
                <a:moveTo>
                  <a:pt x="0" y="0"/>
                </a:moveTo>
                <a:lnTo>
                  <a:pt x="6048534" y="0"/>
                </a:lnTo>
                <a:lnTo>
                  <a:pt x="6048534" y="3617161"/>
                </a:lnTo>
                <a:lnTo>
                  <a:pt x="0" y="3617161"/>
                </a:lnTo>
                <a:lnTo>
                  <a:pt x="0" y="0"/>
                </a:lnTo>
                <a:close/>
              </a:path>
            </a:pathLst>
          </a:custGeom>
          <a:blipFill>
            <a:blip r:embed="rId3"/>
            <a:stretch>
              <a:fillRect l="-13427" t="-30086" r="-13158" b="-7633"/>
            </a:stretch>
          </a:blipFill>
        </p:spPr>
        <p:txBody>
          <a:bodyPr/>
          <a:lstStyle/>
          <a:p>
            <a:endParaRPr lang="en-US"/>
          </a:p>
        </p:txBody>
      </p:sp>
      <p:sp>
        <p:nvSpPr>
          <p:cNvPr id="6" name="TextBox 6"/>
          <p:cNvSpPr txBox="1"/>
          <p:nvPr/>
        </p:nvSpPr>
        <p:spPr>
          <a:xfrm>
            <a:off x="3649804" y="6576444"/>
            <a:ext cx="3291372" cy="399844"/>
          </a:xfrm>
          <a:prstGeom prst="rect">
            <a:avLst/>
          </a:prstGeom>
        </p:spPr>
        <p:txBody>
          <a:bodyPr lIns="0" tIns="0" rIns="0" bIns="0" rtlCol="0" anchor="t">
            <a:spAutoFit/>
          </a:bodyPr>
          <a:lstStyle/>
          <a:p>
            <a:pPr algn="ctr">
              <a:lnSpc>
                <a:spcPts val="3215"/>
              </a:lnSpc>
            </a:pPr>
            <a:r>
              <a:rPr lang="en-US" sz="2296">
                <a:solidFill>
                  <a:srgbClr val="1B1B1B"/>
                </a:solidFill>
                <a:latin typeface="Vollkorn"/>
                <a:ea typeface="Vollkorn"/>
                <a:cs typeface="Vollkorn"/>
                <a:sym typeface="Vollkorn"/>
              </a:rPr>
              <a:t>Fig: Honeycomb structure</a:t>
            </a:r>
          </a:p>
        </p:txBody>
      </p:sp>
      <p:sp>
        <p:nvSpPr>
          <p:cNvPr id="7" name="TextBox 7"/>
          <p:cNvSpPr txBox="1"/>
          <p:nvPr/>
        </p:nvSpPr>
        <p:spPr>
          <a:xfrm>
            <a:off x="11930468" y="6576444"/>
            <a:ext cx="2498067" cy="348428"/>
          </a:xfrm>
          <a:prstGeom prst="rect">
            <a:avLst/>
          </a:prstGeom>
        </p:spPr>
        <p:txBody>
          <a:bodyPr lIns="0" tIns="0" rIns="0" bIns="0" rtlCol="0" anchor="t">
            <a:spAutoFit/>
          </a:bodyPr>
          <a:lstStyle/>
          <a:p>
            <a:pPr algn="ctr">
              <a:lnSpc>
                <a:spcPts val="2732"/>
              </a:lnSpc>
            </a:pPr>
            <a:r>
              <a:rPr lang="en-US" sz="1952">
                <a:solidFill>
                  <a:srgbClr val="1B1B1B"/>
                </a:solidFill>
                <a:latin typeface="Vollkorn"/>
                <a:ea typeface="Vollkorn"/>
                <a:cs typeface="Vollkorn"/>
                <a:sym typeface="Vollkorn"/>
              </a:rPr>
              <a:t>Fig: Energy Absorption</a:t>
            </a:r>
          </a:p>
        </p:txBody>
      </p:sp>
      <p:sp>
        <p:nvSpPr>
          <p:cNvPr id="8" name="TextBox 8"/>
          <p:cNvSpPr txBox="1"/>
          <p:nvPr/>
        </p:nvSpPr>
        <p:spPr>
          <a:xfrm>
            <a:off x="1028700" y="8060763"/>
            <a:ext cx="4278066" cy="1171187"/>
          </a:xfrm>
          <a:prstGeom prst="rect">
            <a:avLst/>
          </a:prstGeom>
        </p:spPr>
        <p:txBody>
          <a:bodyPr lIns="0" tIns="0" rIns="0" bIns="0" rtlCol="0" anchor="t">
            <a:spAutoFit/>
          </a:bodyPr>
          <a:lstStyle/>
          <a:p>
            <a:pPr algn="ctr">
              <a:lnSpc>
                <a:spcPts val="4658"/>
              </a:lnSpc>
              <a:spcBef>
                <a:spcPct val="0"/>
              </a:spcBef>
            </a:pPr>
            <a:r>
              <a:rPr lang="en-US" sz="3726" b="1">
                <a:solidFill>
                  <a:srgbClr val="1B1B1B"/>
                </a:solidFill>
                <a:latin typeface="Vollkorn Bold"/>
                <a:ea typeface="Vollkorn Bold"/>
                <a:cs typeface="Vollkorn Bold"/>
                <a:sym typeface="Vollkorn Bold"/>
              </a:rPr>
              <a:t>Why are </a:t>
            </a:r>
          </a:p>
          <a:p>
            <a:pPr algn="ctr">
              <a:lnSpc>
                <a:spcPts val="4658"/>
              </a:lnSpc>
              <a:spcBef>
                <a:spcPct val="0"/>
              </a:spcBef>
            </a:pPr>
            <a:r>
              <a:rPr lang="en-US" sz="3726" b="1">
                <a:solidFill>
                  <a:srgbClr val="1B1B1B"/>
                </a:solidFill>
                <a:latin typeface="Vollkorn Bold"/>
                <a:ea typeface="Vollkorn Bold"/>
                <a:cs typeface="Vollkorn Bold"/>
                <a:sym typeface="Vollkorn Bold"/>
              </a:rPr>
              <a:t>hexagons used?</a:t>
            </a:r>
          </a:p>
        </p:txBody>
      </p:sp>
      <p:sp>
        <p:nvSpPr>
          <p:cNvPr id="9" name="TextBox 9"/>
          <p:cNvSpPr txBox="1"/>
          <p:nvPr/>
        </p:nvSpPr>
        <p:spPr>
          <a:xfrm>
            <a:off x="6632275" y="9209147"/>
            <a:ext cx="11655725" cy="895470"/>
          </a:xfrm>
          <a:prstGeom prst="rect">
            <a:avLst/>
          </a:prstGeom>
        </p:spPr>
        <p:txBody>
          <a:bodyPr lIns="0" tIns="0" rIns="0" bIns="0" rtlCol="0" anchor="t">
            <a:spAutoFit/>
          </a:bodyPr>
          <a:lstStyle/>
          <a:p>
            <a:pPr algn="l">
              <a:lnSpc>
                <a:spcPts val="3458"/>
              </a:lnSpc>
              <a:spcBef>
                <a:spcPct val="0"/>
              </a:spcBef>
            </a:pPr>
            <a:r>
              <a:rPr lang="en-US" sz="3143">
                <a:solidFill>
                  <a:srgbClr val="1B1B1B"/>
                </a:solidFill>
                <a:latin typeface="Vollkorn"/>
                <a:ea typeface="Vollkorn"/>
                <a:cs typeface="Vollkorn"/>
                <a:sym typeface="Vollkorn"/>
              </a:rPr>
              <a:t>Energy absorption: Cell walls can deform under impact and absorb </a:t>
            </a:r>
          </a:p>
          <a:p>
            <a:pPr algn="l">
              <a:lnSpc>
                <a:spcPts val="3458"/>
              </a:lnSpc>
              <a:spcBef>
                <a:spcPct val="0"/>
              </a:spcBef>
            </a:pPr>
            <a:r>
              <a:rPr lang="en-US" sz="3143">
                <a:solidFill>
                  <a:srgbClr val="1B1B1B"/>
                </a:solidFill>
                <a:latin typeface="Vollkorn"/>
                <a:ea typeface="Vollkorn"/>
                <a:cs typeface="Vollkorn"/>
                <a:sym typeface="Vollkorn"/>
              </a:rPr>
              <a:t>energy, making honeycomb cores useful in protective panels.</a:t>
            </a:r>
          </a:p>
        </p:txBody>
      </p:sp>
      <p:sp>
        <p:nvSpPr>
          <p:cNvPr id="10" name="TextBox 10"/>
          <p:cNvSpPr txBox="1"/>
          <p:nvPr/>
        </p:nvSpPr>
        <p:spPr>
          <a:xfrm>
            <a:off x="6420459" y="8247264"/>
            <a:ext cx="11763727" cy="864893"/>
          </a:xfrm>
          <a:prstGeom prst="rect">
            <a:avLst/>
          </a:prstGeom>
        </p:spPr>
        <p:txBody>
          <a:bodyPr lIns="0" tIns="0" rIns="0" bIns="0" rtlCol="0" anchor="t">
            <a:spAutoFit/>
          </a:bodyPr>
          <a:lstStyle/>
          <a:p>
            <a:pPr algn="l">
              <a:lnSpc>
                <a:spcPts val="3341"/>
              </a:lnSpc>
              <a:spcBef>
                <a:spcPct val="0"/>
              </a:spcBef>
            </a:pPr>
            <a:r>
              <a:rPr lang="en-US" sz="3037">
                <a:solidFill>
                  <a:srgbClr val="1B1B1B"/>
                </a:solidFill>
                <a:latin typeface="Vollkorn"/>
                <a:ea typeface="Vollkorn"/>
                <a:cs typeface="Vollkorn"/>
                <a:sym typeface="Vollkorn"/>
              </a:rPr>
              <a:t>Material efficiency: Hexagons fit together without gaps, thus allowing </a:t>
            </a:r>
          </a:p>
          <a:p>
            <a:pPr algn="l">
              <a:lnSpc>
                <a:spcPts val="3341"/>
              </a:lnSpc>
              <a:spcBef>
                <a:spcPct val="0"/>
              </a:spcBef>
            </a:pPr>
            <a:r>
              <a:rPr lang="en-US" sz="3037">
                <a:solidFill>
                  <a:srgbClr val="1B1B1B"/>
                </a:solidFill>
                <a:latin typeface="Vollkorn"/>
                <a:ea typeface="Vollkorn"/>
                <a:cs typeface="Vollkorn"/>
                <a:sym typeface="Vollkorn"/>
              </a:rPr>
              <a:t>a continuous structure with minimal wasted space.</a:t>
            </a:r>
          </a:p>
        </p:txBody>
      </p:sp>
      <p:sp>
        <p:nvSpPr>
          <p:cNvPr id="11" name="TextBox 11"/>
          <p:cNvSpPr txBox="1"/>
          <p:nvPr/>
        </p:nvSpPr>
        <p:spPr>
          <a:xfrm>
            <a:off x="6015579" y="7288686"/>
            <a:ext cx="11243721" cy="865068"/>
          </a:xfrm>
          <a:prstGeom prst="rect">
            <a:avLst/>
          </a:prstGeom>
        </p:spPr>
        <p:txBody>
          <a:bodyPr lIns="0" tIns="0" rIns="0" bIns="0" rtlCol="0" anchor="t">
            <a:spAutoFit/>
          </a:bodyPr>
          <a:lstStyle/>
          <a:p>
            <a:pPr algn="l">
              <a:lnSpc>
                <a:spcPts val="3342"/>
              </a:lnSpc>
              <a:spcBef>
                <a:spcPct val="0"/>
              </a:spcBef>
            </a:pPr>
            <a:r>
              <a:rPr lang="en-US" sz="3038">
                <a:solidFill>
                  <a:srgbClr val="1B1B1B"/>
                </a:solidFill>
                <a:latin typeface="Vollkorn"/>
                <a:ea typeface="Vollkorn"/>
                <a:cs typeface="Vollkorn"/>
                <a:sym typeface="Vollkorn"/>
              </a:rPr>
              <a:t>High strength-to-weight ratio: Hexagonal cells provide structural </a:t>
            </a:r>
          </a:p>
          <a:p>
            <a:pPr algn="l">
              <a:lnSpc>
                <a:spcPts val="3342"/>
              </a:lnSpc>
              <a:spcBef>
                <a:spcPct val="0"/>
              </a:spcBef>
            </a:pPr>
            <a:r>
              <a:rPr lang="en-US" sz="3038">
                <a:solidFill>
                  <a:srgbClr val="1B1B1B"/>
                </a:solidFill>
                <a:latin typeface="Vollkorn"/>
                <a:ea typeface="Vollkorn"/>
                <a:cs typeface="Vollkorn"/>
                <a:sym typeface="Vollkorn"/>
              </a:rPr>
              <a:t>stiffness without requiring large amounts of material.</a:t>
            </a:r>
          </a:p>
        </p:txBody>
      </p:sp>
      <p:sp>
        <p:nvSpPr>
          <p:cNvPr id="12" name="TextBox 12"/>
          <p:cNvSpPr txBox="1"/>
          <p:nvPr/>
        </p:nvSpPr>
        <p:spPr>
          <a:xfrm>
            <a:off x="5295490" y="7174386"/>
            <a:ext cx="404577" cy="802005"/>
          </a:xfrm>
          <a:prstGeom prst="rect">
            <a:avLst/>
          </a:prstGeom>
        </p:spPr>
        <p:txBody>
          <a:bodyPr lIns="0" tIns="0" rIns="0" bIns="0" rtlCol="0" anchor="t">
            <a:spAutoFit/>
          </a:bodyPr>
          <a:lstStyle/>
          <a:p>
            <a:pPr algn="ctr">
              <a:lnSpc>
                <a:spcPts val="6472"/>
              </a:lnSpc>
            </a:pPr>
            <a:r>
              <a:rPr lang="en-US" sz="4623" b="1">
                <a:solidFill>
                  <a:srgbClr val="1B1B1B"/>
                </a:solidFill>
                <a:latin typeface="Vollkorn Bold"/>
                <a:ea typeface="Vollkorn Bold"/>
                <a:cs typeface="Vollkorn Bold"/>
                <a:sym typeface="Vollkorn Bold"/>
              </a:rPr>
              <a:t>1.</a:t>
            </a:r>
          </a:p>
        </p:txBody>
      </p:sp>
      <p:sp>
        <p:nvSpPr>
          <p:cNvPr id="13" name="TextBox 13"/>
          <p:cNvSpPr txBox="1"/>
          <p:nvPr/>
        </p:nvSpPr>
        <p:spPr>
          <a:xfrm>
            <a:off x="5743275" y="8132964"/>
            <a:ext cx="474744" cy="804264"/>
          </a:xfrm>
          <a:prstGeom prst="rect">
            <a:avLst/>
          </a:prstGeom>
        </p:spPr>
        <p:txBody>
          <a:bodyPr lIns="0" tIns="0" rIns="0" bIns="0" rtlCol="0" anchor="t">
            <a:spAutoFit/>
          </a:bodyPr>
          <a:lstStyle/>
          <a:p>
            <a:pPr algn="ctr">
              <a:lnSpc>
                <a:spcPts val="6493"/>
              </a:lnSpc>
            </a:pPr>
            <a:r>
              <a:rPr lang="en-US" sz="4638" b="1">
                <a:solidFill>
                  <a:srgbClr val="1B1B1B"/>
                </a:solidFill>
                <a:latin typeface="Vollkorn Bold"/>
                <a:ea typeface="Vollkorn Bold"/>
                <a:cs typeface="Vollkorn Bold"/>
                <a:sym typeface="Vollkorn Bold"/>
              </a:rPr>
              <a:t>2.</a:t>
            </a:r>
          </a:p>
        </p:txBody>
      </p:sp>
      <p:sp>
        <p:nvSpPr>
          <p:cNvPr id="14" name="TextBox 14"/>
          <p:cNvSpPr txBox="1"/>
          <p:nvPr/>
        </p:nvSpPr>
        <p:spPr>
          <a:xfrm>
            <a:off x="6015579" y="9043743"/>
            <a:ext cx="404880" cy="698486"/>
          </a:xfrm>
          <a:prstGeom prst="rect">
            <a:avLst/>
          </a:prstGeom>
        </p:spPr>
        <p:txBody>
          <a:bodyPr lIns="0" tIns="0" rIns="0" bIns="0" rtlCol="0" anchor="t">
            <a:spAutoFit/>
          </a:bodyPr>
          <a:lstStyle/>
          <a:p>
            <a:pPr algn="ctr">
              <a:lnSpc>
                <a:spcPts val="5599"/>
              </a:lnSpc>
            </a:pPr>
            <a:r>
              <a:rPr lang="en-US" sz="3999" b="1">
                <a:solidFill>
                  <a:srgbClr val="1B1B1B"/>
                </a:solidFill>
                <a:latin typeface="Vollkorn Bold"/>
                <a:ea typeface="Vollkorn Bold"/>
                <a:cs typeface="Vollkorn Bold"/>
                <a:sym typeface="Vollkorn Bold"/>
              </a:rPr>
              <a:t>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4146673" y="349893"/>
            <a:ext cx="9994653" cy="678807"/>
          </a:xfrm>
          <a:prstGeom prst="rect">
            <a:avLst/>
          </a:prstGeom>
        </p:spPr>
        <p:txBody>
          <a:bodyPr lIns="0" tIns="0" rIns="0" bIns="0" rtlCol="0" anchor="t">
            <a:spAutoFit/>
          </a:bodyPr>
          <a:lstStyle/>
          <a:p>
            <a:pPr algn="ctr">
              <a:lnSpc>
                <a:spcPts val="5256"/>
              </a:lnSpc>
              <a:spcBef>
                <a:spcPct val="0"/>
              </a:spcBef>
            </a:pPr>
            <a:r>
              <a:rPr lang="en-US" sz="4204" b="1">
                <a:solidFill>
                  <a:srgbClr val="1B1B1B"/>
                </a:solidFill>
                <a:latin typeface="Vollkorn Bold"/>
                <a:ea typeface="Vollkorn Bold"/>
                <a:cs typeface="Vollkorn Bold"/>
                <a:sym typeface="Vollkorn Bold"/>
              </a:rPr>
              <a:t>Understanding Honeycomb Structures</a:t>
            </a:r>
          </a:p>
        </p:txBody>
      </p:sp>
      <p:pic>
        <p:nvPicPr>
          <p:cNvPr id="3" name="Picture 3"/>
          <p:cNvPicPr>
            <a:picLocks noChangeAspect="1"/>
          </p:cNvPicPr>
          <p:nvPr>
            <a:videoFile r:link="rId1"/>
          </p:nvPr>
        </p:nvPicPr>
        <p:blipFill>
          <a:blip r:embed="rId3"/>
          <a:stretch>
            <a:fillRect/>
          </a:stretch>
        </p:blipFill>
        <p:spPr>
          <a:xfrm>
            <a:off x="3653314" y="2057400"/>
            <a:ext cx="10981372" cy="61722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850239" y="6887820"/>
            <a:ext cx="9965095" cy="2724910"/>
          </a:xfrm>
          <a:prstGeom prst="rect">
            <a:avLst/>
          </a:prstGeom>
        </p:spPr>
        <p:txBody>
          <a:bodyPr lIns="0" tIns="0" rIns="0" bIns="0" rtlCol="0" anchor="t">
            <a:spAutoFit/>
          </a:bodyPr>
          <a:lstStyle/>
          <a:p>
            <a:pPr algn="l">
              <a:lnSpc>
                <a:spcPts val="4327"/>
              </a:lnSpc>
              <a:spcBef>
                <a:spcPct val="0"/>
              </a:spcBef>
            </a:pPr>
            <a:r>
              <a:rPr lang="en-US" sz="3461">
                <a:solidFill>
                  <a:srgbClr val="1B1B1B"/>
                </a:solidFill>
                <a:latin typeface="Vollkorn"/>
                <a:ea typeface="Vollkorn"/>
                <a:cs typeface="Vollkorn"/>
                <a:sym typeface="Vollkorn"/>
              </a:rPr>
              <a:t>The walls of the hexagonal cells resist deformation through bending, stretching, and compression. The interconnected geometry helps the structure maintain its shape under suitable loading conditions.</a:t>
            </a:r>
          </a:p>
        </p:txBody>
      </p:sp>
      <p:sp>
        <p:nvSpPr>
          <p:cNvPr id="3" name="Freeform 3"/>
          <p:cNvSpPr/>
          <p:nvPr/>
        </p:nvSpPr>
        <p:spPr>
          <a:xfrm>
            <a:off x="11123518" y="2286811"/>
            <a:ext cx="6774723" cy="5790722"/>
          </a:xfrm>
          <a:custGeom>
            <a:avLst/>
            <a:gdLst/>
            <a:ahLst/>
            <a:cxnLst/>
            <a:rect l="l" t="t" r="r" b="b"/>
            <a:pathLst>
              <a:path w="6774723" h="5790722">
                <a:moveTo>
                  <a:pt x="0" y="0"/>
                </a:moveTo>
                <a:lnTo>
                  <a:pt x="6774723" y="0"/>
                </a:lnTo>
                <a:lnTo>
                  <a:pt x="6774723" y="5790721"/>
                </a:lnTo>
                <a:lnTo>
                  <a:pt x="0" y="5790721"/>
                </a:lnTo>
                <a:lnTo>
                  <a:pt x="0" y="0"/>
                </a:lnTo>
                <a:close/>
              </a:path>
            </a:pathLst>
          </a:custGeom>
          <a:blipFill>
            <a:blip r:embed="rId2"/>
            <a:stretch>
              <a:fillRect l="-45095" t="-30886" r="-38679" b="-8999"/>
            </a:stretch>
          </a:blipFill>
          <a:ln w="95250" cap="rnd">
            <a:solidFill>
              <a:srgbClr val="000000"/>
            </a:solidFill>
            <a:prstDash val="solid"/>
            <a:round/>
          </a:ln>
        </p:spPr>
        <p:txBody>
          <a:bodyPr/>
          <a:lstStyle/>
          <a:p>
            <a:endParaRPr lang="en-US"/>
          </a:p>
        </p:txBody>
      </p:sp>
      <p:sp>
        <p:nvSpPr>
          <p:cNvPr id="4" name="TextBox 4"/>
          <p:cNvSpPr txBox="1"/>
          <p:nvPr/>
        </p:nvSpPr>
        <p:spPr>
          <a:xfrm>
            <a:off x="6578577" y="317391"/>
            <a:ext cx="5130846" cy="1033558"/>
          </a:xfrm>
          <a:prstGeom prst="rect">
            <a:avLst/>
          </a:prstGeom>
        </p:spPr>
        <p:txBody>
          <a:bodyPr lIns="0" tIns="0" rIns="0" bIns="0" rtlCol="0" anchor="t">
            <a:spAutoFit/>
          </a:bodyPr>
          <a:lstStyle/>
          <a:p>
            <a:pPr algn="ctr">
              <a:lnSpc>
                <a:spcPts val="7846"/>
              </a:lnSpc>
            </a:pPr>
            <a:r>
              <a:rPr lang="en-US" sz="7133">
                <a:solidFill>
                  <a:srgbClr val="1B1B1B"/>
                </a:solidFill>
                <a:latin typeface="Vollkorn"/>
                <a:ea typeface="Vollkorn"/>
                <a:cs typeface="Vollkorn"/>
                <a:sym typeface="Vollkorn"/>
              </a:rPr>
              <a:t>Mechanism</a:t>
            </a:r>
          </a:p>
        </p:txBody>
      </p:sp>
      <p:sp>
        <p:nvSpPr>
          <p:cNvPr id="5" name="TextBox 5"/>
          <p:cNvSpPr txBox="1"/>
          <p:nvPr/>
        </p:nvSpPr>
        <p:spPr>
          <a:xfrm>
            <a:off x="850239" y="1912580"/>
            <a:ext cx="5224002" cy="714983"/>
          </a:xfrm>
          <a:prstGeom prst="rect">
            <a:avLst/>
          </a:prstGeom>
        </p:spPr>
        <p:txBody>
          <a:bodyPr lIns="0" tIns="0" rIns="0" bIns="0" rtlCol="0" anchor="t">
            <a:spAutoFit/>
          </a:bodyPr>
          <a:lstStyle/>
          <a:p>
            <a:pPr algn="ctr">
              <a:lnSpc>
                <a:spcPts val="5500"/>
              </a:lnSpc>
              <a:spcBef>
                <a:spcPct val="0"/>
              </a:spcBef>
            </a:pPr>
            <a:r>
              <a:rPr lang="en-US" sz="4400" b="1">
                <a:solidFill>
                  <a:srgbClr val="1B1B1B"/>
                </a:solidFill>
                <a:latin typeface="Vollkorn Bold"/>
                <a:ea typeface="Vollkorn Bold"/>
                <a:cs typeface="Vollkorn Bold"/>
                <a:sym typeface="Vollkorn Bold"/>
              </a:rPr>
              <a:t>1. Load Distribution</a:t>
            </a:r>
          </a:p>
        </p:txBody>
      </p:sp>
      <p:sp>
        <p:nvSpPr>
          <p:cNvPr id="6" name="TextBox 6"/>
          <p:cNvSpPr txBox="1"/>
          <p:nvPr/>
        </p:nvSpPr>
        <p:spPr>
          <a:xfrm>
            <a:off x="1028700" y="3208588"/>
            <a:ext cx="9473437" cy="2187937"/>
          </a:xfrm>
          <a:prstGeom prst="rect">
            <a:avLst/>
          </a:prstGeom>
        </p:spPr>
        <p:txBody>
          <a:bodyPr lIns="0" tIns="0" rIns="0" bIns="0" rtlCol="0" anchor="t">
            <a:spAutoFit/>
          </a:bodyPr>
          <a:lstStyle/>
          <a:p>
            <a:pPr algn="l">
              <a:lnSpc>
                <a:spcPts val="4325"/>
              </a:lnSpc>
              <a:spcBef>
                <a:spcPct val="0"/>
              </a:spcBef>
            </a:pPr>
            <a:r>
              <a:rPr lang="en-US" sz="3460">
                <a:solidFill>
                  <a:srgbClr val="1B1B1B"/>
                </a:solidFill>
                <a:latin typeface="Vollkorn"/>
                <a:ea typeface="Vollkorn"/>
                <a:cs typeface="Vollkorn"/>
                <a:sym typeface="Vollkorn"/>
              </a:rPr>
              <a:t>When an external force, such as the weight of a roof or a load on a wall panel, acts on a honeycomb structure, the force is transferred through its interconnected cell walls.</a:t>
            </a:r>
          </a:p>
        </p:txBody>
      </p:sp>
      <p:sp>
        <p:nvSpPr>
          <p:cNvPr id="7" name="TextBox 7"/>
          <p:cNvSpPr txBox="1"/>
          <p:nvPr/>
        </p:nvSpPr>
        <p:spPr>
          <a:xfrm>
            <a:off x="850239" y="6038431"/>
            <a:ext cx="7550806" cy="643804"/>
          </a:xfrm>
          <a:prstGeom prst="rect">
            <a:avLst/>
          </a:prstGeom>
        </p:spPr>
        <p:txBody>
          <a:bodyPr lIns="0" tIns="0" rIns="0" bIns="0" rtlCol="0" anchor="t">
            <a:spAutoFit/>
          </a:bodyPr>
          <a:lstStyle/>
          <a:p>
            <a:pPr algn="ctr">
              <a:lnSpc>
                <a:spcPts val="4834"/>
              </a:lnSpc>
              <a:spcBef>
                <a:spcPct val="0"/>
              </a:spcBef>
            </a:pPr>
            <a:r>
              <a:rPr lang="en-US" sz="4395" b="1">
                <a:solidFill>
                  <a:srgbClr val="1B1B1B"/>
                </a:solidFill>
                <a:latin typeface="Vollkorn Bold"/>
                <a:ea typeface="Vollkorn Bold"/>
                <a:cs typeface="Vollkorn Bold"/>
                <a:sym typeface="Vollkorn Bold"/>
              </a:rPr>
              <a:t>2. Resistance to Deformation</a:t>
            </a:r>
          </a:p>
        </p:txBody>
      </p:sp>
      <p:sp>
        <p:nvSpPr>
          <p:cNvPr id="8" name="TextBox 8"/>
          <p:cNvSpPr txBox="1"/>
          <p:nvPr/>
        </p:nvSpPr>
        <p:spPr>
          <a:xfrm>
            <a:off x="13288871" y="8231224"/>
            <a:ext cx="2444016" cy="283581"/>
          </a:xfrm>
          <a:prstGeom prst="rect">
            <a:avLst/>
          </a:prstGeom>
        </p:spPr>
        <p:txBody>
          <a:bodyPr lIns="0" tIns="0" rIns="0" bIns="0" rtlCol="0" anchor="t">
            <a:spAutoFit/>
          </a:bodyPr>
          <a:lstStyle/>
          <a:p>
            <a:pPr algn="ctr">
              <a:lnSpc>
                <a:spcPts val="2303"/>
              </a:lnSpc>
            </a:pPr>
            <a:r>
              <a:rPr lang="en-US" sz="1645">
                <a:solidFill>
                  <a:srgbClr val="1B1B1B"/>
                </a:solidFill>
                <a:latin typeface="Vollkorn"/>
                <a:ea typeface="Vollkorn"/>
                <a:cs typeface="Vollkorn"/>
                <a:sym typeface="Vollkorn"/>
              </a:rPr>
              <a:t>Fig:Load Bearing Structure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5378415" y="359418"/>
            <a:ext cx="8583963" cy="710905"/>
          </a:xfrm>
          <a:prstGeom prst="rect">
            <a:avLst/>
          </a:prstGeom>
        </p:spPr>
        <p:txBody>
          <a:bodyPr lIns="0" tIns="0" rIns="0" bIns="0" rtlCol="0" anchor="t">
            <a:spAutoFit/>
          </a:bodyPr>
          <a:lstStyle/>
          <a:p>
            <a:pPr algn="ctr">
              <a:lnSpc>
                <a:spcPts val="5597"/>
              </a:lnSpc>
              <a:spcBef>
                <a:spcPct val="0"/>
              </a:spcBef>
            </a:pPr>
            <a:r>
              <a:rPr lang="en-US" sz="4478" b="1">
                <a:solidFill>
                  <a:srgbClr val="1B1B1B"/>
                </a:solidFill>
                <a:latin typeface="Vollkorn Bold"/>
                <a:ea typeface="Vollkorn Bold"/>
                <a:cs typeface="Vollkorn Bold"/>
                <a:sym typeface="Vollkorn Bold"/>
              </a:rPr>
              <a:t>Sandwich Panel Mechanism</a:t>
            </a:r>
          </a:p>
        </p:txBody>
      </p:sp>
      <p:sp>
        <p:nvSpPr>
          <p:cNvPr id="3" name="TextBox 3"/>
          <p:cNvSpPr txBox="1"/>
          <p:nvPr/>
        </p:nvSpPr>
        <p:spPr>
          <a:xfrm>
            <a:off x="1028700" y="1232248"/>
            <a:ext cx="9840273" cy="2931940"/>
          </a:xfrm>
          <a:prstGeom prst="rect">
            <a:avLst/>
          </a:prstGeom>
        </p:spPr>
        <p:txBody>
          <a:bodyPr lIns="0" tIns="0" rIns="0" bIns="0" rtlCol="0" anchor="t">
            <a:spAutoFit/>
          </a:bodyPr>
          <a:lstStyle/>
          <a:p>
            <a:pPr algn="l">
              <a:lnSpc>
                <a:spcPts val="4650"/>
              </a:lnSpc>
              <a:spcBef>
                <a:spcPct val="0"/>
              </a:spcBef>
            </a:pPr>
            <a:r>
              <a:rPr lang="en-US" sz="3720" b="1">
                <a:solidFill>
                  <a:srgbClr val="1B1B1B"/>
                </a:solidFill>
                <a:latin typeface="Vollkorn Bold"/>
                <a:ea typeface="Vollkorn Bold"/>
                <a:cs typeface="Vollkorn Bold"/>
                <a:sym typeface="Vollkorn Bold"/>
              </a:rPr>
              <a:t> Top and bottom face sheets:</a:t>
            </a:r>
          </a:p>
          <a:p>
            <a:pPr algn="l">
              <a:lnSpc>
                <a:spcPts val="4650"/>
              </a:lnSpc>
              <a:spcBef>
                <a:spcPct val="0"/>
              </a:spcBef>
            </a:pPr>
            <a:r>
              <a:rPr lang="en-US" sz="3720">
                <a:solidFill>
                  <a:srgbClr val="1B1B1B"/>
                </a:solidFill>
                <a:latin typeface="Vollkorn"/>
                <a:ea typeface="Vollkorn"/>
                <a:cs typeface="Vollkorn"/>
                <a:sym typeface="Vollkorn"/>
              </a:rPr>
              <a:t>The outer sheets are usually made from aluminium. They carry most of the tensile and compressive stresses generated when the panel bends.</a:t>
            </a:r>
          </a:p>
        </p:txBody>
      </p:sp>
      <p:sp>
        <p:nvSpPr>
          <p:cNvPr id="4" name="TextBox 4"/>
          <p:cNvSpPr txBox="1"/>
          <p:nvPr/>
        </p:nvSpPr>
        <p:spPr>
          <a:xfrm>
            <a:off x="1028700" y="4326113"/>
            <a:ext cx="7204989" cy="2957838"/>
          </a:xfrm>
          <a:prstGeom prst="rect">
            <a:avLst/>
          </a:prstGeom>
        </p:spPr>
        <p:txBody>
          <a:bodyPr lIns="0" tIns="0" rIns="0" bIns="0" rtlCol="0" anchor="t">
            <a:spAutoFit/>
          </a:bodyPr>
          <a:lstStyle/>
          <a:p>
            <a:pPr algn="l">
              <a:lnSpc>
                <a:spcPts val="4650"/>
              </a:lnSpc>
            </a:pPr>
            <a:r>
              <a:rPr lang="en-US" sz="3720" b="1">
                <a:solidFill>
                  <a:srgbClr val="1B1B1B"/>
                </a:solidFill>
                <a:latin typeface="Vollkorn Bold"/>
                <a:ea typeface="Vollkorn Bold"/>
                <a:cs typeface="Vollkorn Bold"/>
                <a:sym typeface="Vollkorn Bold"/>
              </a:rPr>
              <a:t>Honeycomb core:</a:t>
            </a:r>
          </a:p>
          <a:p>
            <a:pPr algn="l">
              <a:lnSpc>
                <a:spcPts val="4650"/>
              </a:lnSpc>
              <a:spcBef>
                <a:spcPct val="0"/>
              </a:spcBef>
            </a:pPr>
            <a:r>
              <a:rPr lang="en-US" sz="3720">
                <a:solidFill>
                  <a:srgbClr val="1B1B1B"/>
                </a:solidFill>
                <a:latin typeface="Vollkorn"/>
                <a:ea typeface="Vollkorn"/>
                <a:cs typeface="Vollkorn"/>
                <a:sym typeface="Vollkorn"/>
              </a:rPr>
              <a:t> It separates the two face sheets, transfers shear forces between them, and helps prevent local deformation of the outer sheets. </a:t>
            </a:r>
          </a:p>
        </p:txBody>
      </p:sp>
      <p:sp>
        <p:nvSpPr>
          <p:cNvPr id="5" name="Freeform 5"/>
          <p:cNvSpPr/>
          <p:nvPr/>
        </p:nvSpPr>
        <p:spPr>
          <a:xfrm>
            <a:off x="8931904" y="3724909"/>
            <a:ext cx="9013693" cy="4210801"/>
          </a:xfrm>
          <a:custGeom>
            <a:avLst/>
            <a:gdLst/>
            <a:ahLst/>
            <a:cxnLst/>
            <a:rect l="l" t="t" r="r" b="b"/>
            <a:pathLst>
              <a:path w="9013693" h="4210801">
                <a:moveTo>
                  <a:pt x="0" y="0"/>
                </a:moveTo>
                <a:lnTo>
                  <a:pt x="9013693" y="0"/>
                </a:lnTo>
                <a:lnTo>
                  <a:pt x="9013693" y="4210801"/>
                </a:lnTo>
                <a:lnTo>
                  <a:pt x="0" y="4210801"/>
                </a:lnTo>
                <a:lnTo>
                  <a:pt x="0" y="0"/>
                </a:lnTo>
                <a:close/>
              </a:path>
            </a:pathLst>
          </a:custGeom>
          <a:blipFill>
            <a:blip r:embed="rId2"/>
            <a:stretch>
              <a:fillRect l="-24969" t="-78641" r="-25929" b="-31521"/>
            </a:stretch>
          </a:blipFill>
        </p:spPr>
        <p:txBody>
          <a:bodyPr/>
          <a:lstStyle/>
          <a:p>
            <a:endParaRPr lang="en-US"/>
          </a:p>
        </p:txBody>
      </p:sp>
      <p:sp>
        <p:nvSpPr>
          <p:cNvPr id="6" name="TextBox 6"/>
          <p:cNvSpPr txBox="1"/>
          <p:nvPr/>
        </p:nvSpPr>
        <p:spPr>
          <a:xfrm>
            <a:off x="1028700" y="7447001"/>
            <a:ext cx="16697089" cy="2367261"/>
          </a:xfrm>
          <a:prstGeom prst="rect">
            <a:avLst/>
          </a:prstGeom>
        </p:spPr>
        <p:txBody>
          <a:bodyPr lIns="0" tIns="0" rIns="0" bIns="0" rtlCol="0" anchor="t">
            <a:spAutoFit/>
          </a:bodyPr>
          <a:lstStyle/>
          <a:p>
            <a:pPr algn="l">
              <a:lnSpc>
                <a:spcPts val="4650"/>
              </a:lnSpc>
            </a:pPr>
            <a:r>
              <a:rPr lang="en-US" sz="3720" b="1">
                <a:solidFill>
                  <a:srgbClr val="1B1B1B"/>
                </a:solidFill>
                <a:latin typeface="Vollkorn Bold"/>
                <a:ea typeface="Vollkorn Bold"/>
                <a:cs typeface="Vollkorn Bold"/>
                <a:sym typeface="Vollkorn Bold"/>
              </a:rPr>
              <a:t> Adhesive layer:</a:t>
            </a:r>
          </a:p>
          <a:p>
            <a:pPr algn="l">
              <a:lnSpc>
                <a:spcPts val="4650"/>
              </a:lnSpc>
              <a:spcBef>
                <a:spcPct val="0"/>
              </a:spcBef>
            </a:pPr>
            <a:r>
              <a:rPr lang="en-US" sz="3720">
                <a:solidFill>
                  <a:srgbClr val="1B1B1B"/>
                </a:solidFill>
                <a:latin typeface="Vollkorn"/>
                <a:ea typeface="Vollkorn"/>
                <a:cs typeface="Vollkorn"/>
                <a:sym typeface="Vollkorn"/>
              </a:rPr>
              <a:t>A bonding layer connects the face sheets to the honeycomb core. It transfers forces between these components so that they behave as one integrated structural unit.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1974118" y="1350949"/>
            <a:ext cx="5285182" cy="3644436"/>
          </a:xfrm>
          <a:custGeom>
            <a:avLst/>
            <a:gdLst/>
            <a:ahLst/>
            <a:cxnLst/>
            <a:rect l="l" t="t" r="r" b="b"/>
            <a:pathLst>
              <a:path w="5285182" h="3644436">
                <a:moveTo>
                  <a:pt x="0" y="0"/>
                </a:moveTo>
                <a:lnTo>
                  <a:pt x="5285182" y="0"/>
                </a:lnTo>
                <a:lnTo>
                  <a:pt x="5285182" y="3644436"/>
                </a:lnTo>
                <a:lnTo>
                  <a:pt x="0" y="3644436"/>
                </a:lnTo>
                <a:lnTo>
                  <a:pt x="0" y="0"/>
                </a:lnTo>
                <a:close/>
              </a:path>
            </a:pathLst>
          </a:custGeom>
          <a:blipFill>
            <a:blip r:embed="rId2"/>
            <a:stretch>
              <a:fillRect l="-30130" t="-41736" r="-29453" b="-8837"/>
            </a:stretch>
          </a:blipFill>
        </p:spPr>
        <p:txBody>
          <a:bodyPr/>
          <a:lstStyle/>
          <a:p>
            <a:endParaRPr lang="en-US"/>
          </a:p>
        </p:txBody>
      </p:sp>
      <p:sp>
        <p:nvSpPr>
          <p:cNvPr id="3" name="TextBox 3"/>
          <p:cNvSpPr txBox="1"/>
          <p:nvPr/>
        </p:nvSpPr>
        <p:spPr>
          <a:xfrm>
            <a:off x="6578577" y="317391"/>
            <a:ext cx="5130846" cy="1033558"/>
          </a:xfrm>
          <a:prstGeom prst="rect">
            <a:avLst/>
          </a:prstGeom>
        </p:spPr>
        <p:txBody>
          <a:bodyPr lIns="0" tIns="0" rIns="0" bIns="0" rtlCol="0" anchor="t">
            <a:spAutoFit/>
          </a:bodyPr>
          <a:lstStyle/>
          <a:p>
            <a:pPr algn="ctr">
              <a:lnSpc>
                <a:spcPts val="7846"/>
              </a:lnSpc>
            </a:pPr>
            <a:r>
              <a:rPr lang="en-US" sz="7133">
                <a:solidFill>
                  <a:srgbClr val="1B1B1B"/>
                </a:solidFill>
                <a:latin typeface="Vollkorn"/>
                <a:ea typeface="Vollkorn"/>
                <a:cs typeface="Vollkorn"/>
                <a:sym typeface="Vollkorn"/>
              </a:rPr>
              <a:t>Applications</a:t>
            </a:r>
          </a:p>
        </p:txBody>
      </p:sp>
      <p:sp>
        <p:nvSpPr>
          <p:cNvPr id="4" name="TextBox 4"/>
          <p:cNvSpPr txBox="1"/>
          <p:nvPr/>
        </p:nvSpPr>
        <p:spPr>
          <a:xfrm>
            <a:off x="1028700" y="1312849"/>
            <a:ext cx="4135276" cy="678807"/>
          </a:xfrm>
          <a:prstGeom prst="rect">
            <a:avLst/>
          </a:prstGeom>
        </p:spPr>
        <p:txBody>
          <a:bodyPr lIns="0" tIns="0" rIns="0" bIns="0" rtlCol="0" anchor="t">
            <a:spAutoFit/>
          </a:bodyPr>
          <a:lstStyle/>
          <a:p>
            <a:pPr algn="ctr">
              <a:lnSpc>
                <a:spcPts val="5256"/>
              </a:lnSpc>
              <a:spcBef>
                <a:spcPct val="0"/>
              </a:spcBef>
            </a:pPr>
            <a:r>
              <a:rPr lang="en-US" sz="4204" b="1">
                <a:solidFill>
                  <a:srgbClr val="1B1B1B"/>
                </a:solidFill>
                <a:latin typeface="Vollkorn Bold"/>
                <a:ea typeface="Vollkorn Bold"/>
                <a:cs typeface="Vollkorn Bold"/>
                <a:sym typeface="Vollkorn Bold"/>
              </a:rPr>
              <a:t>In Construction:</a:t>
            </a:r>
          </a:p>
        </p:txBody>
      </p:sp>
      <p:sp>
        <p:nvSpPr>
          <p:cNvPr id="5" name="TextBox 5"/>
          <p:cNvSpPr txBox="1"/>
          <p:nvPr/>
        </p:nvSpPr>
        <p:spPr>
          <a:xfrm>
            <a:off x="1028700" y="2270518"/>
            <a:ext cx="7343720" cy="595213"/>
          </a:xfrm>
          <a:prstGeom prst="rect">
            <a:avLst/>
          </a:prstGeom>
        </p:spPr>
        <p:txBody>
          <a:bodyPr lIns="0" tIns="0" rIns="0" bIns="0" rtlCol="0" anchor="t">
            <a:spAutoFit/>
          </a:bodyPr>
          <a:lstStyle/>
          <a:p>
            <a:pPr algn="ctr">
              <a:lnSpc>
                <a:spcPts val="4712"/>
              </a:lnSpc>
              <a:spcBef>
                <a:spcPct val="0"/>
              </a:spcBef>
            </a:pPr>
            <a:r>
              <a:rPr lang="en-US" sz="3770">
                <a:solidFill>
                  <a:srgbClr val="1B1B1B"/>
                </a:solidFill>
                <a:latin typeface="Vollkorn"/>
                <a:ea typeface="Vollkorn"/>
                <a:cs typeface="Vollkorn"/>
                <a:sym typeface="Vollkorn"/>
              </a:rPr>
              <a:t>1. Building Walls and Façade Panels</a:t>
            </a:r>
          </a:p>
        </p:txBody>
      </p:sp>
      <p:sp>
        <p:nvSpPr>
          <p:cNvPr id="6" name="TextBox 6"/>
          <p:cNvSpPr txBox="1"/>
          <p:nvPr/>
        </p:nvSpPr>
        <p:spPr>
          <a:xfrm>
            <a:off x="1028700" y="3135067"/>
            <a:ext cx="10945418" cy="1008488"/>
          </a:xfrm>
          <a:prstGeom prst="rect">
            <a:avLst/>
          </a:prstGeom>
        </p:spPr>
        <p:txBody>
          <a:bodyPr lIns="0" tIns="0" rIns="0" bIns="0" rtlCol="0" anchor="t">
            <a:spAutoFit/>
          </a:bodyPr>
          <a:lstStyle/>
          <a:p>
            <a:pPr algn="l">
              <a:lnSpc>
                <a:spcPts val="3903"/>
              </a:lnSpc>
              <a:spcBef>
                <a:spcPct val="0"/>
              </a:spcBef>
            </a:pPr>
            <a:r>
              <a:rPr lang="en-US" sz="3122">
                <a:solidFill>
                  <a:srgbClr val="1B1B1B"/>
                </a:solidFill>
                <a:latin typeface="Vollkorn"/>
                <a:ea typeface="Vollkorn"/>
                <a:cs typeface="Vollkorn"/>
                <a:sym typeface="Vollkorn"/>
              </a:rPr>
              <a:t> The cellular core supports the outer sheets and helps the panel resist bending while keeping it relatively lightweight.</a:t>
            </a:r>
          </a:p>
        </p:txBody>
      </p:sp>
      <p:sp>
        <p:nvSpPr>
          <p:cNvPr id="7" name="TextBox 7"/>
          <p:cNvSpPr txBox="1"/>
          <p:nvPr/>
        </p:nvSpPr>
        <p:spPr>
          <a:xfrm>
            <a:off x="1028700" y="8849257"/>
            <a:ext cx="10680723" cy="758163"/>
          </a:xfrm>
          <a:prstGeom prst="rect">
            <a:avLst/>
          </a:prstGeom>
        </p:spPr>
        <p:txBody>
          <a:bodyPr lIns="0" tIns="0" rIns="0" bIns="0" rtlCol="0" anchor="t">
            <a:spAutoFit/>
          </a:bodyPr>
          <a:lstStyle/>
          <a:p>
            <a:pPr algn="l">
              <a:lnSpc>
                <a:spcPts val="2970"/>
              </a:lnSpc>
              <a:spcBef>
                <a:spcPct val="0"/>
              </a:spcBef>
            </a:pPr>
            <a:r>
              <a:rPr lang="en-US" sz="2700" u="sng">
                <a:solidFill>
                  <a:srgbClr val="1B1B1B"/>
                </a:solidFill>
                <a:latin typeface="Vollkorn"/>
                <a:ea typeface="Vollkorn"/>
                <a:cs typeface="Vollkorn"/>
                <a:sym typeface="Vollkorn"/>
              </a:rPr>
              <a:t>Structural significance: </a:t>
            </a:r>
            <a:r>
              <a:rPr lang="en-US" sz="2700">
                <a:solidFill>
                  <a:srgbClr val="1B1B1B"/>
                </a:solidFill>
                <a:latin typeface="Vollkorn"/>
                <a:ea typeface="Vollkorn"/>
                <a:cs typeface="Vollkorn"/>
                <a:sym typeface="Vollkorn"/>
              </a:rPr>
              <a:t>Reduces the dead load transferred to beams, columns and foundations</a:t>
            </a:r>
            <a:r>
              <a:rPr lang="en-US" sz="2700" u="sng">
                <a:solidFill>
                  <a:srgbClr val="1B1B1B"/>
                </a:solidFill>
                <a:latin typeface="Vollkorn"/>
                <a:ea typeface="Vollkorn"/>
                <a:cs typeface="Vollkorn"/>
                <a:sym typeface="Vollkorn"/>
              </a:rPr>
              <a:t>.</a:t>
            </a:r>
          </a:p>
        </p:txBody>
      </p:sp>
      <p:sp>
        <p:nvSpPr>
          <p:cNvPr id="8" name="TextBox 8"/>
          <p:cNvSpPr txBox="1"/>
          <p:nvPr/>
        </p:nvSpPr>
        <p:spPr>
          <a:xfrm>
            <a:off x="1028700" y="5747959"/>
            <a:ext cx="6623866" cy="596772"/>
          </a:xfrm>
          <a:prstGeom prst="rect">
            <a:avLst/>
          </a:prstGeom>
        </p:spPr>
        <p:txBody>
          <a:bodyPr lIns="0" tIns="0" rIns="0" bIns="0" rtlCol="0" anchor="t">
            <a:spAutoFit/>
          </a:bodyPr>
          <a:lstStyle/>
          <a:p>
            <a:pPr algn="ctr">
              <a:lnSpc>
                <a:spcPts val="4718"/>
              </a:lnSpc>
              <a:spcBef>
                <a:spcPct val="0"/>
              </a:spcBef>
            </a:pPr>
            <a:r>
              <a:rPr lang="en-US" sz="3774">
                <a:solidFill>
                  <a:srgbClr val="1B1B1B"/>
                </a:solidFill>
                <a:latin typeface="Vollkorn"/>
                <a:ea typeface="Vollkorn"/>
                <a:cs typeface="Vollkorn"/>
                <a:sym typeface="Vollkorn"/>
              </a:rPr>
              <a:t>2. Lightweight Roofing Systems</a:t>
            </a:r>
          </a:p>
        </p:txBody>
      </p:sp>
      <p:sp>
        <p:nvSpPr>
          <p:cNvPr id="9" name="Freeform 9"/>
          <p:cNvSpPr/>
          <p:nvPr/>
        </p:nvSpPr>
        <p:spPr>
          <a:xfrm>
            <a:off x="11974118" y="5776534"/>
            <a:ext cx="5285182" cy="3481766"/>
          </a:xfrm>
          <a:custGeom>
            <a:avLst/>
            <a:gdLst/>
            <a:ahLst/>
            <a:cxnLst/>
            <a:rect l="l" t="t" r="r" b="b"/>
            <a:pathLst>
              <a:path w="5285182" h="3481766">
                <a:moveTo>
                  <a:pt x="0" y="0"/>
                </a:moveTo>
                <a:lnTo>
                  <a:pt x="5285182" y="0"/>
                </a:lnTo>
                <a:lnTo>
                  <a:pt x="5285182" y="3481766"/>
                </a:lnTo>
                <a:lnTo>
                  <a:pt x="0" y="3481766"/>
                </a:lnTo>
                <a:lnTo>
                  <a:pt x="0" y="0"/>
                </a:lnTo>
                <a:close/>
              </a:path>
            </a:pathLst>
          </a:custGeom>
          <a:blipFill>
            <a:blip r:embed="rId3"/>
            <a:stretch>
              <a:fillRect l="-25345" t="-37802" r="-27108" b="-12764"/>
            </a:stretch>
          </a:blipFill>
        </p:spPr>
        <p:txBody>
          <a:bodyPr/>
          <a:lstStyle/>
          <a:p>
            <a:endParaRPr lang="en-US"/>
          </a:p>
        </p:txBody>
      </p:sp>
      <p:sp>
        <p:nvSpPr>
          <p:cNvPr id="10" name="TextBox 10"/>
          <p:cNvSpPr txBox="1"/>
          <p:nvPr/>
        </p:nvSpPr>
        <p:spPr>
          <a:xfrm>
            <a:off x="1028700" y="6524418"/>
            <a:ext cx="10945418" cy="1509828"/>
          </a:xfrm>
          <a:prstGeom prst="rect">
            <a:avLst/>
          </a:prstGeom>
        </p:spPr>
        <p:txBody>
          <a:bodyPr lIns="0" tIns="0" rIns="0" bIns="0" rtlCol="0" anchor="t">
            <a:spAutoFit/>
          </a:bodyPr>
          <a:lstStyle/>
          <a:p>
            <a:pPr algn="l">
              <a:lnSpc>
                <a:spcPts val="3920"/>
              </a:lnSpc>
              <a:spcBef>
                <a:spcPct val="0"/>
              </a:spcBef>
            </a:pPr>
            <a:r>
              <a:rPr lang="en-US" sz="3136">
                <a:solidFill>
                  <a:srgbClr val="1B1B1B"/>
                </a:solidFill>
                <a:latin typeface="Vollkorn"/>
                <a:ea typeface="Vollkorn"/>
                <a:cs typeface="Vollkorn"/>
                <a:sym typeface="Vollkorn"/>
              </a:rPr>
              <a:t>Their two strong outer sheets are separated by a lightweight cellular core, which increases bending stiffness without requiring a solid, heavy panel.</a:t>
            </a:r>
          </a:p>
        </p:txBody>
      </p:sp>
      <p:sp>
        <p:nvSpPr>
          <p:cNvPr id="11" name="TextBox 11"/>
          <p:cNvSpPr txBox="1"/>
          <p:nvPr/>
        </p:nvSpPr>
        <p:spPr>
          <a:xfrm>
            <a:off x="1028700" y="4412935"/>
            <a:ext cx="10945418" cy="887349"/>
          </a:xfrm>
          <a:prstGeom prst="rect">
            <a:avLst/>
          </a:prstGeom>
        </p:spPr>
        <p:txBody>
          <a:bodyPr lIns="0" tIns="0" rIns="0" bIns="0" rtlCol="0" anchor="t">
            <a:spAutoFit/>
          </a:bodyPr>
          <a:lstStyle/>
          <a:p>
            <a:pPr algn="l">
              <a:lnSpc>
                <a:spcPts val="3432"/>
              </a:lnSpc>
              <a:spcBef>
                <a:spcPct val="0"/>
              </a:spcBef>
            </a:pPr>
            <a:r>
              <a:rPr lang="en-US" sz="3120" u="sng">
                <a:solidFill>
                  <a:srgbClr val="1B1B1B"/>
                </a:solidFill>
                <a:latin typeface="Vollkorn"/>
                <a:ea typeface="Vollkorn"/>
                <a:cs typeface="Vollkorn"/>
                <a:sym typeface="Vollkorn"/>
              </a:rPr>
              <a:t>Structural significance</a:t>
            </a:r>
            <a:r>
              <a:rPr lang="en-US" sz="3120">
                <a:solidFill>
                  <a:srgbClr val="1B1B1B"/>
                </a:solidFill>
                <a:latin typeface="Vollkorn"/>
                <a:ea typeface="Vollkorn"/>
                <a:cs typeface="Vollkorn"/>
                <a:sym typeface="Vollkorn"/>
              </a:rPr>
              <a:t>: Improves panel rigidity and reduces the load imposed on the building frame.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pic>
        <p:nvPicPr>
          <p:cNvPr id="2" name="Picture 2"/>
          <p:cNvPicPr>
            <a:picLocks noChangeAspect="1"/>
          </p:cNvPicPr>
          <p:nvPr>
            <a:videoFile r:link="rId1"/>
          </p:nvPr>
        </p:nvPicPr>
        <p:blipFill>
          <a:blip r:embed="rId3"/>
          <a:stretch>
            <a:fillRect/>
          </a:stretch>
        </p:blipFill>
        <p:spPr>
          <a:xfrm>
            <a:off x="2514850" y="1806329"/>
            <a:ext cx="13258299" cy="7451971"/>
          </a:xfrm>
          <a:prstGeom prst="rect">
            <a:avLst/>
          </a:prstGeom>
        </p:spPr>
      </p:pic>
      <p:sp>
        <p:nvSpPr>
          <p:cNvPr id="3" name="TextBox 3"/>
          <p:cNvSpPr txBox="1"/>
          <p:nvPr/>
        </p:nvSpPr>
        <p:spPr>
          <a:xfrm>
            <a:off x="6578577" y="317391"/>
            <a:ext cx="5130846" cy="1033558"/>
          </a:xfrm>
          <a:prstGeom prst="rect">
            <a:avLst/>
          </a:prstGeom>
        </p:spPr>
        <p:txBody>
          <a:bodyPr lIns="0" tIns="0" rIns="0" bIns="0" rtlCol="0" anchor="t">
            <a:spAutoFit/>
          </a:bodyPr>
          <a:lstStyle/>
          <a:p>
            <a:pPr algn="ctr">
              <a:lnSpc>
                <a:spcPts val="7846"/>
              </a:lnSpc>
            </a:pPr>
            <a:r>
              <a:rPr lang="en-US" sz="7133">
                <a:solidFill>
                  <a:srgbClr val="1B1B1B"/>
                </a:solidFill>
                <a:latin typeface="Vollkorn"/>
                <a:ea typeface="Vollkorn"/>
                <a:cs typeface="Vollkorn"/>
                <a:sym typeface="Vollkorn"/>
              </a:rPr>
              <a:t>Applications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196194" y="2507243"/>
            <a:ext cx="5194066" cy="6530091"/>
          </a:xfrm>
          <a:custGeom>
            <a:avLst/>
            <a:gdLst/>
            <a:ahLst/>
            <a:cxnLst/>
            <a:rect l="l" t="t" r="r" b="b"/>
            <a:pathLst>
              <a:path w="5194066" h="6530091">
                <a:moveTo>
                  <a:pt x="0" y="0"/>
                </a:moveTo>
                <a:lnTo>
                  <a:pt x="5194066" y="0"/>
                </a:lnTo>
                <a:lnTo>
                  <a:pt x="5194066" y="6530091"/>
                </a:lnTo>
                <a:lnTo>
                  <a:pt x="0" y="6530091"/>
                </a:lnTo>
                <a:lnTo>
                  <a:pt x="0" y="0"/>
                </a:lnTo>
                <a:close/>
              </a:path>
            </a:pathLst>
          </a:custGeom>
          <a:blipFill>
            <a:blip r:embed="rId2"/>
            <a:stretch>
              <a:fillRect t="-9655" b="-9655"/>
            </a:stretch>
          </a:blipFill>
        </p:spPr>
        <p:txBody>
          <a:bodyPr/>
          <a:lstStyle/>
          <a:p>
            <a:endParaRPr lang="en-US"/>
          </a:p>
        </p:txBody>
      </p:sp>
      <p:sp>
        <p:nvSpPr>
          <p:cNvPr id="3" name="TextBox 3"/>
          <p:cNvSpPr txBox="1"/>
          <p:nvPr/>
        </p:nvSpPr>
        <p:spPr>
          <a:xfrm>
            <a:off x="6578577" y="317391"/>
            <a:ext cx="5130846" cy="1033558"/>
          </a:xfrm>
          <a:prstGeom prst="rect">
            <a:avLst/>
          </a:prstGeom>
        </p:spPr>
        <p:txBody>
          <a:bodyPr lIns="0" tIns="0" rIns="0" bIns="0" rtlCol="0" anchor="t">
            <a:spAutoFit/>
          </a:bodyPr>
          <a:lstStyle/>
          <a:p>
            <a:pPr algn="ctr">
              <a:lnSpc>
                <a:spcPts val="7846"/>
              </a:lnSpc>
            </a:pPr>
            <a:r>
              <a:rPr lang="en-US" sz="7133">
                <a:solidFill>
                  <a:srgbClr val="1B1B1B"/>
                </a:solidFill>
                <a:latin typeface="Vollkorn"/>
                <a:ea typeface="Vollkorn"/>
                <a:cs typeface="Vollkorn"/>
                <a:sym typeface="Vollkorn"/>
              </a:rPr>
              <a:t>Applications</a:t>
            </a:r>
          </a:p>
        </p:txBody>
      </p:sp>
      <p:sp>
        <p:nvSpPr>
          <p:cNvPr id="4" name="TextBox 4"/>
          <p:cNvSpPr txBox="1"/>
          <p:nvPr/>
        </p:nvSpPr>
        <p:spPr>
          <a:xfrm>
            <a:off x="1546321" y="1312849"/>
            <a:ext cx="3100035" cy="678807"/>
          </a:xfrm>
          <a:prstGeom prst="rect">
            <a:avLst/>
          </a:prstGeom>
        </p:spPr>
        <p:txBody>
          <a:bodyPr lIns="0" tIns="0" rIns="0" bIns="0" rtlCol="0" anchor="t">
            <a:spAutoFit/>
          </a:bodyPr>
          <a:lstStyle/>
          <a:p>
            <a:pPr algn="ctr">
              <a:lnSpc>
                <a:spcPts val="5256"/>
              </a:lnSpc>
              <a:spcBef>
                <a:spcPct val="0"/>
              </a:spcBef>
            </a:pPr>
            <a:r>
              <a:rPr lang="en-US" sz="4204" b="1">
                <a:solidFill>
                  <a:srgbClr val="1B1B1B"/>
                </a:solidFill>
                <a:latin typeface="Vollkorn Bold"/>
                <a:ea typeface="Vollkorn Bold"/>
                <a:cs typeface="Vollkorn Bold"/>
                <a:sym typeface="Vollkorn Bold"/>
              </a:rPr>
              <a:t>In Aircrafts:</a:t>
            </a:r>
          </a:p>
        </p:txBody>
      </p:sp>
      <p:sp>
        <p:nvSpPr>
          <p:cNvPr id="5" name="TextBox 5"/>
          <p:cNvSpPr txBox="1"/>
          <p:nvPr/>
        </p:nvSpPr>
        <p:spPr>
          <a:xfrm>
            <a:off x="7781457" y="2823872"/>
            <a:ext cx="9821568" cy="6038476"/>
          </a:xfrm>
          <a:prstGeom prst="rect">
            <a:avLst/>
          </a:prstGeom>
        </p:spPr>
        <p:txBody>
          <a:bodyPr lIns="0" tIns="0" rIns="0" bIns="0" rtlCol="0" anchor="t">
            <a:spAutoFit/>
          </a:bodyPr>
          <a:lstStyle/>
          <a:p>
            <a:pPr algn="ctr">
              <a:lnSpc>
                <a:spcPts val="4342"/>
              </a:lnSpc>
            </a:pPr>
            <a:r>
              <a:rPr lang="en-US" sz="3102">
                <a:solidFill>
                  <a:srgbClr val="1B1B1B"/>
                </a:solidFill>
                <a:latin typeface="Vollkorn"/>
                <a:ea typeface="Vollkorn"/>
                <a:cs typeface="Vollkorn"/>
                <a:sym typeface="Vollkorn"/>
              </a:rPr>
              <a:t>The aerospace industry relies heavily on industrial honeycomb structures for manufacturing aircraft parts. Components like wings, fuselages, and engine nacelles use honeycomb cores made of metals or composites. These cores are lightweight yet strong enough to endure extreme pressure and temperature changes.</a:t>
            </a:r>
          </a:p>
          <a:p>
            <a:pPr algn="ctr">
              <a:lnSpc>
                <a:spcPts val="4342"/>
              </a:lnSpc>
            </a:pPr>
            <a:r>
              <a:rPr lang="en-US" sz="3102">
                <a:solidFill>
                  <a:srgbClr val="1B1B1B"/>
                </a:solidFill>
                <a:latin typeface="Vollkorn"/>
                <a:ea typeface="Vollkorn"/>
                <a:cs typeface="Vollkorn"/>
                <a:sym typeface="Vollkorn"/>
              </a:rPr>
              <a:t>One such use of honeycomb structure in airplanes is: </a:t>
            </a:r>
          </a:p>
          <a:p>
            <a:pPr algn="ctr">
              <a:lnSpc>
                <a:spcPts val="4342"/>
              </a:lnSpc>
            </a:pPr>
            <a:endParaRPr lang="en-US" sz="3102">
              <a:solidFill>
                <a:srgbClr val="1B1B1B"/>
              </a:solidFill>
              <a:latin typeface="Vollkorn"/>
              <a:ea typeface="Vollkorn"/>
              <a:cs typeface="Vollkorn"/>
              <a:sym typeface="Vollkorn"/>
            </a:endParaRPr>
          </a:p>
          <a:p>
            <a:pPr algn="ctr">
              <a:lnSpc>
                <a:spcPts val="4342"/>
              </a:lnSpc>
            </a:pPr>
            <a:r>
              <a:rPr lang="en-US" sz="3102" b="1">
                <a:solidFill>
                  <a:srgbClr val="1B1B1B"/>
                </a:solidFill>
                <a:latin typeface="Vollkorn Bold"/>
                <a:ea typeface="Vollkorn Bold"/>
                <a:cs typeface="Vollkorn Bold"/>
                <a:sym typeface="Vollkorn Bold"/>
              </a:rPr>
              <a:t>Composite Honeycomb Panels</a:t>
            </a:r>
            <a:r>
              <a:rPr lang="en-US" sz="3102">
                <a:solidFill>
                  <a:srgbClr val="1B1B1B"/>
                </a:solidFill>
                <a:latin typeface="Vollkorn"/>
                <a:ea typeface="Vollkorn"/>
                <a:cs typeface="Vollkorn"/>
                <a:sym typeface="Vollkorn"/>
              </a:rPr>
              <a:t>: Used in airplane floors to reduce weight while maintaining structural integrity.</a:t>
            </a:r>
          </a:p>
          <a:p>
            <a:pPr algn="ctr">
              <a:lnSpc>
                <a:spcPts val="4342"/>
              </a:lnSpc>
            </a:pPr>
            <a:endParaRPr lang="en-US" sz="3102">
              <a:solidFill>
                <a:srgbClr val="1B1B1B"/>
              </a:solidFill>
              <a:latin typeface="Vollkorn"/>
              <a:ea typeface="Vollkorn"/>
              <a:cs typeface="Vollkorn"/>
              <a:sym typeface="Vollkor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965677" y="-654015"/>
            <a:ext cx="3902129" cy="3902129"/>
          </a:xfrm>
          <a:custGeom>
            <a:avLst/>
            <a:gdLst/>
            <a:ahLst/>
            <a:cxnLst/>
            <a:rect l="l" t="t" r="r" b="b"/>
            <a:pathLst>
              <a:path w="3902129" h="3902129">
                <a:moveTo>
                  <a:pt x="0" y="0"/>
                </a:moveTo>
                <a:lnTo>
                  <a:pt x="3902129" y="0"/>
                </a:lnTo>
                <a:lnTo>
                  <a:pt x="3902129" y="3902129"/>
                </a:lnTo>
                <a:lnTo>
                  <a:pt x="0" y="3902129"/>
                </a:lnTo>
                <a:lnTo>
                  <a:pt x="0" y="0"/>
                </a:lnTo>
                <a:close/>
              </a:path>
            </a:pathLst>
          </a:custGeom>
          <a:blipFill>
            <a:blip r:embed="rId2">
              <a:alphaModFix amt="60000"/>
            </a:blip>
            <a:stretch>
              <a:fillRect/>
            </a:stretch>
          </a:blipFill>
        </p:spPr>
        <p:txBody>
          <a:bodyPr/>
          <a:lstStyle/>
          <a:p>
            <a:endParaRPr lang="en-US"/>
          </a:p>
        </p:txBody>
      </p:sp>
      <p:sp>
        <p:nvSpPr>
          <p:cNvPr id="3" name="Freeform 3"/>
          <p:cNvSpPr/>
          <p:nvPr/>
        </p:nvSpPr>
        <p:spPr>
          <a:xfrm>
            <a:off x="1996066" y="2635484"/>
            <a:ext cx="956843" cy="1125698"/>
          </a:xfrm>
          <a:custGeom>
            <a:avLst/>
            <a:gdLst/>
            <a:ahLst/>
            <a:cxnLst/>
            <a:rect l="l" t="t" r="r" b="b"/>
            <a:pathLst>
              <a:path w="956843" h="1125698">
                <a:moveTo>
                  <a:pt x="0" y="0"/>
                </a:moveTo>
                <a:lnTo>
                  <a:pt x="956843" y="0"/>
                </a:lnTo>
                <a:lnTo>
                  <a:pt x="956843" y="1125698"/>
                </a:lnTo>
                <a:lnTo>
                  <a:pt x="0" y="1125698"/>
                </a:lnTo>
                <a:lnTo>
                  <a:pt x="0" y="0"/>
                </a:lnTo>
                <a:close/>
              </a:path>
            </a:pathLst>
          </a:custGeom>
          <a:blipFill>
            <a:blip r:embed="rId3"/>
            <a:stretch>
              <a:fillRect/>
            </a:stretch>
          </a:blipFill>
        </p:spPr>
        <p:txBody>
          <a:bodyPr/>
          <a:lstStyle/>
          <a:p>
            <a:endParaRPr lang="en-US"/>
          </a:p>
        </p:txBody>
      </p:sp>
      <p:sp>
        <p:nvSpPr>
          <p:cNvPr id="4" name="AutoShape 4"/>
          <p:cNvSpPr/>
          <p:nvPr/>
        </p:nvSpPr>
        <p:spPr>
          <a:xfrm>
            <a:off x="1507122" y="6067760"/>
            <a:ext cx="14907756" cy="0"/>
          </a:xfrm>
          <a:prstGeom prst="line">
            <a:avLst/>
          </a:prstGeom>
          <a:ln w="38100" cap="flat">
            <a:solidFill>
              <a:srgbClr val="000000"/>
            </a:solidFill>
            <a:prstDash val="sysDash"/>
            <a:headEnd type="none" w="sm" len="sm"/>
            <a:tailEnd type="none" w="sm" len="sm"/>
          </a:ln>
        </p:spPr>
        <p:txBody>
          <a:bodyPr/>
          <a:lstStyle/>
          <a:p>
            <a:endParaRPr lang="en-US"/>
          </a:p>
        </p:txBody>
      </p:sp>
      <p:sp>
        <p:nvSpPr>
          <p:cNvPr id="5" name="Freeform 5"/>
          <p:cNvSpPr/>
          <p:nvPr/>
        </p:nvSpPr>
        <p:spPr>
          <a:xfrm>
            <a:off x="7043715" y="2554387"/>
            <a:ext cx="956843" cy="1125698"/>
          </a:xfrm>
          <a:custGeom>
            <a:avLst/>
            <a:gdLst/>
            <a:ahLst/>
            <a:cxnLst/>
            <a:rect l="l" t="t" r="r" b="b"/>
            <a:pathLst>
              <a:path w="956843" h="1125698">
                <a:moveTo>
                  <a:pt x="0" y="0"/>
                </a:moveTo>
                <a:lnTo>
                  <a:pt x="956843" y="0"/>
                </a:lnTo>
                <a:lnTo>
                  <a:pt x="956843" y="1125697"/>
                </a:lnTo>
                <a:lnTo>
                  <a:pt x="0" y="1125697"/>
                </a:lnTo>
                <a:lnTo>
                  <a:pt x="0" y="0"/>
                </a:lnTo>
                <a:close/>
              </a:path>
            </a:pathLst>
          </a:custGeom>
          <a:blipFill>
            <a:blip r:embed="rId3"/>
            <a:stretch>
              <a:fillRect/>
            </a:stretch>
          </a:blipFill>
        </p:spPr>
        <p:txBody>
          <a:bodyPr/>
          <a:lstStyle/>
          <a:p>
            <a:endParaRPr lang="en-US"/>
          </a:p>
        </p:txBody>
      </p:sp>
      <p:sp>
        <p:nvSpPr>
          <p:cNvPr id="6" name="Freeform 6"/>
          <p:cNvSpPr/>
          <p:nvPr/>
        </p:nvSpPr>
        <p:spPr>
          <a:xfrm>
            <a:off x="11672692" y="2523917"/>
            <a:ext cx="956843" cy="1237265"/>
          </a:xfrm>
          <a:custGeom>
            <a:avLst/>
            <a:gdLst/>
            <a:ahLst/>
            <a:cxnLst/>
            <a:rect l="l" t="t" r="r" b="b"/>
            <a:pathLst>
              <a:path w="956843" h="1237265">
                <a:moveTo>
                  <a:pt x="0" y="0"/>
                </a:moveTo>
                <a:lnTo>
                  <a:pt x="956844" y="0"/>
                </a:lnTo>
                <a:lnTo>
                  <a:pt x="956844" y="1237265"/>
                </a:lnTo>
                <a:lnTo>
                  <a:pt x="0" y="1237265"/>
                </a:lnTo>
                <a:lnTo>
                  <a:pt x="0" y="0"/>
                </a:lnTo>
                <a:close/>
              </a:path>
            </a:pathLst>
          </a:custGeom>
          <a:blipFill>
            <a:blip r:embed="rId3"/>
            <a:stretch>
              <a:fillRect l="-4955" r="-4955"/>
            </a:stretch>
          </a:blipFill>
        </p:spPr>
        <p:txBody>
          <a:bodyPr/>
          <a:lstStyle/>
          <a:p>
            <a:endParaRPr lang="en-US"/>
          </a:p>
        </p:txBody>
      </p:sp>
      <p:sp>
        <p:nvSpPr>
          <p:cNvPr id="7" name="TextBox 7"/>
          <p:cNvSpPr txBox="1"/>
          <p:nvPr/>
        </p:nvSpPr>
        <p:spPr>
          <a:xfrm>
            <a:off x="11311629" y="2673584"/>
            <a:ext cx="1678970" cy="765472"/>
          </a:xfrm>
          <a:prstGeom prst="rect">
            <a:avLst/>
          </a:prstGeom>
        </p:spPr>
        <p:txBody>
          <a:bodyPr lIns="0" tIns="0" rIns="0" bIns="0" rtlCol="0" anchor="t">
            <a:spAutoFit/>
          </a:bodyPr>
          <a:lstStyle/>
          <a:p>
            <a:pPr algn="ctr">
              <a:lnSpc>
                <a:spcPts val="5907"/>
              </a:lnSpc>
              <a:spcBef>
                <a:spcPct val="0"/>
              </a:spcBef>
            </a:pPr>
            <a:r>
              <a:rPr lang="en-US" sz="5370" b="1">
                <a:solidFill>
                  <a:srgbClr val="1B1B1B"/>
                </a:solidFill>
                <a:latin typeface="Vollkorn Bold"/>
                <a:ea typeface="Vollkorn Bold"/>
                <a:cs typeface="Vollkorn Bold"/>
                <a:sym typeface="Vollkorn Bold"/>
              </a:rPr>
              <a:t>3.</a:t>
            </a:r>
          </a:p>
        </p:txBody>
      </p:sp>
      <p:sp>
        <p:nvSpPr>
          <p:cNvPr id="8" name="AutoShape 8"/>
          <p:cNvSpPr/>
          <p:nvPr/>
        </p:nvSpPr>
        <p:spPr>
          <a:xfrm>
            <a:off x="11311629" y="2554377"/>
            <a:ext cx="0" cy="7720683"/>
          </a:xfrm>
          <a:prstGeom prst="line">
            <a:avLst/>
          </a:prstGeom>
          <a:ln w="38100" cap="flat">
            <a:solidFill>
              <a:srgbClr val="000000"/>
            </a:solidFill>
            <a:prstDash val="sysDash"/>
            <a:headEnd type="none" w="sm" len="sm"/>
            <a:tailEnd type="none" w="sm" len="sm"/>
          </a:ln>
        </p:spPr>
        <p:txBody>
          <a:bodyPr/>
          <a:lstStyle/>
          <a:p>
            <a:endParaRPr lang="en-US"/>
          </a:p>
        </p:txBody>
      </p:sp>
      <p:sp>
        <p:nvSpPr>
          <p:cNvPr id="9" name="AutoShape 9"/>
          <p:cNvSpPr/>
          <p:nvPr/>
        </p:nvSpPr>
        <p:spPr>
          <a:xfrm>
            <a:off x="6311756" y="2554377"/>
            <a:ext cx="0" cy="7720683"/>
          </a:xfrm>
          <a:prstGeom prst="line">
            <a:avLst/>
          </a:prstGeom>
          <a:ln w="38100" cap="flat">
            <a:solidFill>
              <a:srgbClr val="000000"/>
            </a:solidFill>
            <a:prstDash val="sysDash"/>
            <a:headEnd type="none" w="sm" len="sm"/>
            <a:tailEnd type="none" w="sm" len="sm"/>
          </a:ln>
        </p:spPr>
        <p:txBody>
          <a:bodyPr/>
          <a:lstStyle/>
          <a:p>
            <a:endParaRPr lang="en-US"/>
          </a:p>
        </p:txBody>
      </p:sp>
      <p:sp>
        <p:nvSpPr>
          <p:cNvPr id="10" name="Freeform 10"/>
          <p:cNvSpPr/>
          <p:nvPr/>
        </p:nvSpPr>
        <p:spPr>
          <a:xfrm>
            <a:off x="1970084" y="6246299"/>
            <a:ext cx="956843" cy="1237265"/>
          </a:xfrm>
          <a:custGeom>
            <a:avLst/>
            <a:gdLst/>
            <a:ahLst/>
            <a:cxnLst/>
            <a:rect l="l" t="t" r="r" b="b"/>
            <a:pathLst>
              <a:path w="956843" h="1237265">
                <a:moveTo>
                  <a:pt x="0" y="0"/>
                </a:moveTo>
                <a:lnTo>
                  <a:pt x="956843" y="0"/>
                </a:lnTo>
                <a:lnTo>
                  <a:pt x="956843" y="1237265"/>
                </a:lnTo>
                <a:lnTo>
                  <a:pt x="0" y="1237265"/>
                </a:lnTo>
                <a:lnTo>
                  <a:pt x="0" y="0"/>
                </a:lnTo>
                <a:close/>
              </a:path>
            </a:pathLst>
          </a:custGeom>
          <a:blipFill>
            <a:blip r:embed="rId3"/>
            <a:stretch>
              <a:fillRect l="-4955" r="-4955"/>
            </a:stretch>
          </a:blipFill>
        </p:spPr>
        <p:txBody>
          <a:bodyPr/>
          <a:lstStyle/>
          <a:p>
            <a:endParaRPr lang="en-US"/>
          </a:p>
        </p:txBody>
      </p:sp>
      <p:sp>
        <p:nvSpPr>
          <p:cNvPr id="11" name="Freeform 11"/>
          <p:cNvSpPr/>
          <p:nvPr/>
        </p:nvSpPr>
        <p:spPr>
          <a:xfrm>
            <a:off x="7043715" y="6234359"/>
            <a:ext cx="956843" cy="1237265"/>
          </a:xfrm>
          <a:custGeom>
            <a:avLst/>
            <a:gdLst/>
            <a:ahLst/>
            <a:cxnLst/>
            <a:rect l="l" t="t" r="r" b="b"/>
            <a:pathLst>
              <a:path w="956843" h="1237265">
                <a:moveTo>
                  <a:pt x="0" y="0"/>
                </a:moveTo>
                <a:lnTo>
                  <a:pt x="956843" y="0"/>
                </a:lnTo>
                <a:lnTo>
                  <a:pt x="956843" y="1237265"/>
                </a:lnTo>
                <a:lnTo>
                  <a:pt x="0" y="1237265"/>
                </a:lnTo>
                <a:lnTo>
                  <a:pt x="0" y="0"/>
                </a:lnTo>
                <a:close/>
              </a:path>
            </a:pathLst>
          </a:custGeom>
          <a:blipFill>
            <a:blip r:embed="rId3"/>
            <a:stretch>
              <a:fillRect l="-4955" r="-4955"/>
            </a:stretch>
          </a:blipFill>
        </p:spPr>
        <p:txBody>
          <a:bodyPr/>
          <a:lstStyle/>
          <a:p>
            <a:endParaRPr lang="en-US"/>
          </a:p>
        </p:txBody>
      </p:sp>
      <p:sp>
        <p:nvSpPr>
          <p:cNvPr id="12" name="Freeform 12"/>
          <p:cNvSpPr/>
          <p:nvPr/>
        </p:nvSpPr>
        <p:spPr>
          <a:xfrm>
            <a:off x="11672692" y="6372560"/>
            <a:ext cx="956843" cy="1237265"/>
          </a:xfrm>
          <a:custGeom>
            <a:avLst/>
            <a:gdLst/>
            <a:ahLst/>
            <a:cxnLst/>
            <a:rect l="l" t="t" r="r" b="b"/>
            <a:pathLst>
              <a:path w="956843" h="1237265">
                <a:moveTo>
                  <a:pt x="0" y="0"/>
                </a:moveTo>
                <a:lnTo>
                  <a:pt x="956844" y="0"/>
                </a:lnTo>
                <a:lnTo>
                  <a:pt x="956844" y="1237265"/>
                </a:lnTo>
                <a:lnTo>
                  <a:pt x="0" y="1237265"/>
                </a:lnTo>
                <a:lnTo>
                  <a:pt x="0" y="0"/>
                </a:lnTo>
                <a:close/>
              </a:path>
            </a:pathLst>
          </a:custGeom>
          <a:blipFill>
            <a:blip r:embed="rId3"/>
            <a:stretch>
              <a:fillRect l="-4955" r="-4955"/>
            </a:stretch>
          </a:blipFill>
        </p:spPr>
        <p:txBody>
          <a:bodyPr/>
          <a:lstStyle/>
          <a:p>
            <a:endParaRPr lang="en-US"/>
          </a:p>
        </p:txBody>
      </p:sp>
      <p:sp>
        <p:nvSpPr>
          <p:cNvPr id="13" name="TextBox 13"/>
          <p:cNvSpPr txBox="1"/>
          <p:nvPr/>
        </p:nvSpPr>
        <p:spPr>
          <a:xfrm>
            <a:off x="5125863" y="161452"/>
            <a:ext cx="8313867" cy="1002323"/>
          </a:xfrm>
          <a:prstGeom prst="rect">
            <a:avLst/>
          </a:prstGeom>
        </p:spPr>
        <p:txBody>
          <a:bodyPr lIns="0" tIns="0" rIns="0" bIns="0" rtlCol="0" anchor="t">
            <a:spAutoFit/>
          </a:bodyPr>
          <a:lstStyle/>
          <a:p>
            <a:pPr algn="ctr">
              <a:lnSpc>
                <a:spcPts val="7614"/>
              </a:lnSpc>
            </a:pPr>
            <a:r>
              <a:rPr lang="en-US" sz="6921">
                <a:solidFill>
                  <a:srgbClr val="1B1B1B"/>
                </a:solidFill>
                <a:latin typeface="Vollkorn"/>
                <a:ea typeface="Vollkorn"/>
                <a:cs typeface="Vollkorn"/>
                <a:sym typeface="Vollkorn"/>
              </a:rPr>
              <a:t>PROs </a:t>
            </a:r>
          </a:p>
        </p:txBody>
      </p:sp>
      <p:sp>
        <p:nvSpPr>
          <p:cNvPr id="14" name="TextBox 14"/>
          <p:cNvSpPr txBox="1"/>
          <p:nvPr/>
        </p:nvSpPr>
        <p:spPr>
          <a:xfrm>
            <a:off x="5346577" y="1306649"/>
            <a:ext cx="8485909" cy="798168"/>
          </a:xfrm>
          <a:prstGeom prst="rect">
            <a:avLst/>
          </a:prstGeom>
        </p:spPr>
        <p:txBody>
          <a:bodyPr lIns="0" tIns="0" rIns="0" bIns="0" rtlCol="0" anchor="t">
            <a:spAutoFit/>
          </a:bodyPr>
          <a:lstStyle/>
          <a:p>
            <a:pPr algn="ctr">
              <a:lnSpc>
                <a:spcPts val="5880"/>
              </a:lnSpc>
            </a:pPr>
            <a:r>
              <a:rPr lang="en-US" sz="4200" b="1">
                <a:solidFill>
                  <a:srgbClr val="1B1B1B"/>
                </a:solidFill>
                <a:latin typeface="Times New Roman MT Bold"/>
                <a:ea typeface="Times New Roman MT Bold"/>
                <a:cs typeface="Times New Roman MT Bold"/>
                <a:sym typeface="Times New Roman MT Bold"/>
              </a:rPr>
              <a:t>Why do Honeycomb Structures Work?</a:t>
            </a:r>
          </a:p>
        </p:txBody>
      </p:sp>
      <p:sp>
        <p:nvSpPr>
          <p:cNvPr id="15" name="TextBox 15"/>
          <p:cNvSpPr txBox="1"/>
          <p:nvPr/>
        </p:nvSpPr>
        <p:spPr>
          <a:xfrm>
            <a:off x="1507122" y="2594884"/>
            <a:ext cx="2157298" cy="930402"/>
          </a:xfrm>
          <a:prstGeom prst="rect">
            <a:avLst/>
          </a:prstGeom>
        </p:spPr>
        <p:txBody>
          <a:bodyPr lIns="0" tIns="0" rIns="0" bIns="0" rtlCol="0" anchor="t">
            <a:spAutoFit/>
          </a:bodyPr>
          <a:lstStyle/>
          <a:p>
            <a:pPr algn="ctr">
              <a:lnSpc>
                <a:spcPts val="7517"/>
              </a:lnSpc>
            </a:pPr>
            <a:r>
              <a:rPr lang="en-US" sz="5370" b="1">
                <a:solidFill>
                  <a:srgbClr val="1B1B1B"/>
                </a:solidFill>
                <a:latin typeface="Vollkorn Bold"/>
                <a:ea typeface="Vollkorn Bold"/>
                <a:cs typeface="Vollkorn Bold"/>
                <a:sym typeface="Vollkorn Bold"/>
              </a:rPr>
              <a:t>1.</a:t>
            </a:r>
          </a:p>
        </p:txBody>
      </p:sp>
      <p:sp>
        <p:nvSpPr>
          <p:cNvPr id="16" name="TextBox 16"/>
          <p:cNvSpPr txBox="1"/>
          <p:nvPr/>
        </p:nvSpPr>
        <p:spPr>
          <a:xfrm>
            <a:off x="1996066" y="3905339"/>
            <a:ext cx="4216678" cy="1501086"/>
          </a:xfrm>
          <a:prstGeom prst="rect">
            <a:avLst/>
          </a:prstGeom>
        </p:spPr>
        <p:txBody>
          <a:bodyPr lIns="0" tIns="0" rIns="0" bIns="0" rtlCol="0" anchor="t">
            <a:spAutoFit/>
          </a:bodyPr>
          <a:lstStyle/>
          <a:p>
            <a:pPr algn="l">
              <a:lnSpc>
                <a:spcPts val="2970"/>
              </a:lnSpc>
              <a:spcBef>
                <a:spcPct val="0"/>
              </a:spcBef>
            </a:pPr>
            <a:r>
              <a:rPr lang="en-US" sz="2700">
                <a:solidFill>
                  <a:srgbClr val="1B1B1B"/>
                </a:solidFill>
                <a:latin typeface="Vollkorn"/>
                <a:ea typeface="Vollkorn"/>
                <a:cs typeface="Vollkorn"/>
                <a:sym typeface="Vollkorn"/>
              </a:rPr>
              <a:t>Honeycomb structures have low density while maintaining useful stiffness and strength.</a:t>
            </a:r>
          </a:p>
        </p:txBody>
      </p:sp>
      <p:sp>
        <p:nvSpPr>
          <p:cNvPr id="17" name="TextBox 17"/>
          <p:cNvSpPr txBox="1"/>
          <p:nvPr/>
        </p:nvSpPr>
        <p:spPr>
          <a:xfrm>
            <a:off x="2952909" y="2664945"/>
            <a:ext cx="2630951" cy="867516"/>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Lightweight Construction</a:t>
            </a:r>
          </a:p>
        </p:txBody>
      </p:sp>
      <p:sp>
        <p:nvSpPr>
          <p:cNvPr id="18" name="TextBox 18"/>
          <p:cNvSpPr txBox="1"/>
          <p:nvPr/>
        </p:nvSpPr>
        <p:spPr>
          <a:xfrm>
            <a:off x="6788006" y="2673584"/>
            <a:ext cx="1678970" cy="765472"/>
          </a:xfrm>
          <a:prstGeom prst="rect">
            <a:avLst/>
          </a:prstGeom>
        </p:spPr>
        <p:txBody>
          <a:bodyPr lIns="0" tIns="0" rIns="0" bIns="0" rtlCol="0" anchor="t">
            <a:spAutoFit/>
          </a:bodyPr>
          <a:lstStyle/>
          <a:p>
            <a:pPr algn="ctr">
              <a:lnSpc>
                <a:spcPts val="5907"/>
              </a:lnSpc>
              <a:spcBef>
                <a:spcPct val="0"/>
              </a:spcBef>
            </a:pPr>
            <a:r>
              <a:rPr lang="en-US" sz="5370" b="1">
                <a:solidFill>
                  <a:srgbClr val="1B1B1B"/>
                </a:solidFill>
                <a:latin typeface="Vollkorn Bold"/>
                <a:ea typeface="Vollkorn Bold"/>
                <a:cs typeface="Vollkorn Bold"/>
                <a:sym typeface="Vollkorn Bold"/>
              </a:rPr>
              <a:t>2.</a:t>
            </a:r>
          </a:p>
        </p:txBody>
      </p:sp>
      <p:sp>
        <p:nvSpPr>
          <p:cNvPr id="19" name="TextBox 19"/>
          <p:cNvSpPr txBox="1"/>
          <p:nvPr/>
        </p:nvSpPr>
        <p:spPr>
          <a:xfrm>
            <a:off x="8000558" y="2657770"/>
            <a:ext cx="2095331" cy="867516"/>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Material Efficiency</a:t>
            </a:r>
          </a:p>
        </p:txBody>
      </p:sp>
      <p:sp>
        <p:nvSpPr>
          <p:cNvPr id="20" name="TextBox 20"/>
          <p:cNvSpPr txBox="1"/>
          <p:nvPr/>
        </p:nvSpPr>
        <p:spPr>
          <a:xfrm>
            <a:off x="6644093" y="3780232"/>
            <a:ext cx="4428372" cy="2243978"/>
          </a:xfrm>
          <a:prstGeom prst="rect">
            <a:avLst/>
          </a:prstGeom>
        </p:spPr>
        <p:txBody>
          <a:bodyPr lIns="0" tIns="0" rIns="0" bIns="0" rtlCol="0" anchor="t">
            <a:spAutoFit/>
          </a:bodyPr>
          <a:lstStyle/>
          <a:p>
            <a:pPr algn="l">
              <a:lnSpc>
                <a:spcPts val="2967"/>
              </a:lnSpc>
              <a:spcBef>
                <a:spcPct val="0"/>
              </a:spcBef>
            </a:pPr>
            <a:r>
              <a:rPr lang="en-US" sz="2697">
                <a:solidFill>
                  <a:srgbClr val="1B1B1B"/>
                </a:solidFill>
                <a:latin typeface="Vollkorn"/>
                <a:ea typeface="Vollkorn"/>
                <a:cs typeface="Vollkorn"/>
                <a:sym typeface="Vollkorn"/>
              </a:rPr>
              <a:t>The cellular geometry means less material can be used to create a structural component with useful mechanical performance.</a:t>
            </a:r>
          </a:p>
          <a:p>
            <a:pPr algn="l">
              <a:lnSpc>
                <a:spcPts val="2967"/>
              </a:lnSpc>
              <a:spcBef>
                <a:spcPct val="0"/>
              </a:spcBef>
            </a:pPr>
            <a:endParaRPr lang="en-US" sz="2697">
              <a:solidFill>
                <a:srgbClr val="1B1B1B"/>
              </a:solidFill>
              <a:latin typeface="Vollkorn"/>
              <a:ea typeface="Vollkorn"/>
              <a:cs typeface="Vollkorn"/>
              <a:sym typeface="Vollkorn"/>
            </a:endParaRPr>
          </a:p>
        </p:txBody>
      </p:sp>
      <p:sp>
        <p:nvSpPr>
          <p:cNvPr id="21" name="TextBox 21"/>
          <p:cNvSpPr txBox="1"/>
          <p:nvPr/>
        </p:nvSpPr>
        <p:spPr>
          <a:xfrm>
            <a:off x="12887202" y="2533442"/>
            <a:ext cx="2118227" cy="867516"/>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Energy Absorption</a:t>
            </a:r>
          </a:p>
        </p:txBody>
      </p:sp>
      <p:sp>
        <p:nvSpPr>
          <p:cNvPr id="22" name="TextBox 22"/>
          <p:cNvSpPr txBox="1"/>
          <p:nvPr/>
        </p:nvSpPr>
        <p:spPr>
          <a:xfrm>
            <a:off x="11818087" y="3872928"/>
            <a:ext cx="4185764" cy="1129624"/>
          </a:xfrm>
          <a:prstGeom prst="rect">
            <a:avLst/>
          </a:prstGeom>
        </p:spPr>
        <p:txBody>
          <a:bodyPr lIns="0" tIns="0" rIns="0" bIns="0" rtlCol="0" anchor="t">
            <a:spAutoFit/>
          </a:bodyPr>
          <a:lstStyle/>
          <a:p>
            <a:pPr algn="l">
              <a:lnSpc>
                <a:spcPts val="2970"/>
              </a:lnSpc>
              <a:spcBef>
                <a:spcPct val="0"/>
              </a:spcBef>
            </a:pPr>
            <a:r>
              <a:rPr lang="en-US" sz="2700">
                <a:solidFill>
                  <a:srgbClr val="1B1B1B"/>
                </a:solidFill>
                <a:latin typeface="Vollkorn"/>
                <a:ea typeface="Vollkorn"/>
                <a:cs typeface="Vollkorn"/>
                <a:sym typeface="Vollkorn"/>
              </a:rPr>
              <a:t>Honeycomb structures can deform progressively and absorb mechanical energy.</a:t>
            </a:r>
          </a:p>
        </p:txBody>
      </p:sp>
      <p:sp>
        <p:nvSpPr>
          <p:cNvPr id="23" name="TextBox 23"/>
          <p:cNvSpPr txBox="1"/>
          <p:nvPr/>
        </p:nvSpPr>
        <p:spPr>
          <a:xfrm>
            <a:off x="1369856" y="6120059"/>
            <a:ext cx="2157298" cy="930402"/>
          </a:xfrm>
          <a:prstGeom prst="rect">
            <a:avLst/>
          </a:prstGeom>
        </p:spPr>
        <p:txBody>
          <a:bodyPr lIns="0" tIns="0" rIns="0" bIns="0" rtlCol="0" anchor="t">
            <a:spAutoFit/>
          </a:bodyPr>
          <a:lstStyle/>
          <a:p>
            <a:pPr algn="ctr">
              <a:lnSpc>
                <a:spcPts val="7517"/>
              </a:lnSpc>
            </a:pPr>
            <a:r>
              <a:rPr lang="en-US" sz="5370" b="1">
                <a:solidFill>
                  <a:srgbClr val="1B1B1B"/>
                </a:solidFill>
                <a:latin typeface="Vollkorn Bold"/>
                <a:ea typeface="Vollkorn Bold"/>
                <a:cs typeface="Vollkorn Bold"/>
                <a:sym typeface="Vollkorn Bold"/>
              </a:rPr>
              <a:t>4.</a:t>
            </a:r>
          </a:p>
        </p:txBody>
      </p:sp>
      <p:sp>
        <p:nvSpPr>
          <p:cNvPr id="24" name="TextBox 24"/>
          <p:cNvSpPr txBox="1"/>
          <p:nvPr/>
        </p:nvSpPr>
        <p:spPr>
          <a:xfrm>
            <a:off x="2474487" y="6399106"/>
            <a:ext cx="2651376" cy="867516"/>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Structural Stability</a:t>
            </a:r>
          </a:p>
        </p:txBody>
      </p:sp>
      <p:sp>
        <p:nvSpPr>
          <p:cNvPr id="25" name="TextBox 25"/>
          <p:cNvSpPr txBox="1"/>
          <p:nvPr/>
        </p:nvSpPr>
        <p:spPr>
          <a:xfrm>
            <a:off x="2228574" y="7614499"/>
            <a:ext cx="3751661" cy="1872547"/>
          </a:xfrm>
          <a:prstGeom prst="rect">
            <a:avLst/>
          </a:prstGeom>
        </p:spPr>
        <p:txBody>
          <a:bodyPr lIns="0" tIns="0" rIns="0" bIns="0" rtlCol="0" anchor="t">
            <a:spAutoFit/>
          </a:bodyPr>
          <a:lstStyle/>
          <a:p>
            <a:pPr algn="l">
              <a:lnSpc>
                <a:spcPts val="2970"/>
              </a:lnSpc>
              <a:spcBef>
                <a:spcPct val="0"/>
              </a:spcBef>
            </a:pPr>
            <a:r>
              <a:rPr lang="en-US" sz="2700">
                <a:solidFill>
                  <a:srgbClr val="1B1B1B"/>
                </a:solidFill>
                <a:latin typeface="Vollkorn"/>
                <a:ea typeface="Vollkorn"/>
                <a:cs typeface="Vollkorn"/>
                <a:sym typeface="Vollkorn"/>
              </a:rPr>
              <a:t>Honeycomb configurations can improve stability and distribute loads.</a:t>
            </a:r>
          </a:p>
          <a:p>
            <a:pPr algn="l">
              <a:lnSpc>
                <a:spcPts val="2970"/>
              </a:lnSpc>
              <a:spcBef>
                <a:spcPct val="0"/>
              </a:spcBef>
            </a:pPr>
            <a:endParaRPr lang="en-US" sz="2700">
              <a:solidFill>
                <a:srgbClr val="1B1B1B"/>
              </a:solidFill>
              <a:latin typeface="Vollkorn"/>
              <a:ea typeface="Vollkorn"/>
              <a:cs typeface="Vollkorn"/>
              <a:sym typeface="Vollkorn"/>
            </a:endParaRPr>
          </a:p>
        </p:txBody>
      </p:sp>
      <p:sp>
        <p:nvSpPr>
          <p:cNvPr id="26" name="TextBox 26"/>
          <p:cNvSpPr txBox="1"/>
          <p:nvPr/>
        </p:nvSpPr>
        <p:spPr>
          <a:xfrm>
            <a:off x="6443488" y="6120059"/>
            <a:ext cx="2157298" cy="930402"/>
          </a:xfrm>
          <a:prstGeom prst="rect">
            <a:avLst/>
          </a:prstGeom>
        </p:spPr>
        <p:txBody>
          <a:bodyPr lIns="0" tIns="0" rIns="0" bIns="0" rtlCol="0" anchor="t">
            <a:spAutoFit/>
          </a:bodyPr>
          <a:lstStyle/>
          <a:p>
            <a:pPr algn="ctr">
              <a:lnSpc>
                <a:spcPts val="7517"/>
              </a:lnSpc>
            </a:pPr>
            <a:r>
              <a:rPr lang="en-US" sz="5370" b="1">
                <a:solidFill>
                  <a:srgbClr val="1B1B1B"/>
                </a:solidFill>
                <a:latin typeface="Vollkorn Bold"/>
                <a:ea typeface="Vollkorn Bold"/>
                <a:cs typeface="Vollkorn Bold"/>
                <a:sym typeface="Vollkorn Bold"/>
              </a:rPr>
              <a:t>5.</a:t>
            </a:r>
          </a:p>
        </p:txBody>
      </p:sp>
      <p:sp>
        <p:nvSpPr>
          <p:cNvPr id="27" name="TextBox 27"/>
          <p:cNvSpPr txBox="1"/>
          <p:nvPr/>
        </p:nvSpPr>
        <p:spPr>
          <a:xfrm>
            <a:off x="8000558" y="6399106"/>
            <a:ext cx="2113046" cy="867516"/>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Design Flexibility</a:t>
            </a:r>
          </a:p>
        </p:txBody>
      </p:sp>
      <p:sp>
        <p:nvSpPr>
          <p:cNvPr id="28" name="TextBox 28"/>
          <p:cNvSpPr txBox="1"/>
          <p:nvPr/>
        </p:nvSpPr>
        <p:spPr>
          <a:xfrm>
            <a:off x="6803285" y="7628875"/>
            <a:ext cx="4109987" cy="2615470"/>
          </a:xfrm>
          <a:prstGeom prst="rect">
            <a:avLst/>
          </a:prstGeom>
        </p:spPr>
        <p:txBody>
          <a:bodyPr lIns="0" tIns="0" rIns="0" bIns="0" rtlCol="0" anchor="t">
            <a:spAutoFit/>
          </a:bodyPr>
          <a:lstStyle/>
          <a:p>
            <a:pPr algn="l">
              <a:lnSpc>
                <a:spcPts val="2970"/>
              </a:lnSpc>
              <a:spcBef>
                <a:spcPct val="0"/>
              </a:spcBef>
            </a:pPr>
            <a:r>
              <a:rPr lang="en-US" sz="2700">
                <a:solidFill>
                  <a:srgbClr val="1B1B1B"/>
                </a:solidFill>
                <a:latin typeface="Vollkorn"/>
                <a:ea typeface="Vollkorn"/>
                <a:cs typeface="Vollkorn"/>
                <a:sym typeface="Vollkorn"/>
              </a:rPr>
              <a:t>Modern designs can use:</a:t>
            </a:r>
          </a:p>
          <a:p>
            <a:pPr marL="582930" lvl="1" indent="-291465" algn="l">
              <a:lnSpc>
                <a:spcPts val="2970"/>
              </a:lnSpc>
              <a:spcBef>
                <a:spcPct val="0"/>
              </a:spcBef>
              <a:buFont typeface="Arial"/>
              <a:buChar char="•"/>
            </a:pPr>
            <a:r>
              <a:rPr lang="en-US" sz="2700">
                <a:solidFill>
                  <a:srgbClr val="1B1B1B"/>
                </a:solidFill>
                <a:latin typeface="Vollkorn"/>
                <a:ea typeface="Vollkorn"/>
                <a:cs typeface="Vollkorn"/>
                <a:sym typeface="Vollkorn"/>
              </a:rPr>
              <a:t>Hierarchical cells</a:t>
            </a:r>
          </a:p>
          <a:p>
            <a:pPr marL="582930" lvl="1" indent="-291465" algn="l">
              <a:lnSpc>
                <a:spcPts val="2970"/>
              </a:lnSpc>
              <a:spcBef>
                <a:spcPct val="0"/>
              </a:spcBef>
              <a:buFont typeface="Arial"/>
              <a:buChar char="•"/>
            </a:pPr>
            <a:r>
              <a:rPr lang="en-US" sz="2700">
                <a:solidFill>
                  <a:srgbClr val="1B1B1B"/>
                </a:solidFill>
                <a:latin typeface="Vollkorn"/>
                <a:ea typeface="Vollkorn"/>
                <a:cs typeface="Vollkorn"/>
                <a:sym typeface="Vollkorn"/>
              </a:rPr>
              <a:t>Graded cells</a:t>
            </a:r>
          </a:p>
          <a:p>
            <a:pPr marL="582930" lvl="1" indent="-291465" algn="l">
              <a:lnSpc>
                <a:spcPts val="2970"/>
              </a:lnSpc>
              <a:spcBef>
                <a:spcPct val="0"/>
              </a:spcBef>
              <a:buFont typeface="Arial"/>
              <a:buChar char="•"/>
            </a:pPr>
            <a:r>
              <a:rPr lang="en-US" sz="2700">
                <a:solidFill>
                  <a:srgbClr val="1B1B1B"/>
                </a:solidFill>
                <a:latin typeface="Vollkorn"/>
                <a:ea typeface="Vollkorn"/>
                <a:cs typeface="Vollkorn"/>
                <a:sym typeface="Vollkorn"/>
              </a:rPr>
              <a:t>Reinforced cells</a:t>
            </a:r>
          </a:p>
          <a:p>
            <a:pPr marL="582930" lvl="1" indent="-291465" algn="l">
              <a:lnSpc>
                <a:spcPts val="2970"/>
              </a:lnSpc>
              <a:spcBef>
                <a:spcPct val="0"/>
              </a:spcBef>
              <a:buFont typeface="Arial"/>
              <a:buChar char="•"/>
            </a:pPr>
            <a:r>
              <a:rPr lang="en-US" sz="2700">
                <a:solidFill>
                  <a:srgbClr val="1B1B1B"/>
                </a:solidFill>
                <a:latin typeface="Vollkorn"/>
                <a:ea typeface="Vollkorn"/>
                <a:cs typeface="Vollkorn"/>
                <a:sym typeface="Vollkorn"/>
              </a:rPr>
              <a:t>Hybrid geometries</a:t>
            </a:r>
          </a:p>
          <a:p>
            <a:pPr algn="l">
              <a:lnSpc>
                <a:spcPts val="2970"/>
              </a:lnSpc>
              <a:spcBef>
                <a:spcPct val="0"/>
              </a:spcBef>
            </a:pPr>
            <a:endParaRPr lang="en-US" sz="2700">
              <a:solidFill>
                <a:srgbClr val="1B1B1B"/>
              </a:solidFill>
              <a:latin typeface="Vollkorn"/>
              <a:ea typeface="Vollkorn"/>
              <a:cs typeface="Vollkorn"/>
              <a:sym typeface="Vollkorn"/>
            </a:endParaRPr>
          </a:p>
          <a:p>
            <a:pPr algn="l">
              <a:lnSpc>
                <a:spcPts val="2970"/>
              </a:lnSpc>
              <a:spcBef>
                <a:spcPct val="0"/>
              </a:spcBef>
            </a:pPr>
            <a:endParaRPr lang="en-US" sz="2700">
              <a:solidFill>
                <a:srgbClr val="1B1B1B"/>
              </a:solidFill>
              <a:latin typeface="Vollkorn"/>
              <a:ea typeface="Vollkorn"/>
              <a:cs typeface="Vollkorn"/>
              <a:sym typeface="Vollkorn"/>
            </a:endParaRPr>
          </a:p>
        </p:txBody>
      </p:sp>
      <p:sp>
        <p:nvSpPr>
          <p:cNvPr id="29" name="TextBox 29"/>
          <p:cNvSpPr txBox="1"/>
          <p:nvPr/>
        </p:nvSpPr>
        <p:spPr>
          <a:xfrm>
            <a:off x="11072465" y="6336220"/>
            <a:ext cx="2157298" cy="930402"/>
          </a:xfrm>
          <a:prstGeom prst="rect">
            <a:avLst/>
          </a:prstGeom>
        </p:spPr>
        <p:txBody>
          <a:bodyPr lIns="0" tIns="0" rIns="0" bIns="0" rtlCol="0" anchor="t">
            <a:spAutoFit/>
          </a:bodyPr>
          <a:lstStyle/>
          <a:p>
            <a:pPr algn="ctr">
              <a:lnSpc>
                <a:spcPts val="7517"/>
              </a:lnSpc>
            </a:pPr>
            <a:r>
              <a:rPr lang="en-US" sz="5370" b="1">
                <a:solidFill>
                  <a:srgbClr val="1B1B1B"/>
                </a:solidFill>
                <a:latin typeface="Vollkorn Bold"/>
                <a:ea typeface="Vollkorn Bold"/>
                <a:cs typeface="Vollkorn Bold"/>
                <a:sym typeface="Vollkorn Bold"/>
              </a:rPr>
              <a:t>6.</a:t>
            </a:r>
          </a:p>
        </p:txBody>
      </p:sp>
      <p:sp>
        <p:nvSpPr>
          <p:cNvPr id="30" name="TextBox 30"/>
          <p:cNvSpPr txBox="1"/>
          <p:nvPr/>
        </p:nvSpPr>
        <p:spPr>
          <a:xfrm>
            <a:off x="12710219" y="6469570"/>
            <a:ext cx="3125033" cy="758132"/>
          </a:xfrm>
          <a:prstGeom prst="rect">
            <a:avLst/>
          </a:prstGeom>
        </p:spPr>
        <p:txBody>
          <a:bodyPr lIns="0" tIns="0" rIns="0" bIns="0" rtlCol="0" anchor="t">
            <a:spAutoFit/>
          </a:bodyPr>
          <a:lstStyle/>
          <a:p>
            <a:pPr algn="ctr">
              <a:lnSpc>
                <a:spcPts val="2967"/>
              </a:lnSpc>
              <a:spcBef>
                <a:spcPct val="0"/>
              </a:spcBef>
            </a:pPr>
            <a:r>
              <a:rPr lang="en-US" sz="2697" b="1">
                <a:solidFill>
                  <a:srgbClr val="1B1B1B"/>
                </a:solidFill>
                <a:latin typeface="Vollkorn Bold"/>
                <a:ea typeface="Vollkorn Bold"/>
                <a:cs typeface="Vollkorn Bold"/>
                <a:sym typeface="Vollkorn Bold"/>
              </a:rPr>
              <a:t>Potential for Sustainable Design</a:t>
            </a:r>
          </a:p>
        </p:txBody>
      </p:sp>
      <p:sp>
        <p:nvSpPr>
          <p:cNvPr id="31" name="Freeform 31"/>
          <p:cNvSpPr/>
          <p:nvPr/>
        </p:nvSpPr>
        <p:spPr>
          <a:xfrm>
            <a:off x="4104405" y="9696664"/>
            <a:ext cx="8838947" cy="900511"/>
          </a:xfrm>
          <a:custGeom>
            <a:avLst/>
            <a:gdLst/>
            <a:ahLst/>
            <a:cxnLst/>
            <a:rect l="l" t="t" r="r" b="b"/>
            <a:pathLst>
              <a:path w="8838947" h="900511">
                <a:moveTo>
                  <a:pt x="0" y="0"/>
                </a:moveTo>
                <a:lnTo>
                  <a:pt x="8838947" y="0"/>
                </a:lnTo>
                <a:lnTo>
                  <a:pt x="8838947" y="900511"/>
                </a:lnTo>
                <a:lnTo>
                  <a:pt x="0" y="900511"/>
                </a:lnTo>
                <a:lnTo>
                  <a:pt x="0" y="0"/>
                </a:lnTo>
                <a:close/>
              </a:path>
            </a:pathLst>
          </a:custGeom>
          <a:blipFill>
            <a:blip r:embed="rId4"/>
            <a:stretch>
              <a:fillRect t="-204946"/>
            </a:stretch>
          </a:blipFill>
        </p:spPr>
        <p:txBody>
          <a:bodyPr/>
          <a:lstStyle/>
          <a:p>
            <a:endParaRPr lang="en-US"/>
          </a:p>
        </p:txBody>
      </p:sp>
      <p:sp>
        <p:nvSpPr>
          <p:cNvPr id="32" name="TextBox 32"/>
          <p:cNvSpPr txBox="1"/>
          <p:nvPr/>
        </p:nvSpPr>
        <p:spPr>
          <a:xfrm>
            <a:off x="12487661" y="7614499"/>
            <a:ext cx="4089326" cy="1501086"/>
          </a:xfrm>
          <a:prstGeom prst="rect">
            <a:avLst/>
          </a:prstGeom>
        </p:spPr>
        <p:txBody>
          <a:bodyPr lIns="0" tIns="0" rIns="0" bIns="0" rtlCol="0" anchor="t">
            <a:spAutoFit/>
          </a:bodyPr>
          <a:lstStyle/>
          <a:p>
            <a:pPr algn="l">
              <a:lnSpc>
                <a:spcPts val="2970"/>
              </a:lnSpc>
              <a:spcBef>
                <a:spcPct val="0"/>
              </a:spcBef>
            </a:pPr>
            <a:r>
              <a:rPr lang="en-US" sz="2700">
                <a:solidFill>
                  <a:srgbClr val="1B1B1B"/>
                </a:solidFill>
                <a:latin typeface="Vollkorn"/>
                <a:ea typeface="Vollkorn"/>
                <a:cs typeface="Vollkorn"/>
                <a:sym typeface="Vollkorn"/>
              </a:rPr>
              <a:t>Reducing structural mass can potentially reduce material use and transportation loads.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922364" y="-709558"/>
            <a:ext cx="3902129" cy="3902129"/>
          </a:xfrm>
          <a:custGeom>
            <a:avLst/>
            <a:gdLst/>
            <a:ahLst/>
            <a:cxnLst/>
            <a:rect l="l" t="t" r="r" b="b"/>
            <a:pathLst>
              <a:path w="3902129" h="3902129">
                <a:moveTo>
                  <a:pt x="0" y="0"/>
                </a:moveTo>
                <a:lnTo>
                  <a:pt x="3902128" y="0"/>
                </a:lnTo>
                <a:lnTo>
                  <a:pt x="3902128" y="3902129"/>
                </a:lnTo>
                <a:lnTo>
                  <a:pt x="0" y="3902129"/>
                </a:lnTo>
                <a:lnTo>
                  <a:pt x="0" y="0"/>
                </a:lnTo>
                <a:close/>
              </a:path>
            </a:pathLst>
          </a:custGeom>
          <a:blipFill>
            <a:blip r:embed="rId2">
              <a:alphaModFix amt="60000"/>
            </a:blip>
            <a:stretch>
              <a:fillRect/>
            </a:stretch>
          </a:blipFill>
        </p:spPr>
        <p:txBody>
          <a:bodyPr/>
          <a:lstStyle/>
          <a:p>
            <a:endParaRPr lang="en-US"/>
          </a:p>
        </p:txBody>
      </p:sp>
      <p:sp>
        <p:nvSpPr>
          <p:cNvPr id="3" name="TextBox 3"/>
          <p:cNvSpPr txBox="1"/>
          <p:nvPr/>
        </p:nvSpPr>
        <p:spPr>
          <a:xfrm>
            <a:off x="4987067" y="555611"/>
            <a:ext cx="8313867" cy="1003327"/>
          </a:xfrm>
          <a:prstGeom prst="rect">
            <a:avLst/>
          </a:prstGeom>
        </p:spPr>
        <p:txBody>
          <a:bodyPr lIns="0" tIns="0" rIns="0" bIns="0" rtlCol="0" anchor="t">
            <a:spAutoFit/>
          </a:bodyPr>
          <a:lstStyle/>
          <a:p>
            <a:pPr algn="ctr">
              <a:lnSpc>
                <a:spcPts val="7699"/>
              </a:lnSpc>
            </a:pPr>
            <a:r>
              <a:rPr lang="en-US" sz="6999">
                <a:solidFill>
                  <a:srgbClr val="1B1B1B"/>
                </a:solidFill>
                <a:latin typeface="Vollkorn"/>
                <a:ea typeface="Vollkorn"/>
                <a:cs typeface="Vollkorn"/>
                <a:sym typeface="Vollkorn"/>
              </a:rPr>
              <a:t>CONS</a:t>
            </a:r>
          </a:p>
        </p:txBody>
      </p:sp>
      <p:sp>
        <p:nvSpPr>
          <p:cNvPr id="4" name="TextBox 4"/>
          <p:cNvSpPr txBox="1"/>
          <p:nvPr/>
        </p:nvSpPr>
        <p:spPr>
          <a:xfrm>
            <a:off x="1093961" y="3221146"/>
            <a:ext cx="16068061" cy="5730897"/>
          </a:xfrm>
          <a:prstGeom prst="rect">
            <a:avLst/>
          </a:prstGeom>
        </p:spPr>
        <p:txBody>
          <a:bodyPr lIns="0" tIns="0" rIns="0" bIns="0" rtlCol="0" anchor="t">
            <a:spAutoFit/>
          </a:bodyPr>
          <a:lstStyle/>
          <a:p>
            <a:pPr algn="l">
              <a:lnSpc>
                <a:spcPts val="3547"/>
              </a:lnSpc>
              <a:spcBef>
                <a:spcPct val="0"/>
              </a:spcBef>
            </a:pPr>
            <a:r>
              <a:rPr lang="en-US" sz="3224" b="1">
                <a:solidFill>
                  <a:srgbClr val="1B1B1B"/>
                </a:solidFill>
                <a:latin typeface="Vollkorn Bold"/>
                <a:ea typeface="Vollkorn Bold"/>
                <a:cs typeface="Vollkorn Bold"/>
                <a:sym typeface="Vollkorn Bold"/>
              </a:rPr>
              <a:t>1. Manufacturing complexity</a:t>
            </a:r>
          </a:p>
          <a:p>
            <a:pPr algn="l">
              <a:lnSpc>
                <a:spcPts val="657"/>
              </a:lnSpc>
              <a:spcBef>
                <a:spcPct val="0"/>
              </a:spcBef>
            </a:pPr>
            <a:endParaRPr lang="en-US" sz="3224" b="1">
              <a:solidFill>
                <a:srgbClr val="1B1B1B"/>
              </a:solidFill>
              <a:latin typeface="Vollkorn Bold"/>
              <a:ea typeface="Vollkorn Bold"/>
              <a:cs typeface="Vollkorn Bold"/>
              <a:sym typeface="Vollkorn Bold"/>
            </a:endParaRPr>
          </a:p>
          <a:p>
            <a:pPr algn="l">
              <a:lnSpc>
                <a:spcPts val="3547"/>
              </a:lnSpc>
              <a:spcBef>
                <a:spcPct val="0"/>
              </a:spcBef>
            </a:pPr>
            <a:r>
              <a:rPr lang="en-US" sz="3224" b="1">
                <a:solidFill>
                  <a:srgbClr val="1B1B1B"/>
                </a:solidFill>
                <a:latin typeface="Vollkorn Bold"/>
                <a:ea typeface="Vollkorn Bold"/>
                <a:cs typeface="Vollkorn Bold"/>
                <a:sym typeface="Vollkorn Bold"/>
              </a:rPr>
              <a:t> </a:t>
            </a:r>
            <a:r>
              <a:rPr lang="en-US" sz="3224">
                <a:solidFill>
                  <a:srgbClr val="1B1B1B"/>
                </a:solidFill>
                <a:latin typeface="Vollkorn"/>
                <a:ea typeface="Vollkorn"/>
                <a:cs typeface="Vollkorn"/>
                <a:sym typeface="Vollkorn"/>
              </a:rPr>
              <a:t>Complex cellular and hierarchical geometries can require advanced manufacturing.</a:t>
            </a:r>
          </a:p>
          <a:p>
            <a:pPr algn="l">
              <a:lnSpc>
                <a:spcPts val="3547"/>
              </a:lnSpc>
              <a:spcBef>
                <a:spcPct val="0"/>
              </a:spcBef>
            </a:pPr>
            <a:endParaRPr lang="en-US" sz="3224">
              <a:solidFill>
                <a:srgbClr val="1B1B1B"/>
              </a:solidFill>
              <a:latin typeface="Vollkorn"/>
              <a:ea typeface="Vollkorn"/>
              <a:cs typeface="Vollkorn"/>
              <a:sym typeface="Vollkorn"/>
            </a:endParaRPr>
          </a:p>
          <a:p>
            <a:pPr algn="l">
              <a:lnSpc>
                <a:spcPts val="3547"/>
              </a:lnSpc>
              <a:spcBef>
                <a:spcPct val="0"/>
              </a:spcBef>
            </a:pPr>
            <a:r>
              <a:rPr lang="en-US" sz="3224" b="1">
                <a:solidFill>
                  <a:srgbClr val="1B1B1B"/>
                </a:solidFill>
                <a:latin typeface="Vollkorn Bold"/>
                <a:ea typeface="Vollkorn Bold"/>
                <a:cs typeface="Vollkorn Bold"/>
                <a:sym typeface="Vollkorn Bold"/>
              </a:rPr>
              <a:t>2. Direction-dependent behaviour</a:t>
            </a:r>
          </a:p>
          <a:p>
            <a:pPr algn="l">
              <a:lnSpc>
                <a:spcPts val="657"/>
              </a:lnSpc>
              <a:spcBef>
                <a:spcPct val="0"/>
              </a:spcBef>
            </a:pPr>
            <a:endParaRPr lang="en-US" sz="3224" b="1">
              <a:solidFill>
                <a:srgbClr val="1B1B1B"/>
              </a:solidFill>
              <a:latin typeface="Vollkorn Bold"/>
              <a:ea typeface="Vollkorn Bold"/>
              <a:cs typeface="Vollkorn Bold"/>
              <a:sym typeface="Vollkorn Bold"/>
            </a:endParaRPr>
          </a:p>
          <a:p>
            <a:pPr algn="l">
              <a:lnSpc>
                <a:spcPts val="3547"/>
              </a:lnSpc>
              <a:spcBef>
                <a:spcPct val="0"/>
              </a:spcBef>
            </a:pPr>
            <a:r>
              <a:rPr lang="en-US" sz="3224" b="1">
                <a:solidFill>
                  <a:srgbClr val="1B1B1B"/>
                </a:solidFill>
                <a:latin typeface="Vollkorn Bold"/>
                <a:ea typeface="Vollkorn Bold"/>
                <a:cs typeface="Vollkorn Bold"/>
                <a:sym typeface="Vollkorn Bold"/>
              </a:rPr>
              <a:t> </a:t>
            </a:r>
            <a:r>
              <a:rPr lang="en-US" sz="3224">
                <a:solidFill>
                  <a:srgbClr val="1B1B1B"/>
                </a:solidFill>
                <a:latin typeface="Vollkorn"/>
                <a:ea typeface="Vollkorn"/>
                <a:cs typeface="Vollkorn"/>
                <a:sym typeface="Vollkorn"/>
              </a:rPr>
              <a:t>Honeycomb performance can vary depending on the direction and type of loading.</a:t>
            </a:r>
          </a:p>
          <a:p>
            <a:pPr algn="l">
              <a:lnSpc>
                <a:spcPts val="3547"/>
              </a:lnSpc>
              <a:spcBef>
                <a:spcPct val="0"/>
              </a:spcBef>
            </a:pPr>
            <a:endParaRPr lang="en-US" sz="3224">
              <a:solidFill>
                <a:srgbClr val="1B1B1B"/>
              </a:solidFill>
              <a:latin typeface="Vollkorn"/>
              <a:ea typeface="Vollkorn"/>
              <a:cs typeface="Vollkorn"/>
              <a:sym typeface="Vollkorn"/>
            </a:endParaRPr>
          </a:p>
          <a:p>
            <a:pPr algn="l">
              <a:lnSpc>
                <a:spcPts val="3547"/>
              </a:lnSpc>
              <a:spcBef>
                <a:spcPct val="0"/>
              </a:spcBef>
            </a:pPr>
            <a:r>
              <a:rPr lang="en-US" sz="3224" b="1">
                <a:solidFill>
                  <a:srgbClr val="1B1B1B"/>
                </a:solidFill>
                <a:latin typeface="Vollkorn Bold"/>
                <a:ea typeface="Vollkorn Bold"/>
                <a:cs typeface="Vollkorn Bold"/>
                <a:sym typeface="Vollkorn Bold"/>
              </a:rPr>
              <a:t>3. Local damage</a:t>
            </a:r>
          </a:p>
          <a:p>
            <a:pPr algn="l">
              <a:lnSpc>
                <a:spcPts val="657"/>
              </a:lnSpc>
              <a:spcBef>
                <a:spcPct val="0"/>
              </a:spcBef>
            </a:pPr>
            <a:endParaRPr lang="en-US" sz="3224" b="1">
              <a:solidFill>
                <a:srgbClr val="1B1B1B"/>
              </a:solidFill>
              <a:latin typeface="Vollkorn Bold"/>
              <a:ea typeface="Vollkorn Bold"/>
              <a:cs typeface="Vollkorn Bold"/>
              <a:sym typeface="Vollkorn Bold"/>
            </a:endParaRPr>
          </a:p>
          <a:p>
            <a:pPr algn="l">
              <a:lnSpc>
                <a:spcPts val="3547"/>
              </a:lnSpc>
              <a:spcBef>
                <a:spcPct val="0"/>
              </a:spcBef>
            </a:pPr>
            <a:r>
              <a:rPr lang="en-US" sz="3224" b="1">
                <a:solidFill>
                  <a:srgbClr val="1B1B1B"/>
                </a:solidFill>
                <a:latin typeface="Vollkorn Bold"/>
                <a:ea typeface="Vollkorn Bold"/>
                <a:cs typeface="Vollkorn Bold"/>
                <a:sym typeface="Vollkorn Bold"/>
              </a:rPr>
              <a:t> </a:t>
            </a:r>
            <a:r>
              <a:rPr lang="en-US" sz="3224">
                <a:solidFill>
                  <a:srgbClr val="1B1B1B"/>
                </a:solidFill>
                <a:latin typeface="Vollkorn"/>
                <a:ea typeface="Vollkorn"/>
                <a:cs typeface="Vollkorn"/>
                <a:sym typeface="Vollkorn"/>
              </a:rPr>
              <a:t>Damage to individual cells can affect the overall structural response.</a:t>
            </a:r>
          </a:p>
          <a:p>
            <a:pPr algn="l">
              <a:lnSpc>
                <a:spcPts val="3547"/>
              </a:lnSpc>
              <a:spcBef>
                <a:spcPct val="0"/>
              </a:spcBef>
            </a:pPr>
            <a:endParaRPr lang="en-US" sz="3224">
              <a:solidFill>
                <a:srgbClr val="1B1B1B"/>
              </a:solidFill>
              <a:latin typeface="Vollkorn"/>
              <a:ea typeface="Vollkorn"/>
              <a:cs typeface="Vollkorn"/>
              <a:sym typeface="Vollkorn"/>
            </a:endParaRPr>
          </a:p>
          <a:p>
            <a:pPr algn="l">
              <a:lnSpc>
                <a:spcPts val="3547"/>
              </a:lnSpc>
              <a:spcBef>
                <a:spcPct val="0"/>
              </a:spcBef>
            </a:pPr>
            <a:r>
              <a:rPr lang="en-US" sz="3224" b="1">
                <a:solidFill>
                  <a:srgbClr val="1B1B1B"/>
                </a:solidFill>
                <a:latin typeface="Vollkorn Bold"/>
                <a:ea typeface="Vollkorn Bold"/>
                <a:cs typeface="Vollkorn Bold"/>
                <a:sym typeface="Vollkorn Bold"/>
              </a:rPr>
              <a:t>4. Scaling</a:t>
            </a:r>
          </a:p>
          <a:p>
            <a:pPr algn="l">
              <a:lnSpc>
                <a:spcPts val="657"/>
              </a:lnSpc>
              <a:spcBef>
                <a:spcPct val="0"/>
              </a:spcBef>
            </a:pPr>
            <a:endParaRPr lang="en-US" sz="3224" b="1">
              <a:solidFill>
                <a:srgbClr val="1B1B1B"/>
              </a:solidFill>
              <a:latin typeface="Vollkorn Bold"/>
              <a:ea typeface="Vollkorn Bold"/>
              <a:cs typeface="Vollkorn Bold"/>
              <a:sym typeface="Vollkorn Bold"/>
            </a:endParaRPr>
          </a:p>
          <a:p>
            <a:pPr algn="l">
              <a:lnSpc>
                <a:spcPts val="3547"/>
              </a:lnSpc>
              <a:spcBef>
                <a:spcPct val="0"/>
              </a:spcBef>
            </a:pPr>
            <a:r>
              <a:rPr lang="en-US" sz="3224" b="1">
                <a:solidFill>
                  <a:srgbClr val="1B1B1B"/>
                </a:solidFill>
                <a:latin typeface="Vollkorn Bold"/>
                <a:ea typeface="Vollkorn Bold"/>
                <a:cs typeface="Vollkorn Bold"/>
                <a:sym typeface="Vollkorn Bold"/>
              </a:rPr>
              <a:t> </a:t>
            </a:r>
            <a:r>
              <a:rPr lang="en-US" sz="3224">
                <a:solidFill>
                  <a:srgbClr val="1B1B1B"/>
                </a:solidFill>
                <a:latin typeface="Vollkorn"/>
                <a:ea typeface="Vollkorn"/>
                <a:cs typeface="Vollkorn"/>
                <a:sym typeface="Vollkorn"/>
              </a:rPr>
              <a:t>A design that works well at laboratory scale cannot automatically be assumed to work the same way in a full-sized building.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028700" y="1764279"/>
            <a:ext cx="16618082" cy="5557404"/>
          </a:xfrm>
          <a:custGeom>
            <a:avLst/>
            <a:gdLst/>
            <a:ahLst/>
            <a:cxnLst/>
            <a:rect l="l" t="t" r="r" b="b"/>
            <a:pathLst>
              <a:path w="16618082" h="5557404">
                <a:moveTo>
                  <a:pt x="0" y="0"/>
                </a:moveTo>
                <a:lnTo>
                  <a:pt x="16618082" y="0"/>
                </a:lnTo>
                <a:lnTo>
                  <a:pt x="16618082" y="5557404"/>
                </a:lnTo>
                <a:lnTo>
                  <a:pt x="0" y="5557404"/>
                </a:lnTo>
                <a:lnTo>
                  <a:pt x="0" y="0"/>
                </a:lnTo>
                <a:close/>
              </a:path>
            </a:pathLst>
          </a:custGeom>
          <a:blipFill>
            <a:blip r:embed="rId2">
              <a:alphaModFix amt="99000"/>
            </a:blip>
            <a:stretch>
              <a:fillRect/>
            </a:stretch>
          </a:blipFill>
        </p:spPr>
        <p:txBody>
          <a:bodyPr/>
          <a:lstStyle/>
          <a:p>
            <a:endParaRPr lang="en-US"/>
          </a:p>
        </p:txBody>
      </p:sp>
      <p:sp>
        <p:nvSpPr>
          <p:cNvPr id="3" name="TextBox 3"/>
          <p:cNvSpPr txBox="1"/>
          <p:nvPr/>
        </p:nvSpPr>
        <p:spPr>
          <a:xfrm>
            <a:off x="4618677" y="728370"/>
            <a:ext cx="9034742" cy="1232324"/>
          </a:xfrm>
          <a:prstGeom prst="rect">
            <a:avLst/>
          </a:prstGeom>
        </p:spPr>
        <p:txBody>
          <a:bodyPr lIns="0" tIns="0" rIns="0" bIns="0" rtlCol="0" anchor="t">
            <a:spAutoFit/>
          </a:bodyPr>
          <a:lstStyle/>
          <a:p>
            <a:pPr algn="ctr">
              <a:lnSpc>
                <a:spcPts val="9386"/>
              </a:lnSpc>
            </a:pPr>
            <a:r>
              <a:rPr lang="en-US" sz="8533">
                <a:solidFill>
                  <a:srgbClr val="1B1B1B"/>
                </a:solidFill>
                <a:latin typeface="Vollkorn"/>
                <a:ea typeface="Vollkorn"/>
                <a:cs typeface="Vollkorn"/>
                <a:sym typeface="Vollkorn"/>
              </a:rPr>
              <a:t>Statistical Data</a:t>
            </a:r>
          </a:p>
        </p:txBody>
      </p:sp>
      <p:sp>
        <p:nvSpPr>
          <p:cNvPr id="4" name="TextBox 4"/>
          <p:cNvSpPr txBox="1"/>
          <p:nvPr/>
        </p:nvSpPr>
        <p:spPr>
          <a:xfrm>
            <a:off x="1446080" y="7996351"/>
            <a:ext cx="15813220" cy="1588135"/>
          </a:xfrm>
          <a:prstGeom prst="rect">
            <a:avLst/>
          </a:prstGeom>
        </p:spPr>
        <p:txBody>
          <a:bodyPr lIns="0" tIns="0" rIns="0" bIns="0" rtlCol="0" anchor="t">
            <a:spAutoFit/>
          </a:bodyPr>
          <a:lstStyle/>
          <a:p>
            <a:pPr algn="ctr">
              <a:lnSpc>
                <a:spcPts val="3079"/>
              </a:lnSpc>
              <a:spcBef>
                <a:spcPct val="0"/>
              </a:spcBef>
            </a:pPr>
            <a:r>
              <a:rPr lang="en-US" sz="2799">
                <a:solidFill>
                  <a:srgbClr val="1B1B1B"/>
                </a:solidFill>
                <a:latin typeface="Vollkorn"/>
                <a:ea typeface="Vollkorn"/>
                <a:cs typeface="Vollkorn"/>
                <a:sym typeface="Vollkorn"/>
              </a:rPr>
              <a:t>The pies show how little extra weight the honeycomb core adds compared with what it gains. For the thickest sandwich panel, only 5.7% of its weight is added over a solid panel. The same core supplies 89.1% of its strength and 97.3% of its stiffness. The 2.7% slice in the stiffness pie is too small to carry its label, so it only appears in the tooltip.</a:t>
            </a:r>
          </a:p>
        </p:txBody>
      </p:sp>
      <p:sp>
        <p:nvSpPr>
          <p:cNvPr id="5" name="TextBox 5"/>
          <p:cNvSpPr txBox="1"/>
          <p:nvPr/>
        </p:nvSpPr>
        <p:spPr>
          <a:xfrm>
            <a:off x="6149706" y="7331208"/>
            <a:ext cx="5448449" cy="365125"/>
          </a:xfrm>
          <a:prstGeom prst="rect">
            <a:avLst/>
          </a:prstGeom>
        </p:spPr>
        <p:txBody>
          <a:bodyPr lIns="0" tIns="0" rIns="0" bIns="0" rtlCol="0" anchor="t">
            <a:spAutoFit/>
          </a:bodyPr>
          <a:lstStyle/>
          <a:p>
            <a:pPr algn="ctr">
              <a:lnSpc>
                <a:spcPts val="2750"/>
              </a:lnSpc>
              <a:spcBef>
                <a:spcPct val="0"/>
              </a:spcBef>
            </a:pPr>
            <a:r>
              <a:rPr lang="en-US" sz="2500">
                <a:solidFill>
                  <a:srgbClr val="1B1B1B"/>
                </a:solidFill>
                <a:latin typeface="Vollkorn"/>
                <a:ea typeface="Vollkorn"/>
                <a:cs typeface="Vollkorn"/>
                <a:sym typeface="Vollkorn"/>
              </a:rPr>
              <a:t>Honeycomb structure vs solid structure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312833" y="2311088"/>
            <a:ext cx="3497593" cy="394951"/>
          </a:xfrm>
          <a:custGeom>
            <a:avLst/>
            <a:gdLst/>
            <a:ahLst/>
            <a:cxnLst/>
            <a:rect l="l" t="t" r="r" b="b"/>
            <a:pathLst>
              <a:path w="3497593" h="394951">
                <a:moveTo>
                  <a:pt x="0" y="0"/>
                </a:moveTo>
                <a:lnTo>
                  <a:pt x="3497592" y="0"/>
                </a:lnTo>
                <a:lnTo>
                  <a:pt x="3497592" y="394951"/>
                </a:lnTo>
                <a:lnTo>
                  <a:pt x="0" y="394951"/>
                </a:lnTo>
                <a:lnTo>
                  <a:pt x="0" y="0"/>
                </a:lnTo>
                <a:close/>
              </a:path>
            </a:pathLst>
          </a:custGeom>
          <a:blipFill>
            <a:blip r:embed="rId2"/>
            <a:stretch>
              <a:fillRect l="-62845" t="-467290" r="-89869" b="-128005"/>
            </a:stretch>
          </a:blipFill>
        </p:spPr>
        <p:txBody>
          <a:bodyPr/>
          <a:lstStyle/>
          <a:p>
            <a:endParaRPr lang="en-US"/>
          </a:p>
        </p:txBody>
      </p:sp>
      <p:sp>
        <p:nvSpPr>
          <p:cNvPr id="3" name="Freeform 3"/>
          <p:cNvSpPr/>
          <p:nvPr/>
        </p:nvSpPr>
        <p:spPr>
          <a:xfrm>
            <a:off x="4810425" y="1860832"/>
            <a:ext cx="259330" cy="752436"/>
          </a:xfrm>
          <a:custGeom>
            <a:avLst/>
            <a:gdLst/>
            <a:ahLst/>
            <a:cxnLst/>
            <a:rect l="l" t="t" r="r" b="b"/>
            <a:pathLst>
              <a:path w="259330" h="752436">
                <a:moveTo>
                  <a:pt x="0" y="0"/>
                </a:moveTo>
                <a:lnTo>
                  <a:pt x="259331" y="0"/>
                </a:lnTo>
                <a:lnTo>
                  <a:pt x="259331" y="752436"/>
                </a:lnTo>
                <a:lnTo>
                  <a:pt x="0" y="752436"/>
                </a:lnTo>
                <a:lnTo>
                  <a:pt x="0" y="0"/>
                </a:lnTo>
                <a:close/>
              </a:path>
            </a:pathLst>
          </a:custGeom>
          <a:blipFill>
            <a:blip r:embed="rId2"/>
            <a:stretch>
              <a:fillRect t="-204946" r="-2747920"/>
            </a:stretch>
          </a:blipFill>
        </p:spPr>
        <p:txBody>
          <a:bodyPr/>
          <a:lstStyle/>
          <a:p>
            <a:endParaRPr lang="en-US"/>
          </a:p>
        </p:txBody>
      </p:sp>
      <p:sp>
        <p:nvSpPr>
          <p:cNvPr id="4" name="Freeform 4"/>
          <p:cNvSpPr/>
          <p:nvPr/>
        </p:nvSpPr>
        <p:spPr>
          <a:xfrm>
            <a:off x="1572163" y="3166876"/>
            <a:ext cx="3497593" cy="394951"/>
          </a:xfrm>
          <a:custGeom>
            <a:avLst/>
            <a:gdLst/>
            <a:ahLst/>
            <a:cxnLst/>
            <a:rect l="l" t="t" r="r" b="b"/>
            <a:pathLst>
              <a:path w="3497593" h="394951">
                <a:moveTo>
                  <a:pt x="0" y="0"/>
                </a:moveTo>
                <a:lnTo>
                  <a:pt x="3497593" y="0"/>
                </a:lnTo>
                <a:lnTo>
                  <a:pt x="3497593" y="394951"/>
                </a:lnTo>
                <a:lnTo>
                  <a:pt x="0" y="394951"/>
                </a:lnTo>
                <a:lnTo>
                  <a:pt x="0" y="0"/>
                </a:lnTo>
                <a:close/>
              </a:path>
            </a:pathLst>
          </a:custGeom>
          <a:blipFill>
            <a:blip r:embed="rId2"/>
            <a:stretch>
              <a:fillRect l="-62845" t="-467290" r="-89869" b="-128005"/>
            </a:stretch>
          </a:blipFill>
        </p:spPr>
        <p:txBody>
          <a:bodyPr/>
          <a:lstStyle/>
          <a:p>
            <a:endParaRPr lang="en-US"/>
          </a:p>
        </p:txBody>
      </p:sp>
      <p:sp>
        <p:nvSpPr>
          <p:cNvPr id="5" name="Freeform 5"/>
          <p:cNvSpPr/>
          <p:nvPr/>
        </p:nvSpPr>
        <p:spPr>
          <a:xfrm>
            <a:off x="4810425" y="2611916"/>
            <a:ext cx="259330" cy="752436"/>
          </a:xfrm>
          <a:custGeom>
            <a:avLst/>
            <a:gdLst/>
            <a:ahLst/>
            <a:cxnLst/>
            <a:rect l="l" t="t" r="r" b="b"/>
            <a:pathLst>
              <a:path w="259330" h="752436">
                <a:moveTo>
                  <a:pt x="0" y="0"/>
                </a:moveTo>
                <a:lnTo>
                  <a:pt x="259331" y="0"/>
                </a:lnTo>
                <a:lnTo>
                  <a:pt x="259331" y="752435"/>
                </a:lnTo>
                <a:lnTo>
                  <a:pt x="0" y="752435"/>
                </a:lnTo>
                <a:lnTo>
                  <a:pt x="0" y="0"/>
                </a:lnTo>
                <a:close/>
              </a:path>
            </a:pathLst>
          </a:custGeom>
          <a:blipFill>
            <a:blip r:embed="rId2"/>
            <a:stretch>
              <a:fillRect t="-204946" r="-2747920"/>
            </a:stretch>
          </a:blipFill>
        </p:spPr>
        <p:txBody>
          <a:bodyPr/>
          <a:lstStyle/>
          <a:p>
            <a:endParaRPr lang="en-US"/>
          </a:p>
        </p:txBody>
      </p:sp>
      <p:sp>
        <p:nvSpPr>
          <p:cNvPr id="6" name="Freeform 6"/>
          <p:cNvSpPr/>
          <p:nvPr/>
        </p:nvSpPr>
        <p:spPr>
          <a:xfrm>
            <a:off x="1572163" y="3907081"/>
            <a:ext cx="3497593" cy="394951"/>
          </a:xfrm>
          <a:custGeom>
            <a:avLst/>
            <a:gdLst/>
            <a:ahLst/>
            <a:cxnLst/>
            <a:rect l="l" t="t" r="r" b="b"/>
            <a:pathLst>
              <a:path w="3497593" h="394951">
                <a:moveTo>
                  <a:pt x="0" y="0"/>
                </a:moveTo>
                <a:lnTo>
                  <a:pt x="3497593" y="0"/>
                </a:lnTo>
                <a:lnTo>
                  <a:pt x="3497593" y="394950"/>
                </a:lnTo>
                <a:lnTo>
                  <a:pt x="0" y="394950"/>
                </a:lnTo>
                <a:lnTo>
                  <a:pt x="0" y="0"/>
                </a:lnTo>
                <a:close/>
              </a:path>
            </a:pathLst>
          </a:custGeom>
          <a:blipFill>
            <a:blip r:embed="rId2"/>
            <a:stretch>
              <a:fillRect l="-62845" t="-467290" r="-89869" b="-128005"/>
            </a:stretch>
          </a:blipFill>
        </p:spPr>
        <p:txBody>
          <a:bodyPr/>
          <a:lstStyle/>
          <a:p>
            <a:endParaRPr lang="en-US"/>
          </a:p>
        </p:txBody>
      </p:sp>
      <p:sp>
        <p:nvSpPr>
          <p:cNvPr id="7" name="Freeform 7"/>
          <p:cNvSpPr/>
          <p:nvPr/>
        </p:nvSpPr>
        <p:spPr>
          <a:xfrm>
            <a:off x="1442498" y="4644931"/>
            <a:ext cx="3497593" cy="394951"/>
          </a:xfrm>
          <a:custGeom>
            <a:avLst/>
            <a:gdLst/>
            <a:ahLst/>
            <a:cxnLst/>
            <a:rect l="l" t="t" r="r" b="b"/>
            <a:pathLst>
              <a:path w="3497593" h="394951">
                <a:moveTo>
                  <a:pt x="0" y="0"/>
                </a:moveTo>
                <a:lnTo>
                  <a:pt x="3497592" y="0"/>
                </a:lnTo>
                <a:lnTo>
                  <a:pt x="3497592" y="394951"/>
                </a:lnTo>
                <a:lnTo>
                  <a:pt x="0" y="394951"/>
                </a:lnTo>
                <a:lnTo>
                  <a:pt x="0" y="0"/>
                </a:lnTo>
                <a:close/>
              </a:path>
            </a:pathLst>
          </a:custGeom>
          <a:blipFill>
            <a:blip r:embed="rId2"/>
            <a:stretch>
              <a:fillRect l="-62845" t="-467290" r="-89869" b="-128005"/>
            </a:stretch>
          </a:blipFill>
        </p:spPr>
        <p:txBody>
          <a:bodyPr/>
          <a:lstStyle/>
          <a:p>
            <a:endParaRPr lang="en-US"/>
          </a:p>
        </p:txBody>
      </p:sp>
      <p:sp>
        <p:nvSpPr>
          <p:cNvPr id="8" name="Freeform 8"/>
          <p:cNvSpPr/>
          <p:nvPr/>
        </p:nvSpPr>
        <p:spPr>
          <a:xfrm>
            <a:off x="1572163" y="5497082"/>
            <a:ext cx="3497593" cy="394951"/>
          </a:xfrm>
          <a:custGeom>
            <a:avLst/>
            <a:gdLst/>
            <a:ahLst/>
            <a:cxnLst/>
            <a:rect l="l" t="t" r="r" b="b"/>
            <a:pathLst>
              <a:path w="3497593" h="394951">
                <a:moveTo>
                  <a:pt x="0" y="0"/>
                </a:moveTo>
                <a:lnTo>
                  <a:pt x="3497593" y="0"/>
                </a:lnTo>
                <a:lnTo>
                  <a:pt x="3497593" y="394951"/>
                </a:lnTo>
                <a:lnTo>
                  <a:pt x="0" y="394951"/>
                </a:lnTo>
                <a:lnTo>
                  <a:pt x="0" y="0"/>
                </a:lnTo>
                <a:close/>
              </a:path>
            </a:pathLst>
          </a:custGeom>
          <a:blipFill>
            <a:blip r:embed="rId2"/>
            <a:stretch>
              <a:fillRect l="-62845" t="-467290" r="-89869" b="-128005"/>
            </a:stretch>
          </a:blipFill>
        </p:spPr>
        <p:txBody>
          <a:bodyPr/>
          <a:lstStyle/>
          <a:p>
            <a:endParaRPr lang="en-US"/>
          </a:p>
        </p:txBody>
      </p:sp>
      <p:sp>
        <p:nvSpPr>
          <p:cNvPr id="9" name="Freeform 9"/>
          <p:cNvSpPr/>
          <p:nvPr/>
        </p:nvSpPr>
        <p:spPr>
          <a:xfrm>
            <a:off x="1312833" y="6234933"/>
            <a:ext cx="3497593" cy="394951"/>
          </a:xfrm>
          <a:custGeom>
            <a:avLst/>
            <a:gdLst/>
            <a:ahLst/>
            <a:cxnLst/>
            <a:rect l="l" t="t" r="r" b="b"/>
            <a:pathLst>
              <a:path w="3497593" h="394951">
                <a:moveTo>
                  <a:pt x="0" y="0"/>
                </a:moveTo>
                <a:lnTo>
                  <a:pt x="3497592" y="0"/>
                </a:lnTo>
                <a:lnTo>
                  <a:pt x="3497592" y="394951"/>
                </a:lnTo>
                <a:lnTo>
                  <a:pt x="0" y="394951"/>
                </a:lnTo>
                <a:lnTo>
                  <a:pt x="0" y="0"/>
                </a:lnTo>
                <a:close/>
              </a:path>
            </a:pathLst>
          </a:custGeom>
          <a:blipFill>
            <a:blip r:embed="rId2"/>
            <a:stretch>
              <a:fillRect l="-62845" t="-467290" r="-89869" b="-128005"/>
            </a:stretch>
          </a:blipFill>
        </p:spPr>
        <p:txBody>
          <a:bodyPr/>
          <a:lstStyle/>
          <a:p>
            <a:endParaRPr lang="en-US"/>
          </a:p>
        </p:txBody>
      </p:sp>
      <p:sp>
        <p:nvSpPr>
          <p:cNvPr id="10" name="Freeform 10"/>
          <p:cNvSpPr/>
          <p:nvPr/>
        </p:nvSpPr>
        <p:spPr>
          <a:xfrm>
            <a:off x="4810425" y="3352120"/>
            <a:ext cx="259330" cy="752436"/>
          </a:xfrm>
          <a:custGeom>
            <a:avLst/>
            <a:gdLst/>
            <a:ahLst/>
            <a:cxnLst/>
            <a:rect l="l" t="t" r="r" b="b"/>
            <a:pathLst>
              <a:path w="259330" h="752436">
                <a:moveTo>
                  <a:pt x="0" y="0"/>
                </a:moveTo>
                <a:lnTo>
                  <a:pt x="259331" y="0"/>
                </a:lnTo>
                <a:lnTo>
                  <a:pt x="259331" y="752436"/>
                </a:lnTo>
                <a:lnTo>
                  <a:pt x="0" y="752436"/>
                </a:lnTo>
                <a:lnTo>
                  <a:pt x="0" y="0"/>
                </a:lnTo>
                <a:close/>
              </a:path>
            </a:pathLst>
          </a:custGeom>
          <a:blipFill>
            <a:blip r:embed="rId2"/>
            <a:stretch>
              <a:fillRect t="-204946" r="-2747920"/>
            </a:stretch>
          </a:blipFill>
        </p:spPr>
        <p:txBody>
          <a:bodyPr/>
          <a:lstStyle/>
          <a:p>
            <a:endParaRPr lang="en-US"/>
          </a:p>
        </p:txBody>
      </p:sp>
      <p:sp>
        <p:nvSpPr>
          <p:cNvPr id="11" name="Freeform 11"/>
          <p:cNvSpPr/>
          <p:nvPr/>
        </p:nvSpPr>
        <p:spPr>
          <a:xfrm>
            <a:off x="4810425" y="4268714"/>
            <a:ext cx="259330" cy="752436"/>
          </a:xfrm>
          <a:custGeom>
            <a:avLst/>
            <a:gdLst/>
            <a:ahLst/>
            <a:cxnLst/>
            <a:rect l="l" t="t" r="r" b="b"/>
            <a:pathLst>
              <a:path w="259330" h="752436">
                <a:moveTo>
                  <a:pt x="0" y="0"/>
                </a:moveTo>
                <a:lnTo>
                  <a:pt x="259331" y="0"/>
                </a:lnTo>
                <a:lnTo>
                  <a:pt x="259331" y="752435"/>
                </a:lnTo>
                <a:lnTo>
                  <a:pt x="0" y="752435"/>
                </a:lnTo>
                <a:lnTo>
                  <a:pt x="0" y="0"/>
                </a:lnTo>
                <a:close/>
              </a:path>
            </a:pathLst>
          </a:custGeom>
          <a:blipFill>
            <a:blip r:embed="rId2"/>
            <a:stretch>
              <a:fillRect t="-204946" r="-2747920"/>
            </a:stretch>
          </a:blipFill>
        </p:spPr>
        <p:txBody>
          <a:bodyPr/>
          <a:lstStyle/>
          <a:p>
            <a:endParaRPr lang="en-US"/>
          </a:p>
        </p:txBody>
      </p:sp>
      <p:sp>
        <p:nvSpPr>
          <p:cNvPr id="12" name="Freeform 12"/>
          <p:cNvSpPr/>
          <p:nvPr/>
        </p:nvSpPr>
        <p:spPr>
          <a:xfrm>
            <a:off x="4105571" y="4842407"/>
            <a:ext cx="964185" cy="752436"/>
          </a:xfrm>
          <a:custGeom>
            <a:avLst/>
            <a:gdLst/>
            <a:ahLst/>
            <a:cxnLst/>
            <a:rect l="l" t="t" r="r" b="b"/>
            <a:pathLst>
              <a:path w="964185" h="752436">
                <a:moveTo>
                  <a:pt x="0" y="0"/>
                </a:moveTo>
                <a:lnTo>
                  <a:pt x="964185" y="0"/>
                </a:lnTo>
                <a:lnTo>
                  <a:pt x="964185" y="752436"/>
                </a:lnTo>
                <a:lnTo>
                  <a:pt x="0" y="752436"/>
                </a:lnTo>
                <a:lnTo>
                  <a:pt x="0" y="0"/>
                </a:lnTo>
                <a:close/>
              </a:path>
            </a:pathLst>
          </a:custGeom>
          <a:blipFill>
            <a:blip r:embed="rId2"/>
            <a:stretch>
              <a:fillRect t="-230528" r="-742844" b="-5016"/>
            </a:stretch>
          </a:blipFill>
        </p:spPr>
        <p:txBody>
          <a:bodyPr/>
          <a:lstStyle/>
          <a:p>
            <a:endParaRPr lang="en-US"/>
          </a:p>
        </p:txBody>
      </p:sp>
      <p:sp>
        <p:nvSpPr>
          <p:cNvPr id="13" name="Freeform 13"/>
          <p:cNvSpPr/>
          <p:nvPr/>
        </p:nvSpPr>
        <p:spPr>
          <a:xfrm>
            <a:off x="3600011" y="5858715"/>
            <a:ext cx="1469745" cy="752436"/>
          </a:xfrm>
          <a:custGeom>
            <a:avLst/>
            <a:gdLst/>
            <a:ahLst/>
            <a:cxnLst/>
            <a:rect l="l" t="t" r="r" b="b"/>
            <a:pathLst>
              <a:path w="1469745" h="752436">
                <a:moveTo>
                  <a:pt x="0" y="0"/>
                </a:moveTo>
                <a:lnTo>
                  <a:pt x="1469745" y="0"/>
                </a:lnTo>
                <a:lnTo>
                  <a:pt x="1469745" y="752436"/>
                </a:lnTo>
                <a:lnTo>
                  <a:pt x="0" y="752436"/>
                </a:lnTo>
                <a:lnTo>
                  <a:pt x="0" y="0"/>
                </a:lnTo>
                <a:close/>
              </a:path>
            </a:pathLst>
          </a:custGeom>
          <a:blipFill>
            <a:blip r:embed="rId2"/>
            <a:stretch>
              <a:fillRect t="-235080" r="-461896" b="-5909"/>
            </a:stretch>
          </a:blipFill>
        </p:spPr>
        <p:txBody>
          <a:bodyPr/>
          <a:lstStyle/>
          <a:p>
            <a:endParaRPr lang="en-US"/>
          </a:p>
        </p:txBody>
      </p:sp>
      <p:grpSp>
        <p:nvGrpSpPr>
          <p:cNvPr id="14" name="Group 14"/>
          <p:cNvGrpSpPr/>
          <p:nvPr/>
        </p:nvGrpSpPr>
        <p:grpSpPr>
          <a:xfrm>
            <a:off x="513911" y="2132525"/>
            <a:ext cx="3086100" cy="3086100"/>
            <a:chOff x="0" y="0"/>
            <a:chExt cx="812800" cy="812800"/>
          </a:xfrm>
        </p:grpSpPr>
        <p:sp>
          <p:nvSpPr>
            <p:cNvPr id="15" name="Freeform 15"/>
            <p:cNvSpPr/>
            <p:nvPr/>
          </p:nvSpPr>
          <p:spPr>
            <a:xfrm>
              <a:off x="0" y="0"/>
              <a:ext cx="812800" cy="812800"/>
            </a:xfrm>
            <a:custGeom>
              <a:avLst/>
              <a:gdLst/>
              <a:ahLst/>
              <a:cxnLst/>
              <a:rect l="l" t="t" r="r" b="b"/>
              <a:pathLst>
                <a:path w="812800" h="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solidFill>
              <a:srgbClr val="6B2A06"/>
            </a:solidFill>
            <a:ln cap="rnd">
              <a:noFill/>
              <a:prstDash val="solid"/>
              <a:round/>
            </a:ln>
          </p:spPr>
          <p:txBody>
            <a:bodyPr/>
            <a:lstStyle/>
            <a:p>
              <a:endParaRPr lang="en-US"/>
            </a:p>
          </p:txBody>
        </p:sp>
        <p:sp>
          <p:nvSpPr>
            <p:cNvPr id="16" name="TextBox 16"/>
            <p:cNvSpPr txBox="1"/>
            <p:nvPr/>
          </p:nvSpPr>
          <p:spPr>
            <a:xfrm>
              <a:off x="0" y="-47625"/>
              <a:ext cx="812800" cy="860425"/>
            </a:xfrm>
            <a:prstGeom prst="rect">
              <a:avLst/>
            </a:prstGeom>
          </p:spPr>
          <p:txBody>
            <a:bodyPr lIns="50800" tIns="50800" rIns="50800" bIns="50800" rtlCol="0" anchor="ctr"/>
            <a:lstStyle/>
            <a:p>
              <a:pPr algn="ctr">
                <a:lnSpc>
                  <a:spcPts val="2659"/>
                </a:lnSpc>
              </a:pPr>
              <a:endParaRPr/>
            </a:p>
          </p:txBody>
        </p:sp>
      </p:grpSp>
      <p:sp>
        <p:nvSpPr>
          <p:cNvPr id="17" name="TextBox 17"/>
          <p:cNvSpPr txBox="1"/>
          <p:nvPr/>
        </p:nvSpPr>
        <p:spPr>
          <a:xfrm>
            <a:off x="4587663" y="399909"/>
            <a:ext cx="10121521" cy="1232324"/>
          </a:xfrm>
          <a:prstGeom prst="rect">
            <a:avLst/>
          </a:prstGeom>
        </p:spPr>
        <p:txBody>
          <a:bodyPr lIns="0" tIns="0" rIns="0" bIns="0" rtlCol="0" anchor="t">
            <a:spAutoFit/>
          </a:bodyPr>
          <a:lstStyle/>
          <a:p>
            <a:pPr algn="l">
              <a:lnSpc>
                <a:spcPts val="9386"/>
              </a:lnSpc>
            </a:pPr>
            <a:r>
              <a:rPr lang="en-US" sz="8533">
                <a:solidFill>
                  <a:srgbClr val="1B1B1B"/>
                </a:solidFill>
                <a:latin typeface="Vollkorn"/>
                <a:ea typeface="Vollkorn"/>
                <a:cs typeface="Vollkorn"/>
                <a:sym typeface="Vollkorn"/>
              </a:rPr>
              <a:t>Research Timeline</a:t>
            </a:r>
          </a:p>
        </p:txBody>
      </p:sp>
      <p:grpSp>
        <p:nvGrpSpPr>
          <p:cNvPr id="18" name="Group 18"/>
          <p:cNvGrpSpPr/>
          <p:nvPr/>
        </p:nvGrpSpPr>
        <p:grpSpPr>
          <a:xfrm>
            <a:off x="3993539" y="6053958"/>
            <a:ext cx="3086100" cy="3086100"/>
            <a:chOff x="0" y="0"/>
            <a:chExt cx="812800" cy="812800"/>
          </a:xfrm>
        </p:grpSpPr>
        <p:sp>
          <p:nvSpPr>
            <p:cNvPr id="19" name="Freeform 19"/>
            <p:cNvSpPr/>
            <p:nvPr/>
          </p:nvSpPr>
          <p:spPr>
            <a:xfrm>
              <a:off x="0" y="0"/>
              <a:ext cx="812800" cy="812800"/>
            </a:xfrm>
            <a:custGeom>
              <a:avLst/>
              <a:gdLst/>
              <a:ahLst/>
              <a:cxnLst/>
              <a:rect l="l" t="t" r="r" b="b"/>
              <a:pathLst>
                <a:path w="812800" h="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solidFill>
              <a:srgbClr val="6B2A06"/>
            </a:solidFill>
            <a:ln cap="rnd">
              <a:noFill/>
              <a:prstDash val="solid"/>
              <a:round/>
            </a:ln>
          </p:spPr>
          <p:txBody>
            <a:bodyPr/>
            <a:lstStyle/>
            <a:p>
              <a:endParaRPr lang="en-US"/>
            </a:p>
          </p:txBody>
        </p:sp>
        <p:sp>
          <p:nvSpPr>
            <p:cNvPr id="20" name="TextBox 20"/>
            <p:cNvSpPr txBox="1"/>
            <p:nvPr/>
          </p:nvSpPr>
          <p:spPr>
            <a:xfrm>
              <a:off x="0" y="-47625"/>
              <a:ext cx="812800" cy="860425"/>
            </a:xfrm>
            <a:prstGeom prst="rect">
              <a:avLst/>
            </a:prstGeom>
          </p:spPr>
          <p:txBody>
            <a:bodyPr lIns="50800" tIns="50800" rIns="50800" bIns="50800" rtlCol="0" anchor="ctr"/>
            <a:lstStyle/>
            <a:p>
              <a:pPr algn="ctr">
                <a:lnSpc>
                  <a:spcPts val="2659"/>
                </a:lnSpc>
              </a:pPr>
              <a:endParaRPr/>
            </a:p>
          </p:txBody>
        </p:sp>
      </p:grpSp>
      <p:grpSp>
        <p:nvGrpSpPr>
          <p:cNvPr id="21" name="Group 21"/>
          <p:cNvGrpSpPr/>
          <p:nvPr/>
        </p:nvGrpSpPr>
        <p:grpSpPr>
          <a:xfrm>
            <a:off x="7600950" y="2132525"/>
            <a:ext cx="3086100" cy="3086100"/>
            <a:chOff x="0" y="0"/>
            <a:chExt cx="812800" cy="812800"/>
          </a:xfrm>
        </p:grpSpPr>
        <p:sp>
          <p:nvSpPr>
            <p:cNvPr id="22" name="Freeform 22"/>
            <p:cNvSpPr/>
            <p:nvPr/>
          </p:nvSpPr>
          <p:spPr>
            <a:xfrm>
              <a:off x="0" y="0"/>
              <a:ext cx="812800" cy="812800"/>
            </a:xfrm>
            <a:custGeom>
              <a:avLst/>
              <a:gdLst/>
              <a:ahLst/>
              <a:cxnLst/>
              <a:rect l="l" t="t" r="r" b="b"/>
              <a:pathLst>
                <a:path w="812800" h="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solidFill>
              <a:srgbClr val="6B2A06"/>
            </a:solidFill>
            <a:ln cap="rnd">
              <a:noFill/>
              <a:prstDash val="solid"/>
              <a:round/>
            </a:ln>
          </p:spPr>
          <p:txBody>
            <a:bodyPr/>
            <a:lstStyle/>
            <a:p>
              <a:endParaRPr lang="en-US"/>
            </a:p>
          </p:txBody>
        </p:sp>
        <p:sp>
          <p:nvSpPr>
            <p:cNvPr id="23" name="TextBox 23"/>
            <p:cNvSpPr txBox="1"/>
            <p:nvPr/>
          </p:nvSpPr>
          <p:spPr>
            <a:xfrm>
              <a:off x="0" y="-47625"/>
              <a:ext cx="812800" cy="860425"/>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1346837" y="6053958"/>
            <a:ext cx="3086100" cy="3086100"/>
            <a:chOff x="0" y="0"/>
            <a:chExt cx="812800" cy="812800"/>
          </a:xfrm>
        </p:grpSpPr>
        <p:sp>
          <p:nvSpPr>
            <p:cNvPr id="25" name="Freeform 25"/>
            <p:cNvSpPr/>
            <p:nvPr/>
          </p:nvSpPr>
          <p:spPr>
            <a:xfrm>
              <a:off x="0" y="0"/>
              <a:ext cx="812800" cy="812800"/>
            </a:xfrm>
            <a:custGeom>
              <a:avLst/>
              <a:gdLst/>
              <a:ahLst/>
              <a:cxnLst/>
              <a:rect l="l" t="t" r="r" b="b"/>
              <a:pathLst>
                <a:path w="812800" h="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solidFill>
              <a:srgbClr val="6B2A06"/>
            </a:solidFill>
            <a:ln cap="rnd">
              <a:noFill/>
              <a:prstDash val="solid"/>
              <a:round/>
            </a:ln>
          </p:spPr>
          <p:txBody>
            <a:bodyPr/>
            <a:lstStyle/>
            <a:p>
              <a:endParaRPr lang="en-US"/>
            </a:p>
          </p:txBody>
        </p:sp>
        <p:sp>
          <p:nvSpPr>
            <p:cNvPr id="26" name="TextBox 26"/>
            <p:cNvSpPr txBox="1"/>
            <p:nvPr/>
          </p:nvSpPr>
          <p:spPr>
            <a:xfrm>
              <a:off x="0" y="-47625"/>
              <a:ext cx="812800" cy="860425"/>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4385073" y="2132525"/>
            <a:ext cx="3086100" cy="3086100"/>
            <a:chOff x="0" y="0"/>
            <a:chExt cx="812800" cy="812800"/>
          </a:xfrm>
        </p:grpSpPr>
        <p:sp>
          <p:nvSpPr>
            <p:cNvPr id="28" name="Freeform 28"/>
            <p:cNvSpPr/>
            <p:nvPr/>
          </p:nvSpPr>
          <p:spPr>
            <a:xfrm>
              <a:off x="0" y="0"/>
              <a:ext cx="812800" cy="812800"/>
            </a:xfrm>
            <a:custGeom>
              <a:avLst/>
              <a:gdLst/>
              <a:ahLst/>
              <a:cxnLst/>
              <a:rect l="l" t="t" r="r" b="b"/>
              <a:pathLst>
                <a:path w="812800" h="812800">
                  <a:moveTo>
                    <a:pt x="62716" y="0"/>
                  </a:moveTo>
                  <a:lnTo>
                    <a:pt x="750084" y="0"/>
                  </a:lnTo>
                  <a:cubicBezTo>
                    <a:pt x="766717" y="0"/>
                    <a:pt x="782669" y="6608"/>
                    <a:pt x="794431" y="18369"/>
                  </a:cubicBezTo>
                  <a:cubicBezTo>
                    <a:pt x="806192" y="30131"/>
                    <a:pt x="812800" y="46083"/>
                    <a:pt x="812800" y="62716"/>
                  </a:cubicBezTo>
                  <a:lnTo>
                    <a:pt x="812800" y="750084"/>
                  </a:lnTo>
                  <a:cubicBezTo>
                    <a:pt x="812800" y="766717"/>
                    <a:pt x="806192" y="782669"/>
                    <a:pt x="794431" y="794431"/>
                  </a:cubicBezTo>
                  <a:cubicBezTo>
                    <a:pt x="782669" y="806192"/>
                    <a:pt x="766717" y="812800"/>
                    <a:pt x="750084" y="812800"/>
                  </a:cubicBezTo>
                  <a:lnTo>
                    <a:pt x="62716" y="812800"/>
                  </a:lnTo>
                  <a:cubicBezTo>
                    <a:pt x="46083" y="812800"/>
                    <a:pt x="30131" y="806192"/>
                    <a:pt x="18369" y="794431"/>
                  </a:cubicBezTo>
                  <a:cubicBezTo>
                    <a:pt x="6608" y="782669"/>
                    <a:pt x="0" y="766717"/>
                    <a:pt x="0" y="750084"/>
                  </a:cubicBezTo>
                  <a:lnTo>
                    <a:pt x="0" y="62716"/>
                  </a:lnTo>
                  <a:cubicBezTo>
                    <a:pt x="0" y="46083"/>
                    <a:pt x="6608" y="30131"/>
                    <a:pt x="18369" y="18369"/>
                  </a:cubicBezTo>
                  <a:cubicBezTo>
                    <a:pt x="30131" y="6608"/>
                    <a:pt x="46083" y="0"/>
                    <a:pt x="62716" y="0"/>
                  </a:cubicBezTo>
                  <a:close/>
                </a:path>
              </a:pathLst>
            </a:custGeom>
            <a:solidFill>
              <a:srgbClr val="6B2A06"/>
            </a:solidFill>
            <a:ln cap="rnd">
              <a:noFill/>
              <a:prstDash val="solid"/>
              <a:round/>
            </a:ln>
          </p:spPr>
          <p:txBody>
            <a:bodyPr/>
            <a:lstStyle/>
            <a:p>
              <a:endParaRPr lang="en-US"/>
            </a:p>
          </p:txBody>
        </p:sp>
        <p:sp>
          <p:nvSpPr>
            <p:cNvPr id="29" name="TextBox 29"/>
            <p:cNvSpPr txBox="1"/>
            <p:nvPr/>
          </p:nvSpPr>
          <p:spPr>
            <a:xfrm>
              <a:off x="0" y="-47625"/>
              <a:ext cx="812800" cy="860425"/>
            </a:xfrm>
            <a:prstGeom prst="rect">
              <a:avLst/>
            </a:prstGeom>
          </p:spPr>
          <p:txBody>
            <a:bodyPr lIns="50800" tIns="50800" rIns="50800" bIns="50800" rtlCol="0" anchor="ctr"/>
            <a:lstStyle/>
            <a:p>
              <a:pPr algn="ctr">
                <a:lnSpc>
                  <a:spcPts val="2659"/>
                </a:lnSpc>
              </a:pPr>
              <a:endParaRPr/>
            </a:p>
          </p:txBody>
        </p:sp>
      </p:grpSp>
      <p:sp>
        <p:nvSpPr>
          <p:cNvPr id="30" name="AutoShape 30"/>
          <p:cNvSpPr/>
          <p:nvPr/>
        </p:nvSpPr>
        <p:spPr>
          <a:xfrm flipV="1">
            <a:off x="656060" y="5674146"/>
            <a:ext cx="16975881" cy="0"/>
          </a:xfrm>
          <a:prstGeom prst="line">
            <a:avLst/>
          </a:prstGeom>
          <a:ln w="38100" cap="flat">
            <a:solidFill>
              <a:srgbClr val="000000"/>
            </a:solidFill>
            <a:prstDash val="sysDot"/>
            <a:headEnd type="none" w="sm" len="sm"/>
            <a:tailEnd type="none" w="sm" len="sm"/>
          </a:ln>
        </p:spPr>
        <p:txBody>
          <a:bodyPr/>
          <a:lstStyle/>
          <a:p>
            <a:endParaRPr lang="en-US"/>
          </a:p>
        </p:txBody>
      </p:sp>
      <p:sp>
        <p:nvSpPr>
          <p:cNvPr id="31" name="AutoShape 31"/>
          <p:cNvSpPr/>
          <p:nvPr/>
        </p:nvSpPr>
        <p:spPr>
          <a:xfrm flipH="1" flipV="1">
            <a:off x="2056961" y="5218625"/>
            <a:ext cx="0" cy="475933"/>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2" name="AutoShape 32"/>
          <p:cNvSpPr/>
          <p:nvPr/>
        </p:nvSpPr>
        <p:spPr>
          <a:xfrm flipV="1">
            <a:off x="9144000" y="5218625"/>
            <a:ext cx="0" cy="455521"/>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3" name="AutoShape 33"/>
          <p:cNvSpPr/>
          <p:nvPr/>
        </p:nvSpPr>
        <p:spPr>
          <a:xfrm flipV="1">
            <a:off x="15928123" y="5218625"/>
            <a:ext cx="0" cy="475933"/>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4" name="AutoShape 34"/>
          <p:cNvSpPr/>
          <p:nvPr/>
        </p:nvSpPr>
        <p:spPr>
          <a:xfrm>
            <a:off x="5536589" y="5674146"/>
            <a:ext cx="0" cy="379812"/>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5" name="AutoShape 35"/>
          <p:cNvSpPr/>
          <p:nvPr/>
        </p:nvSpPr>
        <p:spPr>
          <a:xfrm flipH="1">
            <a:off x="12889887" y="5674146"/>
            <a:ext cx="0" cy="379812"/>
          </a:xfrm>
          <a:prstGeom prst="line">
            <a:avLst/>
          </a:prstGeom>
          <a:ln w="38100" cap="flat">
            <a:solidFill>
              <a:srgbClr val="000000"/>
            </a:solidFill>
            <a:prstDash val="solid"/>
            <a:headEnd type="none" w="sm" len="sm"/>
            <a:tailEnd type="triangle" w="lg" len="med"/>
          </a:ln>
        </p:spPr>
        <p:txBody>
          <a:bodyPr/>
          <a:lstStyle/>
          <a:p>
            <a:endParaRPr lang="en-US"/>
          </a:p>
        </p:txBody>
      </p:sp>
      <p:sp>
        <p:nvSpPr>
          <p:cNvPr id="36" name="TextBox 36"/>
          <p:cNvSpPr txBox="1"/>
          <p:nvPr/>
        </p:nvSpPr>
        <p:spPr>
          <a:xfrm>
            <a:off x="976414" y="2229153"/>
            <a:ext cx="2161094" cy="406778"/>
          </a:xfrm>
          <a:prstGeom prst="rect">
            <a:avLst/>
          </a:prstGeom>
        </p:spPr>
        <p:txBody>
          <a:bodyPr wrap="square" lIns="0" tIns="0" rIns="0" bIns="0" rtlCol="0" anchor="t">
            <a:spAutoFit/>
          </a:bodyPr>
          <a:lstStyle/>
          <a:p>
            <a:pPr algn="ctr">
              <a:lnSpc>
                <a:spcPts val="3374"/>
              </a:lnSpc>
            </a:pPr>
            <a:r>
              <a:rPr lang="en-US" sz="2410" b="1" dirty="0">
                <a:solidFill>
                  <a:srgbClr val="FFDE59"/>
                </a:solidFill>
                <a:latin typeface="Canva Sans Bold"/>
                <a:ea typeface="Canva Sans Bold"/>
                <a:cs typeface="Canva Sans Bold"/>
                <a:sym typeface="Canva Sans Bold"/>
              </a:rPr>
              <a:t>1982-1983</a:t>
            </a:r>
          </a:p>
        </p:txBody>
      </p:sp>
      <p:sp>
        <p:nvSpPr>
          <p:cNvPr id="37" name="TextBox 37"/>
          <p:cNvSpPr txBox="1"/>
          <p:nvPr/>
        </p:nvSpPr>
        <p:spPr>
          <a:xfrm>
            <a:off x="4780642" y="6165571"/>
            <a:ext cx="1263172" cy="405472"/>
          </a:xfrm>
          <a:prstGeom prst="rect">
            <a:avLst/>
          </a:prstGeom>
        </p:spPr>
        <p:txBody>
          <a:bodyPr wrap="square" lIns="0" tIns="0" rIns="0" bIns="0" rtlCol="0" anchor="t">
            <a:spAutoFit/>
          </a:bodyPr>
          <a:lstStyle/>
          <a:p>
            <a:pPr algn="ctr">
              <a:lnSpc>
                <a:spcPts val="3374"/>
              </a:lnSpc>
            </a:pPr>
            <a:r>
              <a:rPr lang="en-US" sz="2410" b="1" dirty="0">
                <a:solidFill>
                  <a:srgbClr val="FFDE59"/>
                </a:solidFill>
                <a:latin typeface="Canva Sans Bold"/>
                <a:ea typeface="Canva Sans Bold"/>
                <a:cs typeface="Canva Sans Bold"/>
                <a:sym typeface="Canva Sans Bold"/>
              </a:rPr>
              <a:t>1997</a:t>
            </a:r>
          </a:p>
        </p:txBody>
      </p:sp>
      <p:sp>
        <p:nvSpPr>
          <p:cNvPr id="38" name="TextBox 38"/>
          <p:cNvSpPr txBox="1"/>
          <p:nvPr/>
        </p:nvSpPr>
        <p:spPr>
          <a:xfrm>
            <a:off x="7943801" y="2282272"/>
            <a:ext cx="2272308" cy="405472"/>
          </a:xfrm>
          <a:prstGeom prst="rect">
            <a:avLst/>
          </a:prstGeom>
        </p:spPr>
        <p:txBody>
          <a:bodyPr wrap="square" lIns="0" tIns="0" rIns="0" bIns="0" rtlCol="0" anchor="t">
            <a:spAutoFit/>
          </a:bodyPr>
          <a:lstStyle/>
          <a:p>
            <a:pPr algn="ctr">
              <a:lnSpc>
                <a:spcPts val="3374"/>
              </a:lnSpc>
            </a:pPr>
            <a:r>
              <a:rPr lang="en-US" sz="2410" b="1" dirty="0">
                <a:solidFill>
                  <a:srgbClr val="FFDE59"/>
                </a:solidFill>
                <a:latin typeface="Canva Sans Bold"/>
                <a:ea typeface="Canva Sans Bold"/>
                <a:cs typeface="Canva Sans Bold"/>
                <a:sym typeface="Canva Sans Bold"/>
              </a:rPr>
              <a:t>1999-2001</a:t>
            </a:r>
          </a:p>
        </p:txBody>
      </p:sp>
      <p:sp>
        <p:nvSpPr>
          <p:cNvPr id="39" name="TextBox 39"/>
          <p:cNvSpPr txBox="1"/>
          <p:nvPr/>
        </p:nvSpPr>
        <p:spPr>
          <a:xfrm>
            <a:off x="12144591" y="6224412"/>
            <a:ext cx="1495209" cy="405472"/>
          </a:xfrm>
          <a:prstGeom prst="rect">
            <a:avLst/>
          </a:prstGeom>
        </p:spPr>
        <p:txBody>
          <a:bodyPr wrap="square" lIns="0" tIns="0" rIns="0" bIns="0" rtlCol="0" anchor="t">
            <a:spAutoFit/>
          </a:bodyPr>
          <a:lstStyle/>
          <a:p>
            <a:pPr algn="ctr">
              <a:lnSpc>
                <a:spcPts val="3374"/>
              </a:lnSpc>
            </a:pPr>
            <a:r>
              <a:rPr lang="en-US" sz="2410" b="1" dirty="0">
                <a:solidFill>
                  <a:srgbClr val="FFDE59"/>
                </a:solidFill>
                <a:latin typeface="Canva Sans Bold"/>
                <a:ea typeface="Canva Sans Bold"/>
                <a:cs typeface="Canva Sans Bold"/>
                <a:sym typeface="Canva Sans Bold"/>
              </a:rPr>
              <a:t>2012</a:t>
            </a:r>
          </a:p>
        </p:txBody>
      </p:sp>
      <p:sp>
        <p:nvSpPr>
          <p:cNvPr id="40" name="TextBox 40"/>
          <p:cNvSpPr txBox="1"/>
          <p:nvPr/>
        </p:nvSpPr>
        <p:spPr>
          <a:xfrm>
            <a:off x="14831695" y="2286516"/>
            <a:ext cx="2192854" cy="405472"/>
          </a:xfrm>
          <a:prstGeom prst="rect">
            <a:avLst/>
          </a:prstGeom>
        </p:spPr>
        <p:txBody>
          <a:bodyPr wrap="square" lIns="0" tIns="0" rIns="0" bIns="0" rtlCol="0" anchor="t">
            <a:spAutoFit/>
          </a:bodyPr>
          <a:lstStyle/>
          <a:p>
            <a:pPr algn="ctr">
              <a:lnSpc>
                <a:spcPts val="3374"/>
              </a:lnSpc>
            </a:pPr>
            <a:r>
              <a:rPr lang="en-US" sz="2410" b="1" dirty="0">
                <a:solidFill>
                  <a:srgbClr val="FFDE59"/>
                </a:solidFill>
                <a:latin typeface="Canva Sans Bold"/>
                <a:ea typeface="Canva Sans Bold"/>
                <a:cs typeface="Canva Sans Bold"/>
                <a:sym typeface="Canva Sans Bold"/>
              </a:rPr>
              <a:t>2021-2025</a:t>
            </a:r>
          </a:p>
        </p:txBody>
      </p:sp>
      <p:sp>
        <p:nvSpPr>
          <p:cNvPr id="41" name="TextBox 41"/>
          <p:cNvSpPr txBox="1"/>
          <p:nvPr/>
        </p:nvSpPr>
        <p:spPr>
          <a:xfrm>
            <a:off x="752750" y="2683993"/>
            <a:ext cx="2032929" cy="304141"/>
          </a:xfrm>
          <a:prstGeom prst="rect">
            <a:avLst/>
          </a:prstGeom>
        </p:spPr>
        <p:txBody>
          <a:bodyPr lIns="0" tIns="0" rIns="0" bIns="0" rtlCol="0" anchor="t">
            <a:spAutoFit/>
          </a:bodyPr>
          <a:lstStyle/>
          <a:p>
            <a:pPr algn="ctr">
              <a:lnSpc>
                <a:spcPts val="2304"/>
              </a:lnSpc>
              <a:spcBef>
                <a:spcPct val="0"/>
              </a:spcBef>
            </a:pPr>
            <a:r>
              <a:rPr lang="en-US" sz="1645" b="1" dirty="0">
                <a:solidFill>
                  <a:srgbClr val="FFFFFF"/>
                </a:solidFill>
                <a:latin typeface="Arimo Bold"/>
                <a:ea typeface="Arimo Bold"/>
                <a:cs typeface="Arimo Bold"/>
                <a:sym typeface="Arimo Bold"/>
              </a:rPr>
              <a:t>Mechanics of cells</a:t>
            </a:r>
          </a:p>
        </p:txBody>
      </p:sp>
      <p:sp>
        <p:nvSpPr>
          <p:cNvPr id="42" name="TextBox 42"/>
          <p:cNvSpPr txBox="1"/>
          <p:nvPr/>
        </p:nvSpPr>
        <p:spPr>
          <a:xfrm>
            <a:off x="658629" y="3216836"/>
            <a:ext cx="2796664" cy="1332865"/>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Arimo"/>
                <a:ea typeface="Arimo"/>
                <a:cs typeface="Arimo"/>
                <a:sym typeface="Arimo"/>
              </a:rPr>
              <a:t>Gibson &amp; Ashby model 2D honeycombs: properties follow cell-wall material &amp; cell geometry</a:t>
            </a:r>
          </a:p>
        </p:txBody>
      </p:sp>
      <p:sp>
        <p:nvSpPr>
          <p:cNvPr id="43" name="TextBox 43"/>
          <p:cNvSpPr txBox="1"/>
          <p:nvPr/>
        </p:nvSpPr>
        <p:spPr>
          <a:xfrm>
            <a:off x="4334883" y="6572734"/>
            <a:ext cx="2511395" cy="304141"/>
          </a:xfrm>
          <a:prstGeom prst="rect">
            <a:avLst/>
          </a:prstGeom>
        </p:spPr>
        <p:txBody>
          <a:bodyPr lIns="0" tIns="0" rIns="0" bIns="0" rtlCol="0" anchor="t">
            <a:spAutoFit/>
          </a:bodyPr>
          <a:lstStyle/>
          <a:p>
            <a:pPr algn="ctr">
              <a:lnSpc>
                <a:spcPts val="2304"/>
              </a:lnSpc>
              <a:spcBef>
                <a:spcPct val="0"/>
              </a:spcBef>
            </a:pPr>
            <a:r>
              <a:rPr lang="en-US" sz="1645" b="1">
                <a:solidFill>
                  <a:srgbClr val="FFFFFF"/>
                </a:solidFill>
                <a:latin typeface="Arimo Bold"/>
                <a:ea typeface="Arimo Bold"/>
                <a:cs typeface="Arimo Bold"/>
                <a:sym typeface="Arimo Bold"/>
              </a:rPr>
              <a:t>Energy absorption data</a:t>
            </a:r>
          </a:p>
        </p:txBody>
      </p:sp>
      <p:sp>
        <p:nvSpPr>
          <p:cNvPr id="44" name="TextBox 44"/>
          <p:cNvSpPr txBox="1"/>
          <p:nvPr/>
        </p:nvSpPr>
        <p:spPr>
          <a:xfrm>
            <a:off x="4138258" y="6925159"/>
            <a:ext cx="2796664" cy="16662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Arimo"/>
                <a:ea typeface="Arimo"/>
                <a:cs typeface="Arimo"/>
                <a:sym typeface="Arimo"/>
              </a:rPr>
              <a:t>Axial crush tests on 6 honeycomb types: dynamic crush strength up ton 74% highe than quasi static</a:t>
            </a:r>
          </a:p>
        </p:txBody>
      </p:sp>
      <p:sp>
        <p:nvSpPr>
          <p:cNvPr id="45" name="TextBox 45"/>
          <p:cNvSpPr txBox="1"/>
          <p:nvPr/>
        </p:nvSpPr>
        <p:spPr>
          <a:xfrm>
            <a:off x="7862292" y="2683993"/>
            <a:ext cx="2032929" cy="304141"/>
          </a:xfrm>
          <a:prstGeom prst="rect">
            <a:avLst/>
          </a:prstGeom>
        </p:spPr>
        <p:txBody>
          <a:bodyPr lIns="0" tIns="0" rIns="0" bIns="0" rtlCol="0" anchor="t">
            <a:spAutoFit/>
          </a:bodyPr>
          <a:lstStyle/>
          <a:p>
            <a:pPr algn="ctr">
              <a:lnSpc>
                <a:spcPts val="2304"/>
              </a:lnSpc>
              <a:spcBef>
                <a:spcPct val="0"/>
              </a:spcBef>
            </a:pPr>
            <a:r>
              <a:rPr lang="en-US" sz="1645" b="1">
                <a:solidFill>
                  <a:srgbClr val="FFFFFF"/>
                </a:solidFill>
                <a:latin typeface="Arimo Bold"/>
                <a:ea typeface="Arimo Bold"/>
                <a:cs typeface="Arimo Bold"/>
                <a:sym typeface="Arimo Bold"/>
              </a:rPr>
              <a:t>Conjecture proved</a:t>
            </a:r>
          </a:p>
        </p:txBody>
      </p:sp>
      <p:sp>
        <p:nvSpPr>
          <p:cNvPr id="46" name="TextBox 46"/>
          <p:cNvSpPr txBox="1"/>
          <p:nvPr/>
        </p:nvSpPr>
        <p:spPr>
          <a:xfrm>
            <a:off x="7745668" y="3216836"/>
            <a:ext cx="2796664" cy="99949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Arimo"/>
                <a:ea typeface="Arimo"/>
                <a:cs typeface="Arimo"/>
                <a:sym typeface="Arimo"/>
              </a:rPr>
              <a:t>Hales proves hexagons give the least perimeter for equal areas</a:t>
            </a:r>
          </a:p>
        </p:txBody>
      </p:sp>
      <p:sp>
        <p:nvSpPr>
          <p:cNvPr id="47" name="TextBox 47"/>
          <p:cNvSpPr txBox="1"/>
          <p:nvPr/>
        </p:nvSpPr>
        <p:spPr>
          <a:xfrm>
            <a:off x="11569340" y="6572734"/>
            <a:ext cx="2571203" cy="304141"/>
          </a:xfrm>
          <a:prstGeom prst="rect">
            <a:avLst/>
          </a:prstGeom>
        </p:spPr>
        <p:txBody>
          <a:bodyPr lIns="0" tIns="0" rIns="0" bIns="0" rtlCol="0" anchor="t">
            <a:spAutoFit/>
          </a:bodyPr>
          <a:lstStyle/>
          <a:p>
            <a:pPr algn="ctr">
              <a:lnSpc>
                <a:spcPts val="2304"/>
              </a:lnSpc>
              <a:spcBef>
                <a:spcPct val="0"/>
              </a:spcBef>
            </a:pPr>
            <a:r>
              <a:rPr lang="en-US" sz="1645" b="1">
                <a:solidFill>
                  <a:srgbClr val="FFFFFF"/>
                </a:solidFill>
                <a:latin typeface="Arimo Bold"/>
                <a:ea typeface="Arimo Bold"/>
                <a:cs typeface="Arimo Bold"/>
                <a:sym typeface="Arimo Bold"/>
              </a:rPr>
              <a:t>Hierarchical honyecombs</a:t>
            </a:r>
          </a:p>
        </p:txBody>
      </p:sp>
      <p:sp>
        <p:nvSpPr>
          <p:cNvPr id="48" name="TextBox 48"/>
          <p:cNvSpPr txBox="1"/>
          <p:nvPr/>
        </p:nvSpPr>
        <p:spPr>
          <a:xfrm>
            <a:off x="11491555" y="6925159"/>
            <a:ext cx="2796664" cy="1666240"/>
          </a:xfrm>
          <a:prstGeom prst="rect">
            <a:avLst/>
          </a:prstGeom>
        </p:spPr>
        <p:txBody>
          <a:bodyPr lIns="0" tIns="0" rIns="0" bIns="0" rtlCol="0" anchor="t">
            <a:spAutoFit/>
          </a:bodyPr>
          <a:lstStyle/>
          <a:p>
            <a:pPr algn="ctr">
              <a:lnSpc>
                <a:spcPts val="2659"/>
              </a:lnSpc>
              <a:spcBef>
                <a:spcPct val="0"/>
              </a:spcBef>
            </a:pPr>
            <a:r>
              <a:rPr lang="en-US" sz="1899">
                <a:solidFill>
                  <a:srgbClr val="FFFFFF"/>
                </a:solidFill>
                <a:latin typeface="Arimo"/>
                <a:ea typeface="Arimo"/>
                <a:cs typeface="Arimo"/>
                <a:sym typeface="Arimo"/>
              </a:rPr>
              <a:t>Replacing each vertex with a smaller hexagon gives up to 2x and 3.5x the stiffness at the same mass</a:t>
            </a:r>
          </a:p>
        </p:txBody>
      </p:sp>
      <p:sp>
        <p:nvSpPr>
          <p:cNvPr id="49" name="TextBox 49"/>
          <p:cNvSpPr txBox="1"/>
          <p:nvPr/>
        </p:nvSpPr>
        <p:spPr>
          <a:xfrm>
            <a:off x="14513797" y="2683993"/>
            <a:ext cx="2828651" cy="304141"/>
          </a:xfrm>
          <a:prstGeom prst="rect">
            <a:avLst/>
          </a:prstGeom>
        </p:spPr>
        <p:txBody>
          <a:bodyPr lIns="0" tIns="0" rIns="0" bIns="0" rtlCol="0" anchor="t">
            <a:spAutoFit/>
          </a:bodyPr>
          <a:lstStyle/>
          <a:p>
            <a:pPr algn="ctr">
              <a:lnSpc>
                <a:spcPts val="2304"/>
              </a:lnSpc>
              <a:spcBef>
                <a:spcPct val="0"/>
              </a:spcBef>
            </a:pPr>
            <a:r>
              <a:rPr lang="en-US" sz="1645" b="1">
                <a:solidFill>
                  <a:srgbClr val="FFFFFF"/>
                </a:solidFill>
                <a:latin typeface="Arimo Bold"/>
                <a:ea typeface="Arimo Bold"/>
                <a:cs typeface="Arimo Bold"/>
                <a:sym typeface="Arimo Bold"/>
              </a:rPr>
              <a:t>Advanced &amp; printed designs</a:t>
            </a:r>
          </a:p>
        </p:txBody>
      </p:sp>
      <p:sp>
        <p:nvSpPr>
          <p:cNvPr id="50" name="TextBox 50"/>
          <p:cNvSpPr txBox="1"/>
          <p:nvPr/>
        </p:nvSpPr>
        <p:spPr>
          <a:xfrm>
            <a:off x="14771031" y="3082430"/>
            <a:ext cx="2314184" cy="2072076"/>
          </a:xfrm>
          <a:prstGeom prst="rect">
            <a:avLst/>
          </a:prstGeom>
        </p:spPr>
        <p:txBody>
          <a:bodyPr lIns="0" tIns="0" rIns="0" bIns="0" rtlCol="0" anchor="t">
            <a:spAutoFit/>
          </a:bodyPr>
          <a:lstStyle/>
          <a:p>
            <a:pPr algn="ctr">
              <a:lnSpc>
                <a:spcPts val="2341"/>
              </a:lnSpc>
              <a:spcBef>
                <a:spcPct val="0"/>
              </a:spcBef>
            </a:pPr>
            <a:r>
              <a:rPr lang="en-US" sz="1672">
                <a:solidFill>
                  <a:srgbClr val="FFFFFF"/>
                </a:solidFill>
                <a:latin typeface="Arimo"/>
                <a:ea typeface="Arimo"/>
                <a:cs typeface="Arimo"/>
                <a:sym typeface="Arimo"/>
              </a:rPr>
              <a:t>Reviews map hierarchical, graded and hybrid cells; 3D printing tests hexagon, triangle, square, rectangle and double-V cells under identical conditions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3971372" y="2861348"/>
            <a:ext cx="10345255" cy="558800"/>
          </a:xfrm>
          <a:prstGeom prst="rect">
            <a:avLst/>
          </a:prstGeom>
        </p:spPr>
        <p:txBody>
          <a:bodyPr lIns="0" tIns="0" rIns="0" bIns="0" rtlCol="0" anchor="t">
            <a:spAutoFit/>
          </a:bodyPr>
          <a:lstStyle/>
          <a:p>
            <a:pPr algn="ctr">
              <a:lnSpc>
                <a:spcPts val="4374"/>
              </a:lnSpc>
            </a:pPr>
            <a:r>
              <a:rPr lang="en-US" sz="3499" b="1">
                <a:solidFill>
                  <a:srgbClr val="1B1B1B"/>
                </a:solidFill>
                <a:latin typeface="Vollkorn Bold"/>
                <a:ea typeface="Vollkorn Bold"/>
                <a:cs typeface="Vollkorn Bold"/>
                <a:sym typeface="Vollkorn Bold"/>
              </a:rPr>
              <a:t>Honeycomb: Future Possibilities in Architecture</a:t>
            </a:r>
          </a:p>
        </p:txBody>
      </p:sp>
      <p:sp>
        <p:nvSpPr>
          <p:cNvPr id="3" name="TextBox 3"/>
          <p:cNvSpPr txBox="1"/>
          <p:nvPr/>
        </p:nvSpPr>
        <p:spPr>
          <a:xfrm>
            <a:off x="3397116" y="1095375"/>
            <a:ext cx="11493768" cy="1232323"/>
          </a:xfrm>
          <a:prstGeom prst="rect">
            <a:avLst/>
          </a:prstGeom>
        </p:spPr>
        <p:txBody>
          <a:bodyPr lIns="0" tIns="0" rIns="0" bIns="0" rtlCol="0" anchor="t">
            <a:spAutoFit/>
          </a:bodyPr>
          <a:lstStyle/>
          <a:p>
            <a:pPr algn="ctr">
              <a:lnSpc>
                <a:spcPts val="9386"/>
              </a:lnSpc>
            </a:pPr>
            <a:r>
              <a:rPr lang="en-US" sz="8533">
                <a:solidFill>
                  <a:srgbClr val="1B1B1B"/>
                </a:solidFill>
                <a:latin typeface="Vollkorn"/>
                <a:ea typeface="Vollkorn"/>
                <a:cs typeface="Vollkorn"/>
                <a:sym typeface="Vollkorn"/>
              </a:rPr>
              <a:t>Future Possibilities</a:t>
            </a:r>
          </a:p>
        </p:txBody>
      </p:sp>
      <p:sp>
        <p:nvSpPr>
          <p:cNvPr id="4" name="TextBox 4"/>
          <p:cNvSpPr txBox="1"/>
          <p:nvPr/>
        </p:nvSpPr>
        <p:spPr>
          <a:xfrm>
            <a:off x="2140754" y="4279900"/>
            <a:ext cx="14006492" cy="5530850"/>
          </a:xfrm>
          <a:prstGeom prst="rect">
            <a:avLst/>
          </a:prstGeom>
        </p:spPr>
        <p:txBody>
          <a:bodyPr lIns="0" tIns="0" rIns="0" bIns="0" rtlCol="0" anchor="t">
            <a:spAutoFit/>
          </a:bodyPr>
          <a:lstStyle/>
          <a:p>
            <a:pPr marL="755649" lvl="1" indent="-377824" algn="l">
              <a:lnSpc>
                <a:spcPts val="4374"/>
              </a:lnSpc>
              <a:buFont typeface="Arial"/>
              <a:buChar char="•"/>
            </a:pPr>
            <a:r>
              <a:rPr lang="en-US" sz="3499" b="1">
                <a:solidFill>
                  <a:srgbClr val="1B1B1B"/>
                </a:solidFill>
                <a:latin typeface="Vollkorn Bold"/>
                <a:ea typeface="Vollkorn Bold"/>
                <a:cs typeface="Vollkorn Bold"/>
                <a:sym typeface="Vollkorn Bold"/>
              </a:rPr>
              <a:t>Reconfigurable Cells: </a:t>
            </a:r>
            <a:r>
              <a:rPr lang="en-US" sz="3499">
                <a:solidFill>
                  <a:srgbClr val="1B1B1B"/>
                </a:solidFill>
                <a:latin typeface="Vollkorn"/>
                <a:ea typeface="Vollkorn"/>
                <a:cs typeface="Vollkorn"/>
                <a:sym typeface="Vollkorn"/>
              </a:rPr>
              <a:t>Structures that change stiffness when needed.</a:t>
            </a:r>
          </a:p>
          <a:p>
            <a:pPr marL="755649" lvl="1" indent="-377824" algn="l">
              <a:lnSpc>
                <a:spcPts val="4374"/>
              </a:lnSpc>
              <a:buFont typeface="Arial"/>
              <a:buChar char="•"/>
            </a:pPr>
            <a:endParaRPr lang="en-US" sz="3499">
              <a:solidFill>
                <a:srgbClr val="1B1B1B"/>
              </a:solidFill>
              <a:latin typeface="Vollkorn"/>
              <a:ea typeface="Vollkorn"/>
              <a:cs typeface="Vollkorn"/>
              <a:sym typeface="Vollkorn"/>
            </a:endParaRPr>
          </a:p>
          <a:p>
            <a:pPr marL="755649" lvl="1" indent="-377824" algn="l">
              <a:lnSpc>
                <a:spcPts val="4374"/>
              </a:lnSpc>
              <a:buFont typeface="Arial"/>
              <a:buChar char="•"/>
            </a:pPr>
            <a:r>
              <a:rPr lang="en-US" sz="3499" b="1">
                <a:solidFill>
                  <a:srgbClr val="1B1B1B"/>
                </a:solidFill>
                <a:latin typeface="Vollkorn Bold"/>
                <a:ea typeface="Vollkorn Bold"/>
                <a:cs typeface="Vollkorn Bold"/>
                <a:sym typeface="Vollkorn Bold"/>
              </a:rPr>
              <a:t>Self Sensing Panels</a:t>
            </a:r>
            <a:r>
              <a:rPr lang="en-US" sz="3499">
                <a:solidFill>
                  <a:srgbClr val="1B1B1B"/>
                </a:solidFill>
                <a:latin typeface="Vollkorn"/>
                <a:ea typeface="Vollkorn"/>
                <a:cs typeface="Vollkorn"/>
                <a:sym typeface="Vollkorn"/>
              </a:rPr>
              <a:t>: Walls that detect internal damage.</a:t>
            </a:r>
          </a:p>
          <a:p>
            <a:pPr marL="755649" lvl="1" indent="-377824" algn="l">
              <a:lnSpc>
                <a:spcPts val="4374"/>
              </a:lnSpc>
              <a:buFont typeface="Arial"/>
              <a:buChar char="•"/>
            </a:pPr>
            <a:r>
              <a:rPr lang="en-US" sz="3499" b="1">
                <a:solidFill>
                  <a:srgbClr val="1B1B1B"/>
                </a:solidFill>
                <a:latin typeface="Vollkorn Bold"/>
                <a:ea typeface="Vollkorn Bold"/>
                <a:cs typeface="Vollkorn Bold"/>
                <a:sym typeface="Vollkorn Bold"/>
              </a:rPr>
              <a:t>Custom Printed Cells</a:t>
            </a:r>
            <a:r>
              <a:rPr lang="en-US" sz="3499">
                <a:solidFill>
                  <a:srgbClr val="1B1B1B"/>
                </a:solidFill>
                <a:latin typeface="Vollkorn"/>
                <a:ea typeface="Vollkorn"/>
                <a:cs typeface="Vollkorn"/>
                <a:sym typeface="Vollkorn"/>
              </a:rPr>
              <a:t>: Different cell sizes for different building loads.</a:t>
            </a:r>
          </a:p>
          <a:p>
            <a:pPr marL="755649" lvl="1" indent="-377824" algn="l">
              <a:lnSpc>
                <a:spcPts val="4374"/>
              </a:lnSpc>
              <a:buFont typeface="Arial"/>
              <a:buChar char="•"/>
            </a:pPr>
            <a:r>
              <a:rPr lang="en-US" sz="3499" b="1">
                <a:solidFill>
                  <a:srgbClr val="1B1B1B"/>
                </a:solidFill>
                <a:latin typeface="Vollkorn Bold"/>
                <a:ea typeface="Vollkorn Bold"/>
                <a:cs typeface="Vollkorn Bold"/>
                <a:sym typeface="Vollkorn Bold"/>
              </a:rPr>
              <a:t>Climate Adaptive Facades</a:t>
            </a:r>
            <a:r>
              <a:rPr lang="en-US" sz="3499">
                <a:solidFill>
                  <a:srgbClr val="1B1B1B"/>
                </a:solidFill>
                <a:latin typeface="Vollkorn"/>
                <a:ea typeface="Vollkorn"/>
                <a:cs typeface="Vollkorn"/>
                <a:sym typeface="Vollkorn"/>
              </a:rPr>
              <a:t>: Panels that respond to changing temperatures.</a:t>
            </a:r>
          </a:p>
          <a:p>
            <a:pPr marL="755649" lvl="1" indent="-377824" algn="l">
              <a:lnSpc>
                <a:spcPts val="4374"/>
              </a:lnSpc>
              <a:buFont typeface="Arial"/>
              <a:buChar char="•"/>
            </a:pPr>
            <a:r>
              <a:rPr lang="en-US" sz="3499" b="1">
                <a:solidFill>
                  <a:srgbClr val="1B1B1B"/>
                </a:solidFill>
                <a:latin typeface="Vollkorn Bold"/>
                <a:ea typeface="Vollkorn Bold"/>
                <a:cs typeface="Vollkorn Bold"/>
                <a:sym typeface="Vollkorn Bold"/>
              </a:rPr>
              <a:t>Earthquake Responsive Cores</a:t>
            </a:r>
            <a:r>
              <a:rPr lang="en-US" sz="3499">
                <a:solidFill>
                  <a:srgbClr val="1B1B1B"/>
                </a:solidFill>
                <a:latin typeface="Vollkorn"/>
                <a:ea typeface="Vollkorn"/>
                <a:cs typeface="Vollkorn"/>
                <a:sym typeface="Vollkorn"/>
              </a:rPr>
              <a:t>: Structures designed to absorb seismic energy and limit damage.</a:t>
            </a:r>
          </a:p>
        </p:txBody>
      </p:sp>
      <p:sp>
        <p:nvSpPr>
          <p:cNvPr id="5" name="Freeform 5"/>
          <p:cNvSpPr/>
          <p:nvPr/>
        </p:nvSpPr>
        <p:spPr>
          <a:xfrm>
            <a:off x="-922364" y="-709558"/>
            <a:ext cx="3902129" cy="3902129"/>
          </a:xfrm>
          <a:custGeom>
            <a:avLst/>
            <a:gdLst/>
            <a:ahLst/>
            <a:cxnLst/>
            <a:rect l="l" t="t" r="r" b="b"/>
            <a:pathLst>
              <a:path w="3902129" h="3902129">
                <a:moveTo>
                  <a:pt x="0" y="0"/>
                </a:moveTo>
                <a:lnTo>
                  <a:pt x="3902128" y="0"/>
                </a:lnTo>
                <a:lnTo>
                  <a:pt x="3902128" y="3902129"/>
                </a:lnTo>
                <a:lnTo>
                  <a:pt x="0" y="3902129"/>
                </a:lnTo>
                <a:lnTo>
                  <a:pt x="0" y="0"/>
                </a:lnTo>
                <a:close/>
              </a:path>
            </a:pathLst>
          </a:custGeom>
          <a:blipFill>
            <a:blip r:embed="rId2">
              <a:alphaModFix amt="60000"/>
            </a:blip>
            <a:stretch>
              <a:fillRect/>
            </a:stretch>
          </a:blipFill>
        </p:spPr>
        <p:txBody>
          <a:bodyPr/>
          <a:lstStyle/>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7581314" y="3727419"/>
            <a:ext cx="10015037" cy="2476380"/>
          </a:xfrm>
          <a:prstGeom prst="rect">
            <a:avLst/>
          </a:prstGeom>
        </p:spPr>
        <p:txBody>
          <a:bodyPr lIns="0" tIns="0" rIns="0" bIns="0" rtlCol="0" anchor="t">
            <a:spAutoFit/>
          </a:bodyPr>
          <a:lstStyle/>
          <a:p>
            <a:pPr algn="l">
              <a:lnSpc>
                <a:spcPts val="9047"/>
              </a:lnSpc>
            </a:pPr>
            <a:r>
              <a:rPr lang="en-US" sz="12226" b="1" spc="-110">
                <a:solidFill>
                  <a:srgbClr val="643B28"/>
                </a:solidFill>
                <a:latin typeface="Work Sans Bold"/>
                <a:ea typeface="Work Sans Bold"/>
                <a:cs typeface="Work Sans Bold"/>
                <a:sym typeface="Work Sans Bold"/>
              </a:rPr>
              <a:t>SPIDER WEB DESIGNS</a:t>
            </a:r>
          </a:p>
        </p:txBody>
      </p:sp>
      <p:sp>
        <p:nvSpPr>
          <p:cNvPr id="3" name="Freeform 3"/>
          <p:cNvSpPr/>
          <p:nvPr/>
        </p:nvSpPr>
        <p:spPr>
          <a:xfrm>
            <a:off x="-3083730" y="-220519"/>
            <a:ext cx="16210089" cy="10771511"/>
          </a:xfrm>
          <a:custGeom>
            <a:avLst/>
            <a:gdLst/>
            <a:ahLst/>
            <a:cxnLst/>
            <a:rect l="l" t="t" r="r" b="b"/>
            <a:pathLst>
              <a:path w="16210089" h="10771511">
                <a:moveTo>
                  <a:pt x="0" y="0"/>
                </a:moveTo>
                <a:lnTo>
                  <a:pt x="16210089" y="0"/>
                </a:lnTo>
                <a:lnTo>
                  <a:pt x="16210089" y="10771511"/>
                </a:lnTo>
                <a:lnTo>
                  <a:pt x="0" y="10771511"/>
                </a:lnTo>
                <a:lnTo>
                  <a:pt x="0" y="0"/>
                </a:lnTo>
                <a:close/>
              </a:path>
            </a:pathLst>
          </a:custGeom>
          <a:blipFill>
            <a:blip r:embed="rId2"/>
            <a:stretch>
              <a:fillRect l="-8692" t="-4615" b="-4615"/>
            </a:stretch>
          </a:blipFill>
        </p:spPr>
        <p:txBody>
          <a:bodyPr/>
          <a:lstStyle/>
          <a:p>
            <a:endParaRPr lang="en-US"/>
          </a:p>
        </p:txBody>
      </p:sp>
      <p:sp>
        <p:nvSpPr>
          <p:cNvPr id="4" name="Freeform 4"/>
          <p:cNvSpPr/>
          <p:nvPr/>
        </p:nvSpPr>
        <p:spPr>
          <a:xfrm flipH="1">
            <a:off x="11168557" y="-492019"/>
            <a:ext cx="7473566" cy="6347259"/>
          </a:xfrm>
          <a:custGeom>
            <a:avLst/>
            <a:gdLst/>
            <a:ahLst/>
            <a:cxnLst/>
            <a:rect l="l" t="t" r="r" b="b"/>
            <a:pathLst>
              <a:path w="7473566" h="6347259">
                <a:moveTo>
                  <a:pt x="7473565" y="0"/>
                </a:moveTo>
                <a:lnTo>
                  <a:pt x="0" y="0"/>
                </a:lnTo>
                <a:lnTo>
                  <a:pt x="0" y="6347259"/>
                </a:lnTo>
                <a:lnTo>
                  <a:pt x="7473565" y="6347259"/>
                </a:lnTo>
                <a:lnTo>
                  <a:pt x="7473565" y="0"/>
                </a:lnTo>
                <a:close/>
              </a:path>
            </a:pathLst>
          </a:custGeom>
          <a:blipFill>
            <a:blip r:embed="rId3"/>
            <a:stretch>
              <a:fillRect r="-41824" b="-116309"/>
            </a:stretch>
          </a:blipFill>
        </p:spPr>
        <p:txBody>
          <a:bodyPr/>
          <a:lstStyle/>
          <a:p>
            <a:endParaRPr lang="en-US"/>
          </a:p>
        </p:txBody>
      </p:sp>
      <p:sp>
        <p:nvSpPr>
          <p:cNvPr id="5" name="Freeform 5"/>
          <p:cNvSpPr/>
          <p:nvPr/>
        </p:nvSpPr>
        <p:spPr>
          <a:xfrm>
            <a:off x="15134784" y="6463085"/>
            <a:ext cx="3153216" cy="5241312"/>
          </a:xfrm>
          <a:custGeom>
            <a:avLst/>
            <a:gdLst/>
            <a:ahLst/>
            <a:cxnLst/>
            <a:rect l="l" t="t" r="r" b="b"/>
            <a:pathLst>
              <a:path w="3153216" h="5241312">
                <a:moveTo>
                  <a:pt x="0" y="0"/>
                </a:moveTo>
                <a:lnTo>
                  <a:pt x="3153216" y="0"/>
                </a:lnTo>
                <a:lnTo>
                  <a:pt x="3153216" y="5241312"/>
                </a:lnTo>
                <a:lnTo>
                  <a:pt x="0" y="5241312"/>
                </a:lnTo>
                <a:lnTo>
                  <a:pt x="0" y="0"/>
                </a:lnTo>
                <a:close/>
              </a:path>
            </a:pathLst>
          </a:custGeom>
          <a:blipFill>
            <a:blip r:embed="rId4"/>
            <a:stretch>
              <a:fillRect l="-79583" r="-119165"/>
            </a:stretch>
          </a:blipFill>
        </p:spPr>
        <p:txBody>
          <a:bodyPr/>
          <a:lstStyle/>
          <a:p>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4791607" y="403234"/>
            <a:ext cx="8647787" cy="1033558"/>
          </a:xfrm>
          <a:prstGeom prst="rect">
            <a:avLst/>
          </a:prstGeom>
        </p:spPr>
        <p:txBody>
          <a:bodyPr lIns="0" tIns="0" rIns="0" bIns="0" rtlCol="0" anchor="t">
            <a:spAutoFit/>
          </a:bodyPr>
          <a:lstStyle/>
          <a:p>
            <a:pPr algn="ctr">
              <a:lnSpc>
                <a:spcPts val="7846"/>
              </a:lnSpc>
            </a:pPr>
            <a:r>
              <a:rPr lang="en-US" sz="7133">
                <a:solidFill>
                  <a:srgbClr val="1B1B1B"/>
                </a:solidFill>
                <a:latin typeface="Vollkorn"/>
                <a:ea typeface="Vollkorn"/>
                <a:cs typeface="Vollkorn"/>
                <a:sym typeface="Vollkorn"/>
              </a:rPr>
              <a:t>Problem Statement</a:t>
            </a:r>
          </a:p>
        </p:txBody>
      </p:sp>
      <p:sp>
        <p:nvSpPr>
          <p:cNvPr id="3" name="Freeform 3"/>
          <p:cNvSpPr/>
          <p:nvPr/>
        </p:nvSpPr>
        <p:spPr>
          <a:xfrm>
            <a:off x="10550346" y="1436792"/>
            <a:ext cx="7202509" cy="8326600"/>
          </a:xfrm>
          <a:custGeom>
            <a:avLst/>
            <a:gdLst/>
            <a:ahLst/>
            <a:cxnLst/>
            <a:rect l="l" t="t" r="r" b="b"/>
            <a:pathLst>
              <a:path w="7202509" h="8326600">
                <a:moveTo>
                  <a:pt x="0" y="0"/>
                </a:moveTo>
                <a:lnTo>
                  <a:pt x="7202509" y="0"/>
                </a:lnTo>
                <a:lnTo>
                  <a:pt x="7202509" y="8326600"/>
                </a:lnTo>
                <a:lnTo>
                  <a:pt x="0" y="83266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1028700" y="2724667"/>
            <a:ext cx="6860232" cy="604949"/>
          </a:xfrm>
          <a:prstGeom prst="rect">
            <a:avLst/>
          </a:prstGeom>
        </p:spPr>
        <p:txBody>
          <a:bodyPr lIns="0" tIns="0" rIns="0" bIns="0" rtlCol="0" anchor="t">
            <a:spAutoFit/>
          </a:bodyPr>
          <a:lstStyle/>
          <a:p>
            <a:pPr algn="ctr">
              <a:lnSpc>
                <a:spcPts val="4547"/>
              </a:lnSpc>
              <a:spcBef>
                <a:spcPct val="0"/>
              </a:spcBef>
            </a:pPr>
            <a:r>
              <a:rPr lang="en-US" sz="4133" b="1">
                <a:solidFill>
                  <a:srgbClr val="1B1B1B"/>
                </a:solidFill>
                <a:latin typeface="Vollkorn Bold"/>
                <a:ea typeface="Vollkorn Bold"/>
                <a:cs typeface="Vollkorn Bold"/>
                <a:sym typeface="Vollkorn Bold"/>
              </a:rPr>
              <a:t>The engineering challenge :</a:t>
            </a:r>
          </a:p>
        </p:txBody>
      </p:sp>
      <p:sp>
        <p:nvSpPr>
          <p:cNvPr id="5" name="TextBox 5"/>
          <p:cNvSpPr txBox="1"/>
          <p:nvPr/>
        </p:nvSpPr>
        <p:spPr>
          <a:xfrm>
            <a:off x="10788834" y="4260149"/>
            <a:ext cx="6470466" cy="1591533"/>
          </a:xfrm>
          <a:prstGeom prst="rect">
            <a:avLst/>
          </a:prstGeom>
        </p:spPr>
        <p:txBody>
          <a:bodyPr lIns="0" tIns="0" rIns="0" bIns="0" rtlCol="0" anchor="t">
            <a:spAutoFit/>
          </a:bodyPr>
          <a:lstStyle/>
          <a:p>
            <a:pPr algn="l">
              <a:lnSpc>
                <a:spcPts val="3074"/>
              </a:lnSpc>
              <a:spcBef>
                <a:spcPct val="0"/>
              </a:spcBef>
            </a:pPr>
            <a:r>
              <a:rPr lang="en-US" sz="2459">
                <a:solidFill>
                  <a:srgbClr val="FFFFFF"/>
                </a:solidFill>
                <a:latin typeface="Times New Roman MT"/>
                <a:ea typeface="Times New Roman MT"/>
                <a:cs typeface="Times New Roman MT"/>
                <a:sym typeface="Times New Roman MT"/>
              </a:rPr>
              <a:t>Spiders face the same constraints as engineers: limited energy, limited raw material (protein) and real structural loads such as wind and prey impact.</a:t>
            </a:r>
          </a:p>
        </p:txBody>
      </p:sp>
      <p:sp>
        <p:nvSpPr>
          <p:cNvPr id="6" name="TextBox 6"/>
          <p:cNvSpPr txBox="1"/>
          <p:nvPr/>
        </p:nvSpPr>
        <p:spPr>
          <a:xfrm>
            <a:off x="10788834" y="6518625"/>
            <a:ext cx="6470466" cy="1204033"/>
          </a:xfrm>
          <a:prstGeom prst="rect">
            <a:avLst/>
          </a:prstGeom>
        </p:spPr>
        <p:txBody>
          <a:bodyPr lIns="0" tIns="0" rIns="0" bIns="0" rtlCol="0" anchor="t">
            <a:spAutoFit/>
          </a:bodyPr>
          <a:lstStyle/>
          <a:p>
            <a:pPr algn="l">
              <a:lnSpc>
                <a:spcPts val="3074"/>
              </a:lnSpc>
              <a:spcBef>
                <a:spcPct val="0"/>
              </a:spcBef>
            </a:pPr>
            <a:r>
              <a:rPr lang="en-US" sz="2459">
                <a:solidFill>
                  <a:srgbClr val="FFFFFF"/>
                </a:solidFill>
                <a:latin typeface="Times New Roman MT"/>
                <a:ea typeface="Times New Roman MT"/>
                <a:cs typeface="Times New Roman MT"/>
                <a:sym typeface="Times New Roman MT"/>
              </a:rPr>
              <a:t>Their solution, refined over millions of years, is now a direct blueprint for tensile roofs, building facades and lightweight materials.</a:t>
            </a:r>
          </a:p>
        </p:txBody>
      </p:sp>
      <p:sp>
        <p:nvSpPr>
          <p:cNvPr id="7" name="TextBox 7"/>
          <p:cNvSpPr txBox="1"/>
          <p:nvPr/>
        </p:nvSpPr>
        <p:spPr>
          <a:xfrm>
            <a:off x="741093" y="3615085"/>
            <a:ext cx="9145291" cy="2065298"/>
          </a:xfrm>
          <a:prstGeom prst="rect">
            <a:avLst/>
          </a:prstGeom>
        </p:spPr>
        <p:txBody>
          <a:bodyPr lIns="0" tIns="0" rIns="0" bIns="0" rtlCol="0" anchor="t">
            <a:spAutoFit/>
          </a:bodyPr>
          <a:lstStyle/>
          <a:p>
            <a:pPr algn="l">
              <a:lnSpc>
                <a:spcPts val="3159"/>
              </a:lnSpc>
              <a:spcBef>
                <a:spcPct val="0"/>
              </a:spcBef>
            </a:pPr>
            <a:r>
              <a:rPr lang="en-US" sz="2871">
                <a:solidFill>
                  <a:srgbClr val="1B1B1B"/>
                </a:solidFill>
                <a:latin typeface="Times New Roman MT"/>
                <a:ea typeface="Times New Roman MT"/>
                <a:cs typeface="Times New Roman MT"/>
                <a:sym typeface="Times New Roman MT"/>
              </a:rPr>
              <a:t>Modern construction and manufacturing constantly struggle to balance strength, weight and material cost. Over-built structures waste material, add cost and increase the carbon footprint. Under-built ones fail under load, wind or impact.</a:t>
            </a:r>
          </a:p>
        </p:txBody>
      </p:sp>
      <p:sp>
        <p:nvSpPr>
          <p:cNvPr id="8" name="TextBox 8"/>
          <p:cNvSpPr txBox="1"/>
          <p:nvPr/>
        </p:nvSpPr>
        <p:spPr>
          <a:xfrm>
            <a:off x="10788834" y="3125378"/>
            <a:ext cx="6470600" cy="522059"/>
          </a:xfrm>
          <a:prstGeom prst="rect">
            <a:avLst/>
          </a:prstGeom>
        </p:spPr>
        <p:txBody>
          <a:bodyPr lIns="0" tIns="0" rIns="0" bIns="0" rtlCol="0" anchor="t">
            <a:spAutoFit/>
          </a:bodyPr>
          <a:lstStyle/>
          <a:p>
            <a:pPr algn="ctr">
              <a:lnSpc>
                <a:spcPts val="4107"/>
              </a:lnSpc>
              <a:spcBef>
                <a:spcPct val="0"/>
              </a:spcBef>
            </a:pPr>
            <a:r>
              <a:rPr lang="en-US" sz="3286" b="1">
                <a:solidFill>
                  <a:srgbClr val="401B03"/>
                </a:solidFill>
                <a:latin typeface="Vollkorn Bold"/>
                <a:ea typeface="Vollkorn Bold"/>
                <a:cs typeface="Vollkorn Bold"/>
                <a:sym typeface="Vollkorn Bold"/>
              </a:rPr>
              <a:t>NATURE SOLVED THIS ALREADY</a:t>
            </a:r>
          </a:p>
        </p:txBody>
      </p:sp>
      <p:sp>
        <p:nvSpPr>
          <p:cNvPr id="9" name="TextBox 9"/>
          <p:cNvSpPr txBox="1"/>
          <p:nvPr/>
        </p:nvSpPr>
        <p:spPr>
          <a:xfrm>
            <a:off x="617200" y="5813581"/>
            <a:ext cx="9393078" cy="5145467"/>
          </a:xfrm>
          <a:prstGeom prst="rect">
            <a:avLst/>
          </a:prstGeom>
        </p:spPr>
        <p:txBody>
          <a:bodyPr lIns="0" tIns="0" rIns="0" bIns="0" rtlCol="0" anchor="t">
            <a:spAutoFit/>
          </a:bodyPr>
          <a:lstStyle/>
          <a:p>
            <a:pPr algn="l">
              <a:lnSpc>
                <a:spcPts val="3398"/>
              </a:lnSpc>
            </a:pPr>
            <a:r>
              <a:rPr lang="en-US" sz="3089">
                <a:solidFill>
                  <a:srgbClr val="1B1B1B"/>
                </a:solidFill>
                <a:latin typeface="Times New Roman MT"/>
                <a:ea typeface="Times New Roman MT"/>
                <a:cs typeface="Times New Roman MT"/>
                <a:sym typeface="Times New Roman MT"/>
              </a:rPr>
              <a:t>Can we design structures that are:</a:t>
            </a:r>
          </a:p>
          <a:p>
            <a:pPr algn="l">
              <a:lnSpc>
                <a:spcPts val="3398"/>
              </a:lnSpc>
            </a:pPr>
            <a:endParaRPr lang="en-US" sz="3089">
              <a:solidFill>
                <a:srgbClr val="1B1B1B"/>
              </a:solidFill>
              <a:latin typeface="Times New Roman MT"/>
              <a:ea typeface="Times New Roman MT"/>
              <a:cs typeface="Times New Roman MT"/>
              <a:sym typeface="Times New Roman MT"/>
            </a:endParaRPr>
          </a:p>
          <a:p>
            <a:pPr marL="667064" lvl="1" indent="-333532" algn="l">
              <a:lnSpc>
                <a:spcPts val="3398"/>
              </a:lnSpc>
              <a:buFont typeface="Arial"/>
              <a:buChar char="•"/>
            </a:pPr>
            <a:r>
              <a:rPr lang="en-US" sz="3089">
                <a:solidFill>
                  <a:srgbClr val="1B1B1B"/>
                </a:solidFill>
                <a:latin typeface="Times New Roman MT"/>
                <a:ea typeface="Times New Roman MT"/>
                <a:cs typeface="Times New Roman MT"/>
                <a:sym typeface="Times New Roman MT"/>
              </a:rPr>
              <a:t>Lightweight, yet able to bear heavy or dynamic loads</a:t>
            </a:r>
          </a:p>
          <a:p>
            <a:pPr algn="l">
              <a:lnSpc>
                <a:spcPts val="728"/>
              </a:lnSpc>
            </a:pPr>
            <a:endParaRPr lang="en-US" sz="3089">
              <a:solidFill>
                <a:srgbClr val="1B1B1B"/>
              </a:solidFill>
              <a:latin typeface="Times New Roman MT"/>
              <a:ea typeface="Times New Roman MT"/>
              <a:cs typeface="Times New Roman MT"/>
              <a:sym typeface="Times New Roman MT"/>
            </a:endParaRPr>
          </a:p>
          <a:p>
            <a:pPr marL="667064" lvl="1" indent="-333532" algn="l">
              <a:lnSpc>
                <a:spcPts val="3398"/>
              </a:lnSpc>
              <a:buFont typeface="Arial"/>
              <a:buChar char="•"/>
            </a:pPr>
            <a:r>
              <a:rPr lang="en-US" sz="3089">
                <a:solidFill>
                  <a:srgbClr val="1B1B1B"/>
                </a:solidFill>
                <a:latin typeface="Times New Roman MT"/>
                <a:ea typeface="Times New Roman MT"/>
                <a:cs typeface="Times New Roman MT"/>
                <a:sym typeface="Times New Roman MT"/>
              </a:rPr>
              <a:t>Material- and cost-efficient</a:t>
            </a:r>
          </a:p>
          <a:p>
            <a:pPr algn="l">
              <a:lnSpc>
                <a:spcPts val="728"/>
              </a:lnSpc>
            </a:pPr>
            <a:endParaRPr lang="en-US" sz="3089">
              <a:solidFill>
                <a:srgbClr val="1B1B1B"/>
              </a:solidFill>
              <a:latin typeface="Times New Roman MT"/>
              <a:ea typeface="Times New Roman MT"/>
              <a:cs typeface="Times New Roman MT"/>
              <a:sym typeface="Times New Roman MT"/>
            </a:endParaRPr>
          </a:p>
          <a:p>
            <a:pPr marL="667064" lvl="1" indent="-333532" algn="l">
              <a:lnSpc>
                <a:spcPts val="3398"/>
              </a:lnSpc>
              <a:buFont typeface="Arial"/>
              <a:buChar char="•"/>
            </a:pPr>
            <a:r>
              <a:rPr lang="en-US" sz="3089">
                <a:solidFill>
                  <a:srgbClr val="1B1B1B"/>
                </a:solidFill>
                <a:latin typeface="Times New Roman MT"/>
                <a:ea typeface="Times New Roman MT"/>
                <a:cs typeface="Times New Roman MT"/>
                <a:sym typeface="Times New Roman MT"/>
              </a:rPr>
              <a:t>Resilient to impact, vibration, wind and seismic force</a:t>
            </a:r>
          </a:p>
          <a:p>
            <a:pPr algn="l">
              <a:lnSpc>
                <a:spcPts val="728"/>
              </a:lnSpc>
            </a:pPr>
            <a:endParaRPr lang="en-US" sz="3089">
              <a:solidFill>
                <a:srgbClr val="1B1B1B"/>
              </a:solidFill>
              <a:latin typeface="Times New Roman MT"/>
              <a:ea typeface="Times New Roman MT"/>
              <a:cs typeface="Times New Roman MT"/>
              <a:sym typeface="Times New Roman MT"/>
            </a:endParaRPr>
          </a:p>
          <a:p>
            <a:pPr marL="667064" lvl="1" indent="-333532" algn="l">
              <a:lnSpc>
                <a:spcPts val="3398"/>
              </a:lnSpc>
              <a:buFont typeface="Arial"/>
              <a:buChar char="•"/>
            </a:pPr>
            <a:r>
              <a:rPr lang="en-US" sz="3089">
                <a:solidFill>
                  <a:srgbClr val="1B1B1B"/>
                </a:solidFill>
                <a:latin typeface="Times New Roman MT"/>
                <a:ea typeface="Times New Roman MT"/>
                <a:cs typeface="Times New Roman MT"/>
                <a:sym typeface="Times New Roman MT"/>
              </a:rPr>
              <a:t>Scalable — from a packaging box to a stadium roof</a:t>
            </a:r>
          </a:p>
          <a:p>
            <a:pPr algn="l">
              <a:lnSpc>
                <a:spcPts val="728"/>
              </a:lnSpc>
            </a:pPr>
            <a:endParaRPr lang="en-US" sz="3089">
              <a:solidFill>
                <a:srgbClr val="1B1B1B"/>
              </a:solidFill>
              <a:latin typeface="Times New Roman MT"/>
              <a:ea typeface="Times New Roman MT"/>
              <a:cs typeface="Times New Roman MT"/>
              <a:sym typeface="Times New Roman MT"/>
            </a:endParaRPr>
          </a:p>
          <a:p>
            <a:pPr marL="667064" lvl="1" indent="-333532" algn="l">
              <a:lnSpc>
                <a:spcPts val="3398"/>
              </a:lnSpc>
              <a:buFont typeface="Arial"/>
              <a:buChar char="•"/>
            </a:pPr>
            <a:r>
              <a:rPr lang="en-US" sz="3089">
                <a:solidFill>
                  <a:srgbClr val="1B1B1B"/>
                </a:solidFill>
                <a:latin typeface="Times New Roman MT"/>
                <a:ea typeface="Times New Roman MT"/>
                <a:cs typeface="Times New Roman MT"/>
                <a:sym typeface="Times New Roman MT"/>
              </a:rPr>
              <a:t>Sustainable, using less energy and raw material</a:t>
            </a:r>
          </a:p>
          <a:p>
            <a:pPr algn="l">
              <a:lnSpc>
                <a:spcPts val="3398"/>
              </a:lnSpc>
            </a:pPr>
            <a:endParaRPr lang="en-US" sz="3089">
              <a:solidFill>
                <a:srgbClr val="1B1B1B"/>
              </a:solidFill>
              <a:latin typeface="Times New Roman MT"/>
              <a:ea typeface="Times New Roman MT"/>
              <a:cs typeface="Times New Roman MT"/>
              <a:sym typeface="Times New Roman MT"/>
            </a:endParaRPr>
          </a:p>
          <a:p>
            <a:pPr algn="l">
              <a:lnSpc>
                <a:spcPts val="3398"/>
              </a:lnSpc>
              <a:spcBef>
                <a:spcPct val="0"/>
              </a:spcBef>
            </a:pPr>
            <a:endParaRPr lang="en-US" sz="3089">
              <a:solidFill>
                <a:srgbClr val="1B1B1B"/>
              </a:solidFill>
              <a:latin typeface="Times New Roman MT"/>
              <a:ea typeface="Times New Roman MT"/>
              <a:cs typeface="Times New Roman MT"/>
              <a:sym typeface="Times New Roman MT"/>
            </a:endParaRPr>
          </a:p>
        </p:txBody>
      </p:sp>
      <p:sp>
        <p:nvSpPr>
          <p:cNvPr id="10" name="Freeform 10"/>
          <p:cNvSpPr/>
          <p:nvPr/>
        </p:nvSpPr>
        <p:spPr>
          <a:xfrm rot="5400000" flipV="1">
            <a:off x="-183417" y="16592"/>
            <a:ext cx="2793792" cy="2584258"/>
          </a:xfrm>
          <a:custGeom>
            <a:avLst/>
            <a:gdLst/>
            <a:ahLst/>
            <a:cxnLst/>
            <a:rect l="l" t="t" r="r" b="b"/>
            <a:pathLst>
              <a:path w="2793792" h="2584258">
                <a:moveTo>
                  <a:pt x="0" y="2584258"/>
                </a:moveTo>
                <a:lnTo>
                  <a:pt x="2793792" y="2584258"/>
                </a:lnTo>
                <a:lnTo>
                  <a:pt x="2793792" y="0"/>
                </a:lnTo>
                <a:lnTo>
                  <a:pt x="0" y="0"/>
                </a:lnTo>
                <a:lnTo>
                  <a:pt x="0" y="2584258"/>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1677680" y="2062904"/>
            <a:ext cx="5581620" cy="2475837"/>
          </a:xfrm>
          <a:custGeom>
            <a:avLst/>
            <a:gdLst/>
            <a:ahLst/>
            <a:cxnLst/>
            <a:rect l="l" t="t" r="r" b="b"/>
            <a:pathLst>
              <a:path w="5581620" h="2475837">
                <a:moveTo>
                  <a:pt x="0" y="0"/>
                </a:moveTo>
                <a:lnTo>
                  <a:pt x="5581620" y="0"/>
                </a:lnTo>
                <a:lnTo>
                  <a:pt x="5581620" y="2475837"/>
                </a:lnTo>
                <a:lnTo>
                  <a:pt x="0" y="2475837"/>
                </a:lnTo>
                <a:lnTo>
                  <a:pt x="0" y="0"/>
                </a:lnTo>
                <a:close/>
              </a:path>
            </a:pathLst>
          </a:custGeom>
          <a:blipFill>
            <a:blip r:embed="rId2"/>
            <a:stretch>
              <a:fillRect/>
            </a:stretch>
          </a:blipFill>
        </p:spPr>
        <p:txBody>
          <a:bodyPr/>
          <a:lstStyle/>
          <a:p>
            <a:endParaRPr lang="en-US"/>
          </a:p>
        </p:txBody>
      </p:sp>
      <p:sp>
        <p:nvSpPr>
          <p:cNvPr id="3" name="TextBox 3"/>
          <p:cNvSpPr txBox="1"/>
          <p:nvPr/>
        </p:nvSpPr>
        <p:spPr>
          <a:xfrm>
            <a:off x="2960974" y="2026258"/>
            <a:ext cx="7419367" cy="5044016"/>
          </a:xfrm>
          <a:prstGeom prst="rect">
            <a:avLst/>
          </a:prstGeom>
        </p:spPr>
        <p:txBody>
          <a:bodyPr lIns="0" tIns="0" rIns="0" bIns="0" rtlCol="0" anchor="t">
            <a:spAutoFit/>
          </a:bodyPr>
          <a:lstStyle/>
          <a:p>
            <a:pPr marL="709507" lvl="1" indent="-354754" algn="l">
              <a:lnSpc>
                <a:spcPts val="3614"/>
              </a:lnSpc>
              <a:spcBef>
                <a:spcPct val="0"/>
              </a:spcBef>
              <a:buFont typeface="Arial"/>
              <a:buChar char="•"/>
            </a:pPr>
            <a:r>
              <a:rPr lang="en-US" sz="3286">
                <a:solidFill>
                  <a:srgbClr val="000000"/>
                </a:solidFill>
                <a:latin typeface="Vollkorn"/>
                <a:ea typeface="Vollkorn"/>
                <a:cs typeface="Vollkorn"/>
                <a:sym typeface="Vollkorn"/>
              </a:rPr>
              <a:t>34% of global CO₂ emissions come from buildings and construction</a:t>
            </a:r>
          </a:p>
          <a:p>
            <a:pPr algn="l">
              <a:lnSpc>
                <a:spcPts val="3614"/>
              </a:lnSpc>
              <a:spcBef>
                <a:spcPct val="0"/>
              </a:spcBef>
            </a:pPr>
            <a:endParaRPr lang="en-US" sz="3286">
              <a:solidFill>
                <a:srgbClr val="000000"/>
              </a:solidFill>
              <a:latin typeface="Vollkorn"/>
              <a:ea typeface="Vollkorn"/>
              <a:cs typeface="Vollkorn"/>
              <a:sym typeface="Vollkorn"/>
            </a:endParaRPr>
          </a:p>
          <a:p>
            <a:pPr marL="709507" lvl="1" indent="-354754" algn="l">
              <a:lnSpc>
                <a:spcPts val="3614"/>
              </a:lnSpc>
              <a:spcBef>
                <a:spcPct val="0"/>
              </a:spcBef>
              <a:buFont typeface="Arial"/>
              <a:buChar char="•"/>
            </a:pPr>
            <a:r>
              <a:rPr lang="en-US" sz="3286">
                <a:solidFill>
                  <a:srgbClr val="000000"/>
                </a:solidFill>
                <a:latin typeface="Vollkorn"/>
                <a:ea typeface="Vollkorn"/>
                <a:cs typeface="Vollkorn"/>
                <a:sym typeface="Vollkorn"/>
              </a:rPr>
              <a:t>32% of global energy use goes to the buildings sector</a:t>
            </a:r>
          </a:p>
          <a:p>
            <a:pPr algn="l">
              <a:lnSpc>
                <a:spcPts val="3614"/>
              </a:lnSpc>
              <a:spcBef>
                <a:spcPct val="0"/>
              </a:spcBef>
            </a:pPr>
            <a:endParaRPr lang="en-US" sz="3286">
              <a:solidFill>
                <a:srgbClr val="000000"/>
              </a:solidFill>
              <a:latin typeface="Vollkorn"/>
              <a:ea typeface="Vollkorn"/>
              <a:cs typeface="Vollkorn"/>
              <a:sym typeface="Vollkorn"/>
            </a:endParaRPr>
          </a:p>
          <a:p>
            <a:pPr marL="709507" lvl="1" indent="-354754" algn="l">
              <a:lnSpc>
                <a:spcPts val="3614"/>
              </a:lnSpc>
              <a:spcBef>
                <a:spcPct val="0"/>
              </a:spcBef>
              <a:buFont typeface="Arial"/>
              <a:buChar char="•"/>
            </a:pPr>
            <a:r>
              <a:rPr lang="en-US" sz="3286">
                <a:solidFill>
                  <a:srgbClr val="000000"/>
                </a:solidFill>
                <a:latin typeface="Vollkorn"/>
                <a:ea typeface="Vollkorn"/>
                <a:cs typeface="Vollkorn"/>
                <a:sym typeface="Vollkorn"/>
              </a:rPr>
              <a:t>18% of global emissions come from cement &amp; steel production</a:t>
            </a:r>
          </a:p>
          <a:p>
            <a:pPr algn="l">
              <a:lnSpc>
                <a:spcPts val="3614"/>
              </a:lnSpc>
              <a:spcBef>
                <a:spcPct val="0"/>
              </a:spcBef>
            </a:pPr>
            <a:endParaRPr lang="en-US" sz="3286">
              <a:solidFill>
                <a:srgbClr val="000000"/>
              </a:solidFill>
              <a:latin typeface="Vollkorn"/>
              <a:ea typeface="Vollkorn"/>
              <a:cs typeface="Vollkorn"/>
              <a:sym typeface="Vollkorn"/>
            </a:endParaRPr>
          </a:p>
          <a:p>
            <a:pPr marL="709507" lvl="1" indent="-354754" algn="l">
              <a:lnSpc>
                <a:spcPts val="3614"/>
              </a:lnSpc>
              <a:spcBef>
                <a:spcPct val="0"/>
              </a:spcBef>
              <a:buFont typeface="Arial"/>
              <a:buChar char="•"/>
            </a:pPr>
            <a:r>
              <a:rPr lang="en-US" sz="3286">
                <a:solidFill>
                  <a:srgbClr val="000000"/>
                </a:solidFill>
                <a:latin typeface="Vollkorn"/>
                <a:ea typeface="Vollkorn"/>
                <a:cs typeface="Vollkorn"/>
                <a:sym typeface="Vollkorn"/>
              </a:rPr>
              <a:t>⅓ of global waste comes from buildings and construction</a:t>
            </a:r>
          </a:p>
        </p:txBody>
      </p:sp>
      <p:sp>
        <p:nvSpPr>
          <p:cNvPr id="4" name="TextBox 4"/>
          <p:cNvSpPr txBox="1"/>
          <p:nvPr/>
        </p:nvSpPr>
        <p:spPr>
          <a:xfrm>
            <a:off x="88953" y="692210"/>
            <a:ext cx="11542859" cy="1003300"/>
          </a:xfrm>
          <a:prstGeom prst="rect">
            <a:avLst/>
          </a:prstGeom>
        </p:spPr>
        <p:txBody>
          <a:bodyPr lIns="0" tIns="0" rIns="0" bIns="0" rtlCol="0" anchor="t">
            <a:spAutoFit/>
          </a:bodyPr>
          <a:lstStyle/>
          <a:p>
            <a:pPr algn="ctr">
              <a:lnSpc>
                <a:spcPts val="7699"/>
              </a:lnSpc>
            </a:pPr>
            <a:r>
              <a:rPr lang="en-US" sz="6999">
                <a:solidFill>
                  <a:srgbClr val="1B1B1B"/>
                </a:solidFill>
                <a:latin typeface="Vollkorn"/>
                <a:ea typeface="Vollkorn"/>
                <a:cs typeface="Vollkorn"/>
                <a:sym typeface="Vollkorn"/>
              </a:rPr>
              <a:t>The Scale of the Challenge</a:t>
            </a:r>
          </a:p>
        </p:txBody>
      </p:sp>
      <p:sp>
        <p:nvSpPr>
          <p:cNvPr id="5" name="TextBox 5"/>
          <p:cNvSpPr txBox="1"/>
          <p:nvPr/>
        </p:nvSpPr>
        <p:spPr>
          <a:xfrm>
            <a:off x="1517631" y="7640513"/>
            <a:ext cx="9565465" cy="847689"/>
          </a:xfrm>
          <a:prstGeom prst="rect">
            <a:avLst/>
          </a:prstGeom>
        </p:spPr>
        <p:txBody>
          <a:bodyPr lIns="0" tIns="0" rIns="0" bIns="0" rtlCol="0" anchor="t">
            <a:spAutoFit/>
          </a:bodyPr>
          <a:lstStyle/>
          <a:p>
            <a:pPr algn="ctr">
              <a:lnSpc>
                <a:spcPts val="3281"/>
              </a:lnSpc>
              <a:spcBef>
                <a:spcPct val="0"/>
              </a:spcBef>
            </a:pPr>
            <a:r>
              <a:rPr lang="en-US" sz="2983">
                <a:solidFill>
                  <a:srgbClr val="000000"/>
                </a:solidFill>
                <a:latin typeface="Vollkorn"/>
                <a:ea typeface="Vollkorn"/>
                <a:cs typeface="Vollkorn"/>
                <a:sym typeface="Vollkorn"/>
              </a:rPr>
              <a:t>Using less material for the same strength cuts cost, carbon and waste together — exactly what a spider web does.</a:t>
            </a:r>
          </a:p>
        </p:txBody>
      </p:sp>
      <p:sp>
        <p:nvSpPr>
          <p:cNvPr id="6" name="Freeform 6"/>
          <p:cNvSpPr/>
          <p:nvPr/>
        </p:nvSpPr>
        <p:spPr>
          <a:xfrm>
            <a:off x="11677680" y="7547196"/>
            <a:ext cx="5581620" cy="2475837"/>
          </a:xfrm>
          <a:custGeom>
            <a:avLst/>
            <a:gdLst/>
            <a:ahLst/>
            <a:cxnLst/>
            <a:rect l="l" t="t" r="r" b="b"/>
            <a:pathLst>
              <a:path w="5581620" h="2475837">
                <a:moveTo>
                  <a:pt x="0" y="0"/>
                </a:moveTo>
                <a:lnTo>
                  <a:pt x="5581620" y="0"/>
                </a:lnTo>
                <a:lnTo>
                  <a:pt x="5581620" y="2475837"/>
                </a:lnTo>
                <a:lnTo>
                  <a:pt x="0" y="2475837"/>
                </a:lnTo>
                <a:lnTo>
                  <a:pt x="0" y="0"/>
                </a:lnTo>
                <a:close/>
              </a:path>
            </a:pathLst>
          </a:custGeom>
          <a:blipFill>
            <a:blip r:embed="rId2"/>
            <a:stretch>
              <a:fillRect/>
            </a:stretch>
          </a:blipFill>
        </p:spPr>
        <p:txBody>
          <a:bodyPr/>
          <a:lstStyle/>
          <a:p>
            <a:endParaRPr lang="en-US"/>
          </a:p>
        </p:txBody>
      </p:sp>
      <p:sp>
        <p:nvSpPr>
          <p:cNvPr id="7" name="Freeform 7"/>
          <p:cNvSpPr/>
          <p:nvPr/>
        </p:nvSpPr>
        <p:spPr>
          <a:xfrm>
            <a:off x="11677680" y="4805467"/>
            <a:ext cx="5581620" cy="2475837"/>
          </a:xfrm>
          <a:custGeom>
            <a:avLst/>
            <a:gdLst/>
            <a:ahLst/>
            <a:cxnLst/>
            <a:rect l="l" t="t" r="r" b="b"/>
            <a:pathLst>
              <a:path w="5581620" h="2475837">
                <a:moveTo>
                  <a:pt x="0" y="0"/>
                </a:moveTo>
                <a:lnTo>
                  <a:pt x="5581620" y="0"/>
                </a:lnTo>
                <a:lnTo>
                  <a:pt x="5581620" y="2475837"/>
                </a:lnTo>
                <a:lnTo>
                  <a:pt x="0" y="2475837"/>
                </a:lnTo>
                <a:lnTo>
                  <a:pt x="0" y="0"/>
                </a:lnTo>
                <a:close/>
              </a:path>
            </a:pathLst>
          </a:custGeom>
          <a:blipFill>
            <a:blip r:embed="rId2"/>
            <a:stretch>
              <a:fillRect/>
            </a:stretch>
          </a:blipFill>
        </p:spPr>
        <p:txBody>
          <a:bodyPr/>
          <a:lstStyle/>
          <a:p>
            <a:endParaRPr lang="en-US"/>
          </a:p>
        </p:txBody>
      </p:sp>
      <p:sp>
        <p:nvSpPr>
          <p:cNvPr id="8" name="TextBox 8"/>
          <p:cNvSpPr txBox="1"/>
          <p:nvPr/>
        </p:nvSpPr>
        <p:spPr>
          <a:xfrm>
            <a:off x="11927508" y="2556200"/>
            <a:ext cx="3005064" cy="365125"/>
          </a:xfrm>
          <a:prstGeom prst="rect">
            <a:avLst/>
          </a:prstGeom>
        </p:spPr>
        <p:txBody>
          <a:bodyPr lIns="0" tIns="0" rIns="0" bIns="0" rtlCol="0" anchor="t">
            <a:spAutoFit/>
          </a:bodyPr>
          <a:lstStyle/>
          <a:p>
            <a:pPr algn="ctr">
              <a:lnSpc>
                <a:spcPts val="2750"/>
              </a:lnSpc>
              <a:spcBef>
                <a:spcPct val="0"/>
              </a:spcBef>
            </a:pPr>
            <a:r>
              <a:rPr lang="en-US" sz="2500" b="1">
                <a:solidFill>
                  <a:srgbClr val="000000"/>
                </a:solidFill>
                <a:latin typeface="Vollkorn Bold"/>
                <a:ea typeface="Vollkorn Bold"/>
                <a:cs typeface="Vollkorn Bold"/>
                <a:sym typeface="Vollkorn Bold"/>
              </a:rPr>
              <a:t>Objective: Explain</a:t>
            </a:r>
          </a:p>
        </p:txBody>
      </p:sp>
      <p:sp>
        <p:nvSpPr>
          <p:cNvPr id="9" name="TextBox 9"/>
          <p:cNvSpPr txBox="1"/>
          <p:nvPr/>
        </p:nvSpPr>
        <p:spPr>
          <a:xfrm>
            <a:off x="11927508" y="7871854"/>
            <a:ext cx="3005064" cy="375482"/>
          </a:xfrm>
          <a:prstGeom prst="rect">
            <a:avLst/>
          </a:prstGeom>
        </p:spPr>
        <p:txBody>
          <a:bodyPr lIns="0" tIns="0" rIns="0" bIns="0" rtlCol="0" anchor="t">
            <a:spAutoFit/>
          </a:bodyPr>
          <a:lstStyle/>
          <a:p>
            <a:pPr algn="ctr">
              <a:lnSpc>
                <a:spcPts val="2822"/>
              </a:lnSpc>
              <a:spcBef>
                <a:spcPct val="0"/>
              </a:spcBef>
            </a:pPr>
            <a:r>
              <a:rPr lang="en-US" sz="2565" b="1">
                <a:solidFill>
                  <a:srgbClr val="000000"/>
                </a:solidFill>
                <a:latin typeface="Vollkorn Bold"/>
                <a:ea typeface="Vollkorn Bold"/>
                <a:cs typeface="Vollkorn Bold"/>
                <a:sym typeface="Vollkorn Bold"/>
              </a:rPr>
              <a:t>Objective: Evaluate</a:t>
            </a:r>
          </a:p>
        </p:txBody>
      </p:sp>
      <p:sp>
        <p:nvSpPr>
          <p:cNvPr id="10" name="TextBox 10"/>
          <p:cNvSpPr txBox="1"/>
          <p:nvPr/>
        </p:nvSpPr>
        <p:spPr>
          <a:xfrm>
            <a:off x="11835749" y="5135413"/>
            <a:ext cx="3387155" cy="375482"/>
          </a:xfrm>
          <a:prstGeom prst="rect">
            <a:avLst/>
          </a:prstGeom>
        </p:spPr>
        <p:txBody>
          <a:bodyPr lIns="0" tIns="0" rIns="0" bIns="0" rtlCol="0" anchor="t">
            <a:spAutoFit/>
          </a:bodyPr>
          <a:lstStyle/>
          <a:p>
            <a:pPr algn="ctr">
              <a:lnSpc>
                <a:spcPts val="2822"/>
              </a:lnSpc>
              <a:spcBef>
                <a:spcPct val="0"/>
              </a:spcBef>
            </a:pPr>
            <a:r>
              <a:rPr lang="en-US" sz="2565" b="1">
                <a:solidFill>
                  <a:srgbClr val="000000"/>
                </a:solidFill>
                <a:latin typeface="Vollkorn Bold"/>
                <a:ea typeface="Vollkorn Bold"/>
                <a:cs typeface="Vollkorn Bold"/>
                <a:sym typeface="Vollkorn Bold"/>
              </a:rPr>
              <a:t>Objective: Compare</a:t>
            </a:r>
          </a:p>
        </p:txBody>
      </p:sp>
      <p:sp>
        <p:nvSpPr>
          <p:cNvPr id="11" name="TextBox 11"/>
          <p:cNvSpPr txBox="1"/>
          <p:nvPr/>
        </p:nvSpPr>
        <p:spPr>
          <a:xfrm>
            <a:off x="12014142" y="3216551"/>
            <a:ext cx="4908695" cy="648335"/>
          </a:xfrm>
          <a:prstGeom prst="rect">
            <a:avLst/>
          </a:prstGeom>
        </p:spPr>
        <p:txBody>
          <a:bodyPr lIns="0" tIns="0" rIns="0" bIns="0" rtlCol="0" anchor="t">
            <a:spAutoFit/>
          </a:bodyPr>
          <a:lstStyle/>
          <a:p>
            <a:pPr algn="ctr">
              <a:lnSpc>
                <a:spcPts val="2529"/>
              </a:lnSpc>
              <a:spcBef>
                <a:spcPct val="0"/>
              </a:spcBef>
            </a:pPr>
            <a:r>
              <a:rPr lang="en-US" sz="2299">
                <a:solidFill>
                  <a:srgbClr val="000000"/>
                </a:solidFill>
                <a:latin typeface="Vollkorn"/>
                <a:ea typeface="Vollkorn"/>
                <a:cs typeface="Vollkorn"/>
                <a:sym typeface="Vollkorn"/>
              </a:rPr>
              <a:t>How does a web carry and spread load using so little material?</a:t>
            </a:r>
          </a:p>
        </p:txBody>
      </p:sp>
      <p:sp>
        <p:nvSpPr>
          <p:cNvPr id="12" name="TextBox 12"/>
          <p:cNvSpPr txBox="1"/>
          <p:nvPr/>
        </p:nvSpPr>
        <p:spPr>
          <a:xfrm>
            <a:off x="11927508" y="8523561"/>
            <a:ext cx="4908695" cy="962660"/>
          </a:xfrm>
          <a:prstGeom prst="rect">
            <a:avLst/>
          </a:prstGeom>
        </p:spPr>
        <p:txBody>
          <a:bodyPr lIns="0" tIns="0" rIns="0" bIns="0" rtlCol="0" anchor="t">
            <a:spAutoFit/>
          </a:bodyPr>
          <a:lstStyle/>
          <a:p>
            <a:pPr algn="ctr">
              <a:lnSpc>
                <a:spcPts val="2529"/>
              </a:lnSpc>
              <a:spcBef>
                <a:spcPct val="0"/>
              </a:spcBef>
            </a:pPr>
            <a:r>
              <a:rPr lang="en-US" sz="2299">
                <a:solidFill>
                  <a:srgbClr val="000000"/>
                </a:solidFill>
                <a:latin typeface="Vollkorn"/>
                <a:ea typeface="Vollkorn"/>
                <a:cs typeface="Vollkorn"/>
                <a:sym typeface="Vollkorn"/>
              </a:rPr>
              <a:t>Can web geometry scale into real buildings, and how does AI help design it?</a:t>
            </a:r>
          </a:p>
        </p:txBody>
      </p:sp>
      <p:sp>
        <p:nvSpPr>
          <p:cNvPr id="13" name="TextBox 13"/>
          <p:cNvSpPr txBox="1"/>
          <p:nvPr/>
        </p:nvSpPr>
        <p:spPr>
          <a:xfrm>
            <a:off x="11927508" y="5881130"/>
            <a:ext cx="4908695" cy="648335"/>
          </a:xfrm>
          <a:prstGeom prst="rect">
            <a:avLst/>
          </a:prstGeom>
        </p:spPr>
        <p:txBody>
          <a:bodyPr lIns="0" tIns="0" rIns="0" bIns="0" rtlCol="0" anchor="t">
            <a:spAutoFit/>
          </a:bodyPr>
          <a:lstStyle/>
          <a:p>
            <a:pPr algn="ctr">
              <a:lnSpc>
                <a:spcPts val="2529"/>
              </a:lnSpc>
              <a:spcBef>
                <a:spcPct val="0"/>
              </a:spcBef>
            </a:pPr>
            <a:r>
              <a:rPr lang="en-US" sz="2299">
                <a:solidFill>
                  <a:srgbClr val="000000"/>
                </a:solidFill>
                <a:latin typeface="Vollkorn"/>
                <a:ea typeface="Vollkorn"/>
                <a:cs typeface="Vollkorn"/>
                <a:sym typeface="Vollkorn"/>
              </a:rPr>
              <a:t>How do webs differ from conventional rigid structures?</a:t>
            </a:r>
          </a:p>
        </p:txBody>
      </p:sp>
      <p:sp>
        <p:nvSpPr>
          <p:cNvPr id="14" name="TextBox 14"/>
          <p:cNvSpPr txBox="1"/>
          <p:nvPr/>
        </p:nvSpPr>
        <p:spPr>
          <a:xfrm>
            <a:off x="11521517" y="1482729"/>
            <a:ext cx="3411055" cy="444611"/>
          </a:xfrm>
          <a:prstGeom prst="rect">
            <a:avLst/>
          </a:prstGeom>
        </p:spPr>
        <p:txBody>
          <a:bodyPr lIns="0" tIns="0" rIns="0" bIns="0" rtlCol="0" anchor="t">
            <a:spAutoFit/>
          </a:bodyPr>
          <a:lstStyle/>
          <a:p>
            <a:pPr algn="ctr">
              <a:lnSpc>
                <a:spcPts val="3398"/>
              </a:lnSpc>
              <a:spcBef>
                <a:spcPct val="0"/>
              </a:spcBef>
            </a:pPr>
            <a:r>
              <a:rPr lang="en-US" sz="3089" b="1">
                <a:solidFill>
                  <a:srgbClr val="000000"/>
                </a:solidFill>
                <a:latin typeface="Vollkorn Bold"/>
                <a:ea typeface="Vollkorn Bold"/>
                <a:cs typeface="Vollkorn Bold"/>
                <a:sym typeface="Vollkorn Bold"/>
              </a:rPr>
              <a:t>Questions to ask:</a:t>
            </a:r>
          </a:p>
        </p:txBody>
      </p:sp>
      <p:sp>
        <p:nvSpPr>
          <p:cNvPr id="15" name="TextBox 15"/>
          <p:cNvSpPr txBox="1"/>
          <p:nvPr/>
        </p:nvSpPr>
        <p:spPr>
          <a:xfrm>
            <a:off x="274895" y="8882574"/>
            <a:ext cx="11560855" cy="780026"/>
          </a:xfrm>
          <a:prstGeom prst="rect">
            <a:avLst/>
          </a:prstGeom>
        </p:spPr>
        <p:txBody>
          <a:bodyPr lIns="0" tIns="0" rIns="0" bIns="0" rtlCol="0" anchor="t">
            <a:spAutoFit/>
          </a:bodyPr>
          <a:lstStyle/>
          <a:p>
            <a:pPr algn="ctr">
              <a:lnSpc>
                <a:spcPts val="3094"/>
              </a:lnSpc>
              <a:spcBef>
                <a:spcPct val="0"/>
              </a:spcBef>
            </a:pPr>
            <a:r>
              <a:rPr lang="en-US" sz="2813" b="1">
                <a:solidFill>
                  <a:srgbClr val="000000"/>
                </a:solidFill>
                <a:latin typeface="Vollkorn Bold"/>
                <a:ea typeface="Vollkorn Bold"/>
                <a:cs typeface="Vollkorn Bold"/>
                <a:sym typeface="Vollkorn Bold"/>
              </a:rPr>
              <a:t>Structures that copy spider-web geometry can match conventional strength while using noticeably less material.</a:t>
            </a:r>
          </a:p>
        </p:txBody>
      </p:sp>
      <p:sp>
        <p:nvSpPr>
          <p:cNvPr id="16" name="Freeform 16"/>
          <p:cNvSpPr/>
          <p:nvPr/>
        </p:nvSpPr>
        <p:spPr>
          <a:xfrm rot="5400000" flipV="1">
            <a:off x="-150488" y="-16336"/>
            <a:ext cx="1915698" cy="1772021"/>
          </a:xfrm>
          <a:custGeom>
            <a:avLst/>
            <a:gdLst/>
            <a:ahLst/>
            <a:cxnLst/>
            <a:rect l="l" t="t" r="r" b="b"/>
            <a:pathLst>
              <a:path w="1915698" h="1772021">
                <a:moveTo>
                  <a:pt x="0" y="1772021"/>
                </a:moveTo>
                <a:lnTo>
                  <a:pt x="1915698" y="1772021"/>
                </a:lnTo>
                <a:lnTo>
                  <a:pt x="1915698" y="0"/>
                </a:lnTo>
                <a:lnTo>
                  <a:pt x="0" y="0"/>
                </a:lnTo>
                <a:lnTo>
                  <a:pt x="0" y="1772021"/>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rot="5400000" flipV="1">
            <a:off x="-222606"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447302" y="3750647"/>
            <a:ext cx="6049917" cy="4851277"/>
          </a:xfrm>
          <a:custGeom>
            <a:avLst/>
            <a:gdLst/>
            <a:ahLst/>
            <a:cxnLst/>
            <a:rect l="l" t="t" r="r" b="b"/>
            <a:pathLst>
              <a:path w="6049917" h="4851277">
                <a:moveTo>
                  <a:pt x="0" y="0"/>
                </a:moveTo>
                <a:lnTo>
                  <a:pt x="6049917" y="0"/>
                </a:lnTo>
                <a:lnTo>
                  <a:pt x="6049917" y="4851277"/>
                </a:lnTo>
                <a:lnTo>
                  <a:pt x="0" y="4851277"/>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738849" y="445876"/>
            <a:ext cx="11481350" cy="1232323"/>
          </a:xfrm>
          <a:prstGeom prst="rect">
            <a:avLst/>
          </a:prstGeom>
        </p:spPr>
        <p:txBody>
          <a:bodyPr lIns="0" tIns="0" rIns="0" bIns="0" rtlCol="0" anchor="t">
            <a:spAutoFit/>
          </a:bodyPr>
          <a:lstStyle/>
          <a:p>
            <a:pPr algn="l">
              <a:lnSpc>
                <a:spcPts val="9386"/>
              </a:lnSpc>
            </a:pPr>
            <a:r>
              <a:rPr lang="en-US" sz="8533">
                <a:solidFill>
                  <a:srgbClr val="1B1B1B"/>
                </a:solidFill>
                <a:latin typeface="Vollkorn"/>
                <a:ea typeface="Vollkorn"/>
                <a:cs typeface="Vollkorn"/>
                <a:sym typeface="Vollkorn"/>
              </a:rPr>
              <a:t>Biological phenomenon</a:t>
            </a:r>
          </a:p>
        </p:txBody>
      </p:sp>
      <p:sp>
        <p:nvSpPr>
          <p:cNvPr id="5" name="TextBox 5"/>
          <p:cNvSpPr txBox="1"/>
          <p:nvPr/>
        </p:nvSpPr>
        <p:spPr>
          <a:xfrm>
            <a:off x="6914163" y="2862383"/>
            <a:ext cx="10345137" cy="6676784"/>
          </a:xfrm>
          <a:prstGeom prst="rect">
            <a:avLst/>
          </a:prstGeom>
        </p:spPr>
        <p:txBody>
          <a:bodyPr lIns="0" tIns="0" rIns="0" bIns="0" rtlCol="0" anchor="t">
            <a:spAutoFit/>
          </a:bodyPr>
          <a:lstStyle/>
          <a:p>
            <a:pPr algn="just">
              <a:lnSpc>
                <a:spcPts val="3797"/>
              </a:lnSpc>
            </a:pPr>
            <a:r>
              <a:rPr lang="en-US" sz="3037">
                <a:solidFill>
                  <a:srgbClr val="1B1B1B"/>
                </a:solidFill>
                <a:latin typeface="Vollkorn"/>
                <a:ea typeface="Vollkorn"/>
                <a:cs typeface="Vollkorn"/>
                <a:sym typeface="Vollkorn"/>
              </a:rPr>
              <a:t>•</a:t>
            </a:r>
            <a:r>
              <a:rPr lang="en-US" sz="3037" b="1">
                <a:solidFill>
                  <a:srgbClr val="1B1B1B"/>
                </a:solidFill>
                <a:latin typeface="Vollkorn Bold"/>
                <a:ea typeface="Vollkorn Bold"/>
                <a:cs typeface="Vollkorn Bold"/>
                <a:sym typeface="Vollkorn Bold"/>
              </a:rPr>
              <a:t>Radial Threads</a:t>
            </a:r>
            <a:r>
              <a:rPr lang="en-US" sz="3037">
                <a:solidFill>
                  <a:srgbClr val="1B1B1B"/>
                </a:solidFill>
                <a:latin typeface="Vollkorn"/>
                <a:ea typeface="Vollkorn"/>
                <a:cs typeface="Vollkorn"/>
                <a:sym typeface="Vollkorn"/>
              </a:rPr>
              <a:t>: Strong supporting threads extend outward from the centre and carry much of the load applied to the web.</a:t>
            </a:r>
          </a:p>
          <a:p>
            <a:pPr algn="just">
              <a:lnSpc>
                <a:spcPts val="3797"/>
              </a:lnSpc>
            </a:pPr>
            <a:endParaRPr lang="en-US" sz="3037">
              <a:solidFill>
                <a:srgbClr val="1B1B1B"/>
              </a:solidFill>
              <a:latin typeface="Vollkorn"/>
              <a:ea typeface="Vollkorn"/>
              <a:cs typeface="Vollkorn"/>
              <a:sym typeface="Vollkorn"/>
            </a:endParaRPr>
          </a:p>
          <a:p>
            <a:pPr algn="just">
              <a:lnSpc>
                <a:spcPts val="3797"/>
              </a:lnSpc>
            </a:pPr>
            <a:r>
              <a:rPr lang="en-US" sz="3037">
                <a:solidFill>
                  <a:srgbClr val="1B1B1B"/>
                </a:solidFill>
                <a:latin typeface="Vollkorn"/>
                <a:ea typeface="Vollkorn"/>
                <a:cs typeface="Vollkorn"/>
                <a:sym typeface="Vollkorn"/>
              </a:rPr>
              <a:t>•</a:t>
            </a:r>
            <a:r>
              <a:rPr lang="en-US" sz="3037" b="1">
                <a:solidFill>
                  <a:srgbClr val="1B1B1B"/>
                </a:solidFill>
                <a:latin typeface="Vollkorn Bold"/>
                <a:ea typeface="Vollkorn Bold"/>
                <a:cs typeface="Vollkorn Bold"/>
                <a:sym typeface="Vollkorn Bold"/>
              </a:rPr>
              <a:t>Spiral Threads</a:t>
            </a:r>
            <a:r>
              <a:rPr lang="en-US" sz="3037">
                <a:solidFill>
                  <a:srgbClr val="1B1B1B"/>
                </a:solidFill>
                <a:latin typeface="Vollkorn"/>
                <a:ea typeface="Vollkorn"/>
                <a:cs typeface="Vollkorn"/>
                <a:sym typeface="Vollkorn"/>
              </a:rPr>
              <a:t>: Connecting threads link the radial framework and help capture prey while maintaining the web's structure.</a:t>
            </a:r>
          </a:p>
          <a:p>
            <a:pPr algn="just">
              <a:lnSpc>
                <a:spcPts val="3797"/>
              </a:lnSpc>
            </a:pPr>
            <a:endParaRPr lang="en-US" sz="3037">
              <a:solidFill>
                <a:srgbClr val="1B1B1B"/>
              </a:solidFill>
              <a:latin typeface="Vollkorn"/>
              <a:ea typeface="Vollkorn"/>
              <a:cs typeface="Vollkorn"/>
              <a:sym typeface="Vollkorn"/>
            </a:endParaRPr>
          </a:p>
          <a:p>
            <a:pPr algn="just">
              <a:lnSpc>
                <a:spcPts val="3797"/>
              </a:lnSpc>
            </a:pPr>
            <a:r>
              <a:rPr lang="en-US" sz="3037">
                <a:solidFill>
                  <a:srgbClr val="1B1B1B"/>
                </a:solidFill>
                <a:latin typeface="Vollkorn"/>
                <a:ea typeface="Vollkorn"/>
                <a:cs typeface="Vollkorn"/>
                <a:sym typeface="Vollkorn"/>
              </a:rPr>
              <a:t>•</a:t>
            </a:r>
            <a:r>
              <a:rPr lang="en-US" sz="3037" b="1">
                <a:solidFill>
                  <a:srgbClr val="1B1B1B"/>
                </a:solidFill>
                <a:latin typeface="Vollkorn Bold"/>
                <a:ea typeface="Vollkorn Bold"/>
                <a:cs typeface="Vollkorn Bold"/>
                <a:sym typeface="Vollkorn Bold"/>
              </a:rPr>
              <a:t>Network Connectivity</a:t>
            </a:r>
            <a:r>
              <a:rPr lang="en-US" sz="3037">
                <a:solidFill>
                  <a:srgbClr val="1B1B1B"/>
                </a:solidFill>
                <a:latin typeface="Vollkorn"/>
                <a:ea typeface="Vollkorn"/>
                <a:cs typeface="Vollkorn"/>
                <a:sym typeface="Vollkorn"/>
              </a:rPr>
              <a:t>: Interconnected threads allow forces to travel across different parts of the web instead of remaining at one point.</a:t>
            </a:r>
          </a:p>
          <a:p>
            <a:pPr algn="just">
              <a:lnSpc>
                <a:spcPts val="3797"/>
              </a:lnSpc>
            </a:pPr>
            <a:endParaRPr lang="en-US" sz="3037">
              <a:solidFill>
                <a:srgbClr val="1B1B1B"/>
              </a:solidFill>
              <a:latin typeface="Vollkorn"/>
              <a:ea typeface="Vollkorn"/>
              <a:cs typeface="Vollkorn"/>
              <a:sym typeface="Vollkorn"/>
            </a:endParaRPr>
          </a:p>
          <a:p>
            <a:pPr algn="just">
              <a:lnSpc>
                <a:spcPts val="3797"/>
              </a:lnSpc>
            </a:pPr>
            <a:r>
              <a:rPr lang="en-US" sz="3037">
                <a:solidFill>
                  <a:srgbClr val="1B1B1B"/>
                </a:solidFill>
                <a:latin typeface="Vollkorn"/>
                <a:ea typeface="Vollkorn"/>
                <a:cs typeface="Vollkorn"/>
                <a:sym typeface="Vollkorn"/>
              </a:rPr>
              <a:t>•</a:t>
            </a:r>
            <a:r>
              <a:rPr lang="en-US" sz="3037" b="1">
                <a:solidFill>
                  <a:srgbClr val="1B1B1B"/>
                </a:solidFill>
                <a:latin typeface="Vollkorn Bold"/>
                <a:ea typeface="Vollkorn Bold"/>
                <a:cs typeface="Vollkorn Bold"/>
                <a:sym typeface="Vollkorn Bold"/>
              </a:rPr>
              <a:t>Structural Efficiency</a:t>
            </a:r>
            <a:r>
              <a:rPr lang="en-US" sz="3037">
                <a:solidFill>
                  <a:srgbClr val="1B1B1B"/>
                </a:solidFill>
                <a:latin typeface="Vollkorn"/>
                <a:ea typeface="Vollkorn"/>
                <a:cs typeface="Vollkorn"/>
                <a:sym typeface="Vollkorn"/>
              </a:rPr>
              <a:t>: The open network provides useful strength and flexibility while using very little material.</a:t>
            </a:r>
          </a:p>
        </p:txBody>
      </p:sp>
      <p:sp>
        <p:nvSpPr>
          <p:cNvPr id="6" name="TextBox 6"/>
          <p:cNvSpPr txBox="1"/>
          <p:nvPr/>
        </p:nvSpPr>
        <p:spPr>
          <a:xfrm>
            <a:off x="4947285" y="1802661"/>
            <a:ext cx="8371676" cy="558773"/>
          </a:xfrm>
          <a:prstGeom prst="rect">
            <a:avLst/>
          </a:prstGeom>
        </p:spPr>
        <p:txBody>
          <a:bodyPr lIns="0" tIns="0" rIns="0" bIns="0" rtlCol="0" anchor="t">
            <a:spAutoFit/>
          </a:bodyPr>
          <a:lstStyle/>
          <a:p>
            <a:pPr algn="l">
              <a:lnSpc>
                <a:spcPts val="4374"/>
              </a:lnSpc>
            </a:pPr>
            <a:r>
              <a:rPr lang="en-US" sz="3499" spc="-157">
                <a:solidFill>
                  <a:srgbClr val="1B1B1B"/>
                </a:solidFill>
                <a:latin typeface="Vollkorn"/>
                <a:ea typeface="Vollkorn"/>
                <a:cs typeface="Vollkorn"/>
                <a:sym typeface="Vollkorn"/>
              </a:rPr>
              <a:t>Spider Web Architecture and Load Distribution</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164185" y="4063478"/>
            <a:ext cx="6597101" cy="3440841"/>
          </a:xfrm>
          <a:custGeom>
            <a:avLst/>
            <a:gdLst/>
            <a:ahLst/>
            <a:cxnLst/>
            <a:rect l="l" t="t" r="r" b="b"/>
            <a:pathLst>
              <a:path w="6597101" h="3440841">
                <a:moveTo>
                  <a:pt x="0" y="0"/>
                </a:moveTo>
                <a:lnTo>
                  <a:pt x="6597101" y="0"/>
                </a:lnTo>
                <a:lnTo>
                  <a:pt x="6597101" y="3440841"/>
                </a:lnTo>
                <a:lnTo>
                  <a:pt x="0" y="3440841"/>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971431" y="390525"/>
            <a:ext cx="11459369" cy="1232323"/>
          </a:xfrm>
          <a:prstGeom prst="rect">
            <a:avLst/>
          </a:prstGeom>
        </p:spPr>
        <p:txBody>
          <a:bodyPr lIns="0" tIns="0" rIns="0" bIns="0" rtlCol="0" anchor="t">
            <a:spAutoFit/>
          </a:bodyPr>
          <a:lstStyle/>
          <a:p>
            <a:pPr algn="l">
              <a:lnSpc>
                <a:spcPts val="9386"/>
              </a:lnSpc>
            </a:pPr>
            <a:r>
              <a:rPr lang="en-US" sz="8533">
                <a:solidFill>
                  <a:srgbClr val="1B1B1B"/>
                </a:solidFill>
                <a:latin typeface="Vollkorn"/>
                <a:ea typeface="Vollkorn"/>
                <a:cs typeface="Vollkorn"/>
                <a:sym typeface="Vollkorn"/>
              </a:rPr>
              <a:t>Biological phenomenon</a:t>
            </a:r>
          </a:p>
        </p:txBody>
      </p:sp>
      <p:sp>
        <p:nvSpPr>
          <p:cNvPr id="5" name="TextBox 5"/>
          <p:cNvSpPr txBox="1"/>
          <p:nvPr/>
        </p:nvSpPr>
        <p:spPr>
          <a:xfrm>
            <a:off x="6914163" y="2800874"/>
            <a:ext cx="10345137" cy="6457426"/>
          </a:xfrm>
          <a:prstGeom prst="rect">
            <a:avLst/>
          </a:prstGeom>
        </p:spPr>
        <p:txBody>
          <a:bodyPr lIns="0" tIns="0" rIns="0" bIns="0" rtlCol="0" anchor="t">
            <a:spAutoFit/>
          </a:bodyPr>
          <a:lstStyle/>
          <a:p>
            <a:pPr algn="just">
              <a:lnSpc>
                <a:spcPts val="3922"/>
              </a:lnSpc>
            </a:pPr>
            <a:r>
              <a:rPr lang="en-US" sz="3137">
                <a:solidFill>
                  <a:srgbClr val="1B1B1B"/>
                </a:solidFill>
                <a:latin typeface="Vollkorn"/>
                <a:ea typeface="Vollkorn"/>
                <a:cs typeface="Vollkorn"/>
                <a:sym typeface="Vollkorn"/>
              </a:rPr>
              <a:t>•</a:t>
            </a:r>
            <a:r>
              <a:rPr lang="en-US" sz="3137" b="1">
                <a:solidFill>
                  <a:srgbClr val="1B1B1B"/>
                </a:solidFill>
                <a:latin typeface="Vollkorn Bold"/>
                <a:ea typeface="Vollkorn Bold"/>
                <a:cs typeface="Vollkorn Bold"/>
                <a:sym typeface="Vollkorn Bold"/>
              </a:rPr>
              <a:t>Protein Composition</a:t>
            </a:r>
            <a:r>
              <a:rPr lang="en-US" sz="3137">
                <a:solidFill>
                  <a:srgbClr val="1B1B1B"/>
                </a:solidFill>
                <a:latin typeface="Vollkorn"/>
                <a:ea typeface="Vollkorn"/>
                <a:cs typeface="Vollkorn"/>
                <a:sym typeface="Vollkorn"/>
              </a:rPr>
              <a:t>: Spider silk is mainly made from proteins called spidroins, which determine many of its mechanical properties.</a:t>
            </a:r>
          </a:p>
          <a:p>
            <a:pPr algn="just">
              <a:lnSpc>
                <a:spcPts val="3922"/>
              </a:lnSpc>
            </a:pPr>
            <a:endParaRPr lang="en-US" sz="3137">
              <a:solidFill>
                <a:srgbClr val="1B1B1B"/>
              </a:solidFill>
              <a:latin typeface="Vollkorn"/>
              <a:ea typeface="Vollkorn"/>
              <a:cs typeface="Vollkorn"/>
              <a:sym typeface="Vollkorn"/>
            </a:endParaRPr>
          </a:p>
          <a:p>
            <a:pPr algn="just">
              <a:lnSpc>
                <a:spcPts val="3922"/>
              </a:lnSpc>
            </a:pPr>
            <a:r>
              <a:rPr lang="en-US" sz="3137">
                <a:solidFill>
                  <a:srgbClr val="1B1B1B"/>
                </a:solidFill>
                <a:latin typeface="Vollkorn"/>
                <a:ea typeface="Vollkorn"/>
                <a:cs typeface="Vollkorn"/>
                <a:sym typeface="Vollkorn"/>
              </a:rPr>
              <a:t>•</a:t>
            </a:r>
            <a:r>
              <a:rPr lang="en-US" sz="3137" b="1">
                <a:solidFill>
                  <a:srgbClr val="1B1B1B"/>
                </a:solidFill>
                <a:latin typeface="Vollkorn Bold"/>
                <a:ea typeface="Vollkorn Bold"/>
                <a:cs typeface="Vollkorn Bold"/>
                <a:sym typeface="Vollkorn Bold"/>
              </a:rPr>
              <a:t>Beta Sheet Nanocrystals</a:t>
            </a:r>
            <a:r>
              <a:rPr lang="en-US" sz="3137">
                <a:solidFill>
                  <a:srgbClr val="1B1B1B"/>
                </a:solidFill>
                <a:latin typeface="Vollkorn"/>
                <a:ea typeface="Vollkorn"/>
                <a:cs typeface="Vollkorn"/>
                <a:sym typeface="Vollkorn"/>
              </a:rPr>
              <a:t>: These ordered protein regions help the silk resist deformation and provide strength.</a:t>
            </a:r>
          </a:p>
          <a:p>
            <a:pPr algn="just">
              <a:lnSpc>
                <a:spcPts val="3922"/>
              </a:lnSpc>
            </a:pPr>
            <a:endParaRPr lang="en-US" sz="3137">
              <a:solidFill>
                <a:srgbClr val="1B1B1B"/>
              </a:solidFill>
              <a:latin typeface="Vollkorn"/>
              <a:ea typeface="Vollkorn"/>
              <a:cs typeface="Vollkorn"/>
              <a:sym typeface="Vollkorn"/>
            </a:endParaRPr>
          </a:p>
          <a:p>
            <a:pPr algn="just">
              <a:lnSpc>
                <a:spcPts val="3922"/>
              </a:lnSpc>
            </a:pPr>
            <a:r>
              <a:rPr lang="en-US" sz="3137">
                <a:solidFill>
                  <a:srgbClr val="1B1B1B"/>
                </a:solidFill>
                <a:latin typeface="Vollkorn"/>
                <a:ea typeface="Vollkorn"/>
                <a:cs typeface="Vollkorn"/>
                <a:sym typeface="Vollkorn"/>
              </a:rPr>
              <a:t>•</a:t>
            </a:r>
            <a:r>
              <a:rPr lang="en-US" sz="3137" b="1">
                <a:solidFill>
                  <a:srgbClr val="1B1B1B"/>
                </a:solidFill>
                <a:latin typeface="Vollkorn Bold"/>
                <a:ea typeface="Vollkorn Bold"/>
                <a:cs typeface="Vollkorn Bold"/>
                <a:sym typeface="Vollkorn Bold"/>
              </a:rPr>
              <a:t>Amorphous Regions</a:t>
            </a:r>
            <a:r>
              <a:rPr lang="en-US" sz="3137">
                <a:solidFill>
                  <a:srgbClr val="1B1B1B"/>
                </a:solidFill>
                <a:latin typeface="Vollkorn"/>
                <a:ea typeface="Vollkorn"/>
                <a:cs typeface="Vollkorn"/>
                <a:sym typeface="Vollkorn"/>
              </a:rPr>
              <a:t>: Less ordered protein regions allow the fibres to stretch and absorb mechanical energy.</a:t>
            </a:r>
          </a:p>
          <a:p>
            <a:pPr algn="just">
              <a:lnSpc>
                <a:spcPts val="3922"/>
              </a:lnSpc>
            </a:pPr>
            <a:endParaRPr lang="en-US" sz="3137">
              <a:solidFill>
                <a:srgbClr val="1B1B1B"/>
              </a:solidFill>
              <a:latin typeface="Vollkorn"/>
              <a:ea typeface="Vollkorn"/>
              <a:cs typeface="Vollkorn"/>
              <a:sym typeface="Vollkorn"/>
            </a:endParaRPr>
          </a:p>
          <a:p>
            <a:pPr algn="just">
              <a:lnSpc>
                <a:spcPts val="3922"/>
              </a:lnSpc>
            </a:pPr>
            <a:r>
              <a:rPr lang="en-US" sz="3137">
                <a:solidFill>
                  <a:srgbClr val="1B1B1B"/>
                </a:solidFill>
                <a:latin typeface="Vollkorn"/>
                <a:ea typeface="Vollkorn"/>
                <a:cs typeface="Vollkorn"/>
                <a:sym typeface="Vollkorn"/>
              </a:rPr>
              <a:t>•</a:t>
            </a:r>
            <a:r>
              <a:rPr lang="en-US" sz="3137" b="1">
                <a:solidFill>
                  <a:srgbClr val="1B1B1B"/>
                </a:solidFill>
                <a:latin typeface="Vollkorn Bold"/>
                <a:ea typeface="Vollkorn Bold"/>
                <a:cs typeface="Vollkorn Bold"/>
                <a:sym typeface="Vollkorn Bold"/>
              </a:rPr>
              <a:t>Combined Properties</a:t>
            </a:r>
            <a:r>
              <a:rPr lang="en-US" sz="3137">
                <a:solidFill>
                  <a:srgbClr val="1B1B1B"/>
                </a:solidFill>
                <a:latin typeface="Vollkorn"/>
                <a:ea typeface="Vollkorn"/>
                <a:cs typeface="Vollkorn"/>
                <a:sym typeface="Vollkorn"/>
              </a:rPr>
              <a:t>: The molecular arrangement balances strength, flexibility, and energy absorption within a lightweight fibre.</a:t>
            </a:r>
          </a:p>
        </p:txBody>
      </p:sp>
      <p:sp>
        <p:nvSpPr>
          <p:cNvPr id="6" name="TextBox 6"/>
          <p:cNvSpPr txBox="1"/>
          <p:nvPr/>
        </p:nvSpPr>
        <p:spPr>
          <a:xfrm>
            <a:off x="4924203" y="1802661"/>
            <a:ext cx="9553826" cy="558773"/>
          </a:xfrm>
          <a:prstGeom prst="rect">
            <a:avLst/>
          </a:prstGeom>
        </p:spPr>
        <p:txBody>
          <a:bodyPr lIns="0" tIns="0" rIns="0" bIns="0" rtlCol="0" anchor="t">
            <a:spAutoFit/>
          </a:bodyPr>
          <a:lstStyle/>
          <a:p>
            <a:pPr algn="just">
              <a:lnSpc>
                <a:spcPts val="4374"/>
              </a:lnSpc>
            </a:pPr>
            <a:r>
              <a:rPr lang="en-US" sz="3499" spc="-97">
                <a:solidFill>
                  <a:srgbClr val="1B1B1B"/>
                </a:solidFill>
                <a:latin typeface="Vollkorn"/>
                <a:ea typeface="Vollkorn"/>
                <a:cs typeface="Vollkorn"/>
                <a:sym typeface="Vollkorn"/>
              </a:rPr>
              <a:t>Spider Silk: Molecular Structure and Properties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3" name="Freeform 3"/>
          <p:cNvSpPr/>
          <p:nvPr/>
        </p:nvSpPr>
        <p:spPr>
          <a:xfrm>
            <a:off x="251083" y="4055447"/>
            <a:ext cx="6938553" cy="4625702"/>
          </a:xfrm>
          <a:custGeom>
            <a:avLst/>
            <a:gdLst/>
            <a:ahLst/>
            <a:cxnLst/>
            <a:rect l="l" t="t" r="r" b="b"/>
            <a:pathLst>
              <a:path w="6938553" h="4625702">
                <a:moveTo>
                  <a:pt x="0" y="0"/>
                </a:moveTo>
                <a:lnTo>
                  <a:pt x="6938553" y="0"/>
                </a:lnTo>
                <a:lnTo>
                  <a:pt x="6938553" y="4625702"/>
                </a:lnTo>
                <a:lnTo>
                  <a:pt x="0" y="4625702"/>
                </a:lnTo>
                <a:lnTo>
                  <a:pt x="0" y="0"/>
                </a:lnTo>
                <a:close/>
              </a:path>
            </a:pathLst>
          </a:custGeom>
          <a:blipFill>
            <a:blip r:embed="rId3"/>
            <a:stretch>
              <a:fillRect/>
            </a:stretch>
          </a:blipFill>
        </p:spPr>
        <p:txBody>
          <a:bodyPr/>
          <a:lstStyle/>
          <a:p>
            <a:endParaRPr lang="en-US"/>
          </a:p>
        </p:txBody>
      </p:sp>
      <p:sp>
        <p:nvSpPr>
          <p:cNvPr id="4" name="TextBox 4"/>
          <p:cNvSpPr txBox="1"/>
          <p:nvPr/>
        </p:nvSpPr>
        <p:spPr>
          <a:xfrm>
            <a:off x="3687671" y="292010"/>
            <a:ext cx="11525312" cy="1232323"/>
          </a:xfrm>
          <a:prstGeom prst="rect">
            <a:avLst/>
          </a:prstGeom>
        </p:spPr>
        <p:txBody>
          <a:bodyPr lIns="0" tIns="0" rIns="0" bIns="0" rtlCol="0" anchor="t">
            <a:spAutoFit/>
          </a:bodyPr>
          <a:lstStyle/>
          <a:p>
            <a:pPr algn="l">
              <a:lnSpc>
                <a:spcPts val="9386"/>
              </a:lnSpc>
            </a:pPr>
            <a:r>
              <a:rPr lang="en-US" sz="8533">
                <a:solidFill>
                  <a:srgbClr val="1B1B1B"/>
                </a:solidFill>
                <a:latin typeface="Vollkorn"/>
                <a:ea typeface="Vollkorn"/>
                <a:cs typeface="Vollkorn"/>
                <a:sym typeface="Vollkorn"/>
              </a:rPr>
              <a:t>Biological phenomenon</a:t>
            </a:r>
          </a:p>
        </p:txBody>
      </p:sp>
      <p:sp>
        <p:nvSpPr>
          <p:cNvPr id="5" name="TextBox 5"/>
          <p:cNvSpPr txBox="1"/>
          <p:nvPr/>
        </p:nvSpPr>
        <p:spPr>
          <a:xfrm>
            <a:off x="7418138" y="2628134"/>
            <a:ext cx="10345137" cy="6952752"/>
          </a:xfrm>
          <a:prstGeom prst="rect">
            <a:avLst/>
          </a:prstGeom>
        </p:spPr>
        <p:txBody>
          <a:bodyPr lIns="0" tIns="0" rIns="0" bIns="0" rtlCol="0" anchor="t">
            <a:spAutoFit/>
          </a:bodyPr>
          <a:lstStyle/>
          <a:p>
            <a:pPr algn="just">
              <a:lnSpc>
                <a:spcPts val="3922"/>
              </a:lnSpc>
            </a:pPr>
            <a:r>
              <a:rPr lang="en-US" sz="3137">
                <a:solidFill>
                  <a:srgbClr val="1B1B1B"/>
                </a:solidFill>
                <a:latin typeface="Vollkorn"/>
                <a:ea typeface="Vollkorn"/>
                <a:cs typeface="Vollkorn"/>
                <a:sym typeface="Vollkorn"/>
              </a:rPr>
              <a:t>•</a:t>
            </a:r>
            <a:r>
              <a:rPr lang="en-US" sz="3137" b="1">
                <a:solidFill>
                  <a:srgbClr val="1B1B1B"/>
                </a:solidFill>
                <a:latin typeface="Vollkorn Bold"/>
                <a:ea typeface="Vollkorn Bold"/>
                <a:cs typeface="Vollkorn Bold"/>
                <a:sym typeface="Vollkorn Bold"/>
              </a:rPr>
              <a:t>Fibre Stretching</a:t>
            </a:r>
            <a:r>
              <a:rPr lang="en-US" sz="3137">
                <a:solidFill>
                  <a:srgbClr val="1B1B1B"/>
                </a:solidFill>
                <a:latin typeface="Vollkorn"/>
                <a:ea typeface="Vollkorn"/>
                <a:cs typeface="Vollkorn"/>
                <a:sym typeface="Vollkorn"/>
              </a:rPr>
              <a:t>: Threads stretch and deform when an insect strikes the web, helping manage the impact.</a:t>
            </a:r>
          </a:p>
          <a:p>
            <a:pPr algn="just">
              <a:lnSpc>
                <a:spcPts val="3922"/>
              </a:lnSpc>
            </a:pPr>
            <a:endParaRPr lang="en-US" sz="3137">
              <a:solidFill>
                <a:srgbClr val="1B1B1B"/>
              </a:solidFill>
              <a:latin typeface="Vollkorn"/>
              <a:ea typeface="Vollkorn"/>
              <a:cs typeface="Vollkorn"/>
              <a:sym typeface="Vollkorn"/>
            </a:endParaRPr>
          </a:p>
          <a:p>
            <a:pPr algn="just">
              <a:lnSpc>
                <a:spcPts val="3922"/>
              </a:lnSpc>
            </a:pPr>
            <a:r>
              <a:rPr lang="en-US" sz="3137">
                <a:solidFill>
                  <a:srgbClr val="1B1B1B"/>
                </a:solidFill>
                <a:latin typeface="Vollkorn"/>
                <a:ea typeface="Vollkorn"/>
                <a:cs typeface="Vollkorn"/>
                <a:sym typeface="Vollkorn"/>
              </a:rPr>
              <a:t>•</a:t>
            </a:r>
            <a:r>
              <a:rPr lang="en-US" sz="3137" b="1">
                <a:solidFill>
                  <a:srgbClr val="1B1B1B"/>
                </a:solidFill>
                <a:latin typeface="Vollkorn Bold"/>
                <a:ea typeface="Vollkorn Bold"/>
                <a:cs typeface="Vollkorn Bold"/>
                <a:sym typeface="Vollkorn Bold"/>
              </a:rPr>
              <a:t>Energy Dissipation</a:t>
            </a:r>
            <a:r>
              <a:rPr lang="en-US" sz="3137">
                <a:solidFill>
                  <a:srgbClr val="1B1B1B"/>
                </a:solidFill>
                <a:latin typeface="Vollkorn"/>
                <a:ea typeface="Vollkorn"/>
                <a:cs typeface="Vollkorn"/>
                <a:sym typeface="Vollkorn"/>
              </a:rPr>
              <a:t>: Silk deformation and aerodynamic effects help reduce the energy transferred during prey impact.</a:t>
            </a:r>
          </a:p>
          <a:p>
            <a:pPr algn="just">
              <a:lnSpc>
                <a:spcPts val="3922"/>
              </a:lnSpc>
            </a:pPr>
            <a:endParaRPr lang="en-US" sz="3137">
              <a:solidFill>
                <a:srgbClr val="1B1B1B"/>
              </a:solidFill>
              <a:latin typeface="Vollkorn"/>
              <a:ea typeface="Vollkorn"/>
              <a:cs typeface="Vollkorn"/>
              <a:sym typeface="Vollkorn"/>
            </a:endParaRPr>
          </a:p>
          <a:p>
            <a:pPr algn="just">
              <a:lnSpc>
                <a:spcPts val="3922"/>
              </a:lnSpc>
            </a:pPr>
            <a:r>
              <a:rPr lang="en-US" sz="3137">
                <a:solidFill>
                  <a:srgbClr val="1B1B1B"/>
                </a:solidFill>
                <a:latin typeface="Vollkorn"/>
                <a:ea typeface="Vollkorn"/>
                <a:cs typeface="Vollkorn"/>
                <a:sym typeface="Vollkorn"/>
              </a:rPr>
              <a:t>•</a:t>
            </a:r>
            <a:r>
              <a:rPr lang="en-US" sz="3137" b="1">
                <a:solidFill>
                  <a:srgbClr val="1B1B1B"/>
                </a:solidFill>
                <a:latin typeface="Vollkorn Bold"/>
                <a:ea typeface="Vollkorn Bold"/>
                <a:cs typeface="Vollkorn Bold"/>
                <a:sym typeface="Vollkorn Bold"/>
              </a:rPr>
              <a:t>Progressive Failure</a:t>
            </a:r>
            <a:r>
              <a:rPr lang="en-US" sz="3137">
                <a:solidFill>
                  <a:srgbClr val="1B1B1B"/>
                </a:solidFill>
                <a:latin typeface="Vollkorn"/>
                <a:ea typeface="Vollkorn"/>
                <a:cs typeface="Vollkorn"/>
                <a:sym typeface="Vollkorn"/>
              </a:rPr>
              <a:t>: Some threads may break under stress without immediately causing the entire web to collapse.</a:t>
            </a:r>
          </a:p>
          <a:p>
            <a:pPr algn="just">
              <a:lnSpc>
                <a:spcPts val="3922"/>
              </a:lnSpc>
            </a:pPr>
            <a:endParaRPr lang="en-US" sz="3137">
              <a:solidFill>
                <a:srgbClr val="1B1B1B"/>
              </a:solidFill>
              <a:latin typeface="Vollkorn"/>
              <a:ea typeface="Vollkorn"/>
              <a:cs typeface="Vollkorn"/>
              <a:sym typeface="Vollkorn"/>
            </a:endParaRPr>
          </a:p>
          <a:p>
            <a:pPr algn="just">
              <a:lnSpc>
                <a:spcPts val="3922"/>
              </a:lnSpc>
            </a:pPr>
            <a:r>
              <a:rPr lang="en-US" sz="3137">
                <a:solidFill>
                  <a:srgbClr val="1B1B1B"/>
                </a:solidFill>
                <a:latin typeface="Vollkorn"/>
                <a:ea typeface="Vollkorn"/>
                <a:cs typeface="Vollkorn"/>
                <a:sym typeface="Vollkorn"/>
              </a:rPr>
              <a:t>•</a:t>
            </a:r>
            <a:r>
              <a:rPr lang="en-US" sz="3137" b="1">
                <a:solidFill>
                  <a:srgbClr val="1B1B1B"/>
                </a:solidFill>
                <a:latin typeface="Vollkorn Bold"/>
                <a:ea typeface="Vollkorn Bold"/>
                <a:cs typeface="Vollkorn Bold"/>
                <a:sym typeface="Vollkorn Bold"/>
              </a:rPr>
              <a:t>Vibration Transmission</a:t>
            </a:r>
            <a:r>
              <a:rPr lang="en-US" sz="3137">
                <a:solidFill>
                  <a:srgbClr val="1B1B1B"/>
                </a:solidFill>
                <a:latin typeface="Vollkorn"/>
                <a:ea typeface="Vollkorn"/>
                <a:cs typeface="Vollkorn"/>
                <a:sym typeface="Vollkorn"/>
              </a:rPr>
              <a:t>: Vibrations travel through the connected threads, allowing spiders to detect movement and locate prey.</a:t>
            </a:r>
          </a:p>
        </p:txBody>
      </p:sp>
      <p:sp>
        <p:nvSpPr>
          <p:cNvPr id="6" name="TextBox 6"/>
          <p:cNvSpPr txBox="1"/>
          <p:nvPr/>
        </p:nvSpPr>
        <p:spPr>
          <a:xfrm>
            <a:off x="4401639" y="1802661"/>
            <a:ext cx="10078327" cy="558773"/>
          </a:xfrm>
          <a:prstGeom prst="rect">
            <a:avLst/>
          </a:prstGeom>
        </p:spPr>
        <p:txBody>
          <a:bodyPr lIns="0" tIns="0" rIns="0" bIns="0" rtlCol="0" anchor="t">
            <a:spAutoFit/>
          </a:bodyPr>
          <a:lstStyle/>
          <a:p>
            <a:pPr algn="just">
              <a:lnSpc>
                <a:spcPts val="4374"/>
              </a:lnSpc>
            </a:pPr>
            <a:r>
              <a:rPr lang="en-US" sz="3499" spc="-97">
                <a:solidFill>
                  <a:srgbClr val="1B1B1B"/>
                </a:solidFill>
                <a:latin typeface="Vollkorn"/>
                <a:ea typeface="Vollkorn"/>
                <a:cs typeface="Vollkorn"/>
                <a:sym typeface="Vollkorn"/>
              </a:rPr>
              <a:t>Web Mechanics: Impact and Energy Dissipation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pic>
        <p:nvPicPr>
          <p:cNvPr id="2" name="Picture 2"/>
          <p:cNvPicPr>
            <a:picLocks noChangeAspect="1"/>
          </p:cNvPicPr>
          <p:nvPr>
            <a:videoFile r:link="rId1"/>
          </p:nvPr>
        </p:nvPicPr>
        <p:blipFill>
          <a:blip r:embed="rId3"/>
          <a:stretch>
            <a:fillRect/>
          </a:stretch>
        </p:blipFill>
        <p:spPr>
          <a:xfrm>
            <a:off x="2448163" y="1380032"/>
            <a:ext cx="13391674" cy="7526936"/>
          </a:xfrm>
          <a:prstGeom prst="rect">
            <a:avLst/>
          </a:prstGeom>
        </p:spPr>
      </p:pic>
      <p:sp>
        <p:nvSpPr>
          <p:cNvPr id="3" name="Freeform 3"/>
          <p:cNvSpPr/>
          <p:nvPr/>
        </p:nvSpPr>
        <p:spPr>
          <a:xfrm rot="5400000" flipV="1">
            <a:off x="-188846" y="22021"/>
            <a:ext cx="2938561" cy="2718169"/>
          </a:xfrm>
          <a:custGeom>
            <a:avLst/>
            <a:gdLst/>
            <a:ahLst/>
            <a:cxnLst/>
            <a:rect l="l" t="t" r="r" b="b"/>
            <a:pathLst>
              <a:path w="2938561" h="2718169">
                <a:moveTo>
                  <a:pt x="0" y="2718169"/>
                </a:moveTo>
                <a:lnTo>
                  <a:pt x="2938561" y="2718169"/>
                </a:lnTo>
                <a:lnTo>
                  <a:pt x="2938561" y="0"/>
                </a:lnTo>
                <a:lnTo>
                  <a:pt x="0" y="0"/>
                </a:lnTo>
                <a:lnTo>
                  <a:pt x="0" y="2718169"/>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3839672" y="3222824"/>
            <a:ext cx="8995925" cy="4830128"/>
          </a:xfrm>
          <a:prstGeom prst="rect">
            <a:avLst/>
          </a:prstGeom>
        </p:spPr>
        <p:txBody>
          <a:bodyPr lIns="0" tIns="0" rIns="0" bIns="0" rtlCol="0" anchor="t">
            <a:spAutoFit/>
          </a:bodyPr>
          <a:lstStyle/>
          <a:p>
            <a:pPr algn="l">
              <a:lnSpc>
                <a:spcPts val="5499"/>
              </a:lnSpc>
            </a:pPr>
            <a:r>
              <a:rPr lang="en-US" sz="4399">
                <a:solidFill>
                  <a:srgbClr val="1B1B1B"/>
                </a:solidFill>
                <a:latin typeface="The Seasons"/>
                <a:ea typeface="The Seasons"/>
                <a:cs typeface="The Seasons"/>
                <a:sym typeface="The Seasons"/>
              </a:rPr>
              <a:t>Bioinspired energy-absorbing structures have found widespread applications in fields like:</a:t>
            </a:r>
          </a:p>
          <a:p>
            <a:pPr algn="l">
              <a:lnSpc>
                <a:spcPts val="5645"/>
              </a:lnSpc>
            </a:pPr>
            <a:endParaRPr lang="en-US" sz="4399">
              <a:solidFill>
                <a:srgbClr val="1B1B1B"/>
              </a:solidFill>
              <a:latin typeface="The Seasons"/>
              <a:ea typeface="The Seasons"/>
              <a:cs typeface="The Seasons"/>
              <a:sym typeface="The Seasons"/>
            </a:endParaRPr>
          </a:p>
          <a:p>
            <a:pPr marL="928369" lvl="1" indent="-464185" algn="l">
              <a:lnSpc>
                <a:spcPts val="5374"/>
              </a:lnSpc>
              <a:buFont typeface="Arial"/>
              <a:buChar char="•"/>
            </a:pPr>
            <a:r>
              <a:rPr lang="en-US" sz="4299">
                <a:solidFill>
                  <a:srgbClr val="1B1B1B"/>
                </a:solidFill>
                <a:latin typeface="Vollkorn"/>
                <a:ea typeface="Vollkorn"/>
                <a:cs typeface="Vollkorn"/>
                <a:sym typeface="Vollkorn"/>
              </a:rPr>
              <a:t> Architecture</a:t>
            </a:r>
          </a:p>
          <a:p>
            <a:pPr marL="928369" lvl="1" indent="-464185" algn="l">
              <a:lnSpc>
                <a:spcPts val="5374"/>
              </a:lnSpc>
              <a:buFont typeface="Arial"/>
              <a:buChar char="•"/>
            </a:pPr>
            <a:r>
              <a:rPr lang="en-US" sz="4299">
                <a:solidFill>
                  <a:srgbClr val="1B1B1B"/>
                </a:solidFill>
                <a:latin typeface="Vollkorn"/>
                <a:ea typeface="Vollkorn"/>
                <a:cs typeface="Vollkorn"/>
                <a:sym typeface="Vollkorn"/>
              </a:rPr>
              <a:t> Mechanical engineering</a:t>
            </a:r>
          </a:p>
          <a:p>
            <a:pPr marL="928369" lvl="1" indent="-464185" algn="l">
              <a:lnSpc>
                <a:spcPts val="5374"/>
              </a:lnSpc>
              <a:buFont typeface="Arial"/>
              <a:buChar char="•"/>
            </a:pPr>
            <a:r>
              <a:rPr lang="en-US" sz="4299">
                <a:solidFill>
                  <a:srgbClr val="1B1B1B"/>
                </a:solidFill>
                <a:latin typeface="Vollkorn"/>
                <a:ea typeface="Vollkorn"/>
                <a:cs typeface="Vollkorn"/>
                <a:sym typeface="Vollkorn"/>
              </a:rPr>
              <a:t>Automotive Engineering</a:t>
            </a:r>
          </a:p>
        </p:txBody>
      </p:sp>
      <p:sp>
        <p:nvSpPr>
          <p:cNvPr id="3" name="TextBox 3"/>
          <p:cNvSpPr txBox="1"/>
          <p:nvPr/>
        </p:nvSpPr>
        <p:spPr>
          <a:xfrm>
            <a:off x="5525413" y="298450"/>
            <a:ext cx="6625546" cy="1379091"/>
          </a:xfrm>
          <a:prstGeom prst="rect">
            <a:avLst/>
          </a:prstGeom>
        </p:spPr>
        <p:txBody>
          <a:bodyPr lIns="0" tIns="0" rIns="0" bIns="0" rtlCol="0" anchor="t">
            <a:spAutoFit/>
          </a:bodyPr>
          <a:lstStyle/>
          <a:p>
            <a:pPr algn="l">
              <a:lnSpc>
                <a:spcPts val="9349"/>
              </a:lnSpc>
            </a:pPr>
            <a:r>
              <a:rPr lang="en-US" sz="8499" b="1">
                <a:solidFill>
                  <a:srgbClr val="1B1B1B"/>
                </a:solidFill>
                <a:latin typeface="Times New Roman MT Semi-Bold"/>
                <a:ea typeface="Times New Roman MT Semi-Bold"/>
                <a:cs typeface="Times New Roman MT Semi-Bold"/>
                <a:sym typeface="Times New Roman MT Semi-Bold"/>
              </a:rPr>
              <a:t>Applications</a:t>
            </a:r>
          </a:p>
        </p:txBody>
      </p:sp>
      <p:sp>
        <p:nvSpPr>
          <p:cNvPr id="4" name="Freeform 4"/>
          <p:cNvSpPr/>
          <p:nvPr/>
        </p:nvSpPr>
        <p:spPr>
          <a:xfrm rot="-5400000">
            <a:off x="-441944" y="6460591"/>
            <a:ext cx="4448432" cy="4114800"/>
          </a:xfrm>
          <a:custGeom>
            <a:avLst/>
            <a:gdLst/>
            <a:ahLst/>
            <a:cxnLst/>
            <a:rect l="l" t="t" r="r" b="b"/>
            <a:pathLst>
              <a:path w="4448432" h="4114800">
                <a:moveTo>
                  <a:pt x="0" y="0"/>
                </a:moveTo>
                <a:lnTo>
                  <a:pt x="4448432" y="0"/>
                </a:lnTo>
                <a:lnTo>
                  <a:pt x="444843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rot="-5400000" flipV="1">
            <a:off x="14006384" y="6157129"/>
            <a:ext cx="4448432" cy="4114800"/>
          </a:xfrm>
          <a:custGeom>
            <a:avLst/>
            <a:gdLst/>
            <a:ahLst/>
            <a:cxnLst/>
            <a:rect l="l" t="t" r="r" b="b"/>
            <a:pathLst>
              <a:path w="4448432" h="4114800">
                <a:moveTo>
                  <a:pt x="0" y="4114800"/>
                </a:moveTo>
                <a:lnTo>
                  <a:pt x="4448432" y="4114800"/>
                </a:lnTo>
                <a:lnTo>
                  <a:pt x="4448432" y="0"/>
                </a:lnTo>
                <a:lnTo>
                  <a:pt x="0" y="0"/>
                </a:lnTo>
                <a:lnTo>
                  <a:pt x="0" y="411480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2150889" y="1831236"/>
            <a:ext cx="5108411" cy="6414321"/>
          </a:xfrm>
          <a:custGeom>
            <a:avLst/>
            <a:gdLst/>
            <a:ahLst/>
            <a:cxnLst/>
            <a:rect l="l" t="t" r="r" b="b"/>
            <a:pathLst>
              <a:path w="5108411" h="6414321">
                <a:moveTo>
                  <a:pt x="0" y="0"/>
                </a:moveTo>
                <a:lnTo>
                  <a:pt x="5108411" y="0"/>
                </a:lnTo>
                <a:lnTo>
                  <a:pt x="5108411" y="6414321"/>
                </a:lnTo>
                <a:lnTo>
                  <a:pt x="0" y="6414321"/>
                </a:lnTo>
                <a:lnTo>
                  <a:pt x="0" y="0"/>
                </a:lnTo>
                <a:close/>
              </a:path>
            </a:pathLst>
          </a:custGeom>
          <a:blipFill>
            <a:blip r:embed="rId2"/>
            <a:stretch>
              <a:fillRect/>
            </a:stretch>
          </a:blipFill>
          <a:ln w="57150" cap="sq">
            <a:solidFill>
              <a:srgbClr val="000000"/>
            </a:solidFill>
            <a:prstDash val="solid"/>
            <a:miter/>
          </a:ln>
        </p:spPr>
        <p:txBody>
          <a:bodyPr/>
          <a:lstStyle/>
          <a:p>
            <a:endParaRPr lang="en-US"/>
          </a:p>
        </p:txBody>
      </p:sp>
      <p:sp>
        <p:nvSpPr>
          <p:cNvPr id="3" name="TextBox 3"/>
          <p:cNvSpPr txBox="1"/>
          <p:nvPr/>
        </p:nvSpPr>
        <p:spPr>
          <a:xfrm>
            <a:off x="296031" y="3014170"/>
            <a:ext cx="11368559" cy="6741160"/>
          </a:xfrm>
          <a:prstGeom prst="rect">
            <a:avLst/>
          </a:prstGeom>
        </p:spPr>
        <p:txBody>
          <a:bodyPr lIns="0" tIns="0" rIns="0" bIns="0" rtlCol="0" anchor="t">
            <a:spAutoFit/>
          </a:bodyPr>
          <a:lstStyle/>
          <a:p>
            <a:pPr marL="604521" lvl="1" indent="-302261" algn="l">
              <a:lnSpc>
                <a:spcPts val="3080"/>
              </a:lnSpc>
              <a:spcBef>
                <a:spcPct val="0"/>
              </a:spcBef>
              <a:buFont typeface="Arial"/>
              <a:buChar char="•"/>
            </a:pPr>
            <a:r>
              <a:rPr lang="en-US" sz="2800">
                <a:solidFill>
                  <a:srgbClr val="000000"/>
                </a:solidFill>
                <a:latin typeface="Vollkorn"/>
                <a:ea typeface="Vollkorn"/>
                <a:cs typeface="Vollkorn"/>
                <a:sym typeface="Vollkorn"/>
              </a:rPr>
              <a:t>Tensile-Driven Geometry: A spider web is a tension-based structure, much like cable nets or suspension bridges. The load is carried primarily through tension, allowing for minimal material use while maintaining structural integrity</a:t>
            </a:r>
          </a:p>
          <a:p>
            <a:pPr algn="l">
              <a:lnSpc>
                <a:spcPts val="1319"/>
              </a:lnSpc>
              <a:spcBef>
                <a:spcPct val="0"/>
              </a:spcBef>
            </a:pPr>
            <a:endParaRPr lang="en-US" sz="2800">
              <a:solidFill>
                <a:srgbClr val="000000"/>
              </a:solidFill>
              <a:latin typeface="Vollkorn"/>
              <a:ea typeface="Vollkorn"/>
              <a:cs typeface="Vollkorn"/>
              <a:sym typeface="Vollkorn"/>
            </a:endParaRPr>
          </a:p>
          <a:p>
            <a:pPr marL="604521" lvl="1" indent="-302261" algn="l">
              <a:lnSpc>
                <a:spcPts val="3080"/>
              </a:lnSpc>
              <a:spcBef>
                <a:spcPct val="0"/>
              </a:spcBef>
              <a:buFont typeface="Arial"/>
              <a:buChar char="•"/>
            </a:pPr>
            <a:r>
              <a:rPr lang="en-US" sz="2800">
                <a:solidFill>
                  <a:srgbClr val="000000"/>
                </a:solidFill>
                <a:latin typeface="Vollkorn"/>
                <a:ea typeface="Vollkorn"/>
                <a:cs typeface="Vollkorn"/>
                <a:sym typeface="Vollkorn"/>
              </a:rPr>
              <a:t>Redundancy and Damage Tolerance: When one strand of the web breaks, the rest of the system can redistribute the load, preventing catastrophic failure—a concept increasingly used in earthquake-resistant design.</a:t>
            </a:r>
          </a:p>
          <a:p>
            <a:pPr algn="l">
              <a:lnSpc>
                <a:spcPts val="1319"/>
              </a:lnSpc>
              <a:spcBef>
                <a:spcPct val="0"/>
              </a:spcBef>
            </a:pPr>
            <a:endParaRPr lang="en-US" sz="2800">
              <a:solidFill>
                <a:srgbClr val="000000"/>
              </a:solidFill>
              <a:latin typeface="Vollkorn"/>
              <a:ea typeface="Vollkorn"/>
              <a:cs typeface="Vollkorn"/>
              <a:sym typeface="Vollkorn"/>
            </a:endParaRPr>
          </a:p>
          <a:p>
            <a:pPr marL="604521" lvl="1" indent="-302261" algn="l">
              <a:lnSpc>
                <a:spcPts val="3080"/>
              </a:lnSpc>
              <a:spcBef>
                <a:spcPct val="0"/>
              </a:spcBef>
              <a:buFont typeface="Arial"/>
              <a:buChar char="•"/>
            </a:pPr>
            <a:r>
              <a:rPr lang="en-US" sz="2800">
                <a:solidFill>
                  <a:srgbClr val="000000"/>
                </a:solidFill>
                <a:latin typeface="Vollkorn"/>
                <a:ea typeface="Vollkorn"/>
                <a:cs typeface="Vollkorn"/>
                <a:sym typeface="Vollkorn"/>
              </a:rPr>
              <a:t>Form-Finding Through Function: Spiders instinctively build their webs based on environmental conditions. Similarly, engineers use form-finding techniques like dynamic relaxation and optimization algorithms to determine efficient structural forms.</a:t>
            </a:r>
          </a:p>
          <a:p>
            <a:pPr algn="l">
              <a:lnSpc>
                <a:spcPts val="1319"/>
              </a:lnSpc>
              <a:spcBef>
                <a:spcPct val="0"/>
              </a:spcBef>
            </a:pPr>
            <a:endParaRPr lang="en-US" sz="2800">
              <a:solidFill>
                <a:srgbClr val="000000"/>
              </a:solidFill>
              <a:latin typeface="Vollkorn"/>
              <a:ea typeface="Vollkorn"/>
              <a:cs typeface="Vollkorn"/>
              <a:sym typeface="Vollkorn"/>
            </a:endParaRPr>
          </a:p>
          <a:p>
            <a:pPr marL="604521" lvl="1" indent="-302261" algn="l">
              <a:lnSpc>
                <a:spcPts val="3080"/>
              </a:lnSpc>
              <a:spcBef>
                <a:spcPct val="0"/>
              </a:spcBef>
              <a:buFont typeface="Arial"/>
              <a:buChar char="•"/>
            </a:pPr>
            <a:r>
              <a:rPr lang="en-US" sz="2800">
                <a:solidFill>
                  <a:srgbClr val="000000"/>
                </a:solidFill>
                <a:latin typeface="Vollkorn"/>
                <a:ea typeface="Vollkorn"/>
                <a:cs typeface="Vollkorn"/>
                <a:sym typeface="Vollkorn"/>
              </a:rPr>
              <a:t>Lightweight Yet Strong: Spider silk is stronger than steel by weight. While we don’t yet have industrial equivalents, the principle of maximizing strength while minimizing mass is a key goal in structural engineering.</a:t>
            </a:r>
          </a:p>
        </p:txBody>
      </p:sp>
      <p:sp>
        <p:nvSpPr>
          <p:cNvPr id="4" name="TextBox 4"/>
          <p:cNvSpPr txBox="1"/>
          <p:nvPr/>
        </p:nvSpPr>
        <p:spPr>
          <a:xfrm>
            <a:off x="1803580" y="1480991"/>
            <a:ext cx="8316176" cy="1054100"/>
          </a:xfrm>
          <a:prstGeom prst="rect">
            <a:avLst/>
          </a:prstGeom>
        </p:spPr>
        <p:txBody>
          <a:bodyPr lIns="0" tIns="0" rIns="0" bIns="0" rtlCol="0" anchor="t">
            <a:spAutoFit/>
          </a:bodyPr>
          <a:lstStyle/>
          <a:p>
            <a:pPr algn="ctr">
              <a:lnSpc>
                <a:spcPts val="3849"/>
              </a:lnSpc>
              <a:spcBef>
                <a:spcPct val="0"/>
              </a:spcBef>
            </a:pPr>
            <a:r>
              <a:rPr lang="en-US" sz="3499" b="1">
                <a:solidFill>
                  <a:srgbClr val="000000"/>
                </a:solidFill>
                <a:latin typeface="Times New Roman MT Semi-Bold"/>
                <a:ea typeface="Times New Roman MT Semi-Bold"/>
                <a:cs typeface="Times New Roman MT Semi-Bold"/>
                <a:sym typeface="Times New Roman MT Semi-Bold"/>
              </a:rPr>
              <a:t>Why use Spider -Web inspired Structural Engineering?</a:t>
            </a:r>
          </a:p>
        </p:txBody>
      </p:sp>
      <p:sp>
        <p:nvSpPr>
          <p:cNvPr id="5" name="TextBox 5"/>
          <p:cNvSpPr txBox="1"/>
          <p:nvPr/>
        </p:nvSpPr>
        <p:spPr>
          <a:xfrm>
            <a:off x="12150889" y="8487133"/>
            <a:ext cx="5086201" cy="386684"/>
          </a:xfrm>
          <a:prstGeom prst="rect">
            <a:avLst/>
          </a:prstGeom>
        </p:spPr>
        <p:txBody>
          <a:bodyPr lIns="0" tIns="0" rIns="0" bIns="0" rtlCol="0" anchor="t">
            <a:spAutoFit/>
          </a:bodyPr>
          <a:lstStyle/>
          <a:p>
            <a:pPr algn="ctr">
              <a:lnSpc>
                <a:spcPts val="2967"/>
              </a:lnSpc>
              <a:spcBef>
                <a:spcPct val="0"/>
              </a:spcBef>
            </a:pPr>
            <a:r>
              <a:rPr lang="en-US" sz="2697">
                <a:solidFill>
                  <a:srgbClr val="000000"/>
                </a:solidFill>
                <a:latin typeface="Work Sans"/>
                <a:ea typeface="Work Sans"/>
                <a:cs typeface="Work Sans"/>
                <a:sym typeface="Work Sans"/>
              </a:rPr>
              <a:t>Munich Olympic Stadium-1972</a:t>
            </a:r>
          </a:p>
        </p:txBody>
      </p:sp>
      <p:sp>
        <p:nvSpPr>
          <p:cNvPr id="6" name="Freeform 6"/>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7" name="TextBox 7"/>
          <p:cNvSpPr txBox="1"/>
          <p:nvPr/>
        </p:nvSpPr>
        <p:spPr>
          <a:xfrm>
            <a:off x="12521464" y="8975326"/>
            <a:ext cx="4367261" cy="800227"/>
          </a:xfrm>
          <a:prstGeom prst="rect">
            <a:avLst/>
          </a:prstGeom>
        </p:spPr>
        <p:txBody>
          <a:bodyPr lIns="0" tIns="0" rIns="0" bIns="0" rtlCol="0" anchor="t">
            <a:spAutoFit/>
          </a:bodyPr>
          <a:lstStyle/>
          <a:p>
            <a:pPr algn="ctr">
              <a:lnSpc>
                <a:spcPts val="2048"/>
              </a:lnSpc>
              <a:spcBef>
                <a:spcPct val="0"/>
              </a:spcBef>
            </a:pPr>
            <a:r>
              <a:rPr lang="en-US" sz="1862">
                <a:solidFill>
                  <a:srgbClr val="3F6B06"/>
                </a:solidFill>
                <a:latin typeface="Vollkorn"/>
                <a:ea typeface="Vollkorn"/>
                <a:cs typeface="Vollkorn"/>
                <a:sym typeface="Vollkorn"/>
              </a:rPr>
              <a:t>Frei Otto's cable-net roof showed how web-like tension can be scaled into architecture.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1803580" y="1480991"/>
            <a:ext cx="8316176" cy="568325"/>
          </a:xfrm>
          <a:prstGeom prst="rect">
            <a:avLst/>
          </a:prstGeom>
        </p:spPr>
        <p:txBody>
          <a:bodyPr lIns="0" tIns="0" rIns="0" bIns="0" rtlCol="0" anchor="t">
            <a:spAutoFit/>
          </a:bodyPr>
          <a:lstStyle/>
          <a:p>
            <a:pPr algn="ctr">
              <a:lnSpc>
                <a:spcPts val="3849"/>
              </a:lnSpc>
              <a:spcBef>
                <a:spcPct val="0"/>
              </a:spcBef>
            </a:pPr>
            <a:r>
              <a:rPr lang="en-US" sz="3499" b="1">
                <a:solidFill>
                  <a:srgbClr val="000000"/>
                </a:solidFill>
                <a:latin typeface="Times New Roman MT Semi-Bold"/>
                <a:ea typeface="Times New Roman MT Semi-Bold"/>
                <a:cs typeface="Times New Roman MT Semi-Bold"/>
                <a:sym typeface="Times New Roman MT Semi-Bold"/>
              </a:rPr>
              <a:t>Materials &amp; Manufacturing</a:t>
            </a:r>
          </a:p>
        </p:txBody>
      </p:sp>
      <p:sp>
        <p:nvSpPr>
          <p:cNvPr id="3" name="Freeform 3"/>
          <p:cNvSpPr/>
          <p:nvPr/>
        </p:nvSpPr>
        <p:spPr>
          <a:xfrm>
            <a:off x="1249280" y="2208162"/>
            <a:ext cx="4889444" cy="4669419"/>
          </a:xfrm>
          <a:custGeom>
            <a:avLst/>
            <a:gdLst/>
            <a:ahLst/>
            <a:cxnLst/>
            <a:rect l="l" t="t" r="r" b="b"/>
            <a:pathLst>
              <a:path w="4889444" h="4669419">
                <a:moveTo>
                  <a:pt x="0" y="0"/>
                </a:moveTo>
                <a:lnTo>
                  <a:pt x="4889444" y="0"/>
                </a:lnTo>
                <a:lnTo>
                  <a:pt x="4889444" y="4669419"/>
                </a:lnTo>
                <a:lnTo>
                  <a:pt x="0" y="46694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a:off x="6697856" y="2208162"/>
            <a:ext cx="4889444" cy="4669419"/>
          </a:xfrm>
          <a:custGeom>
            <a:avLst/>
            <a:gdLst/>
            <a:ahLst/>
            <a:cxnLst/>
            <a:rect l="l" t="t" r="r" b="b"/>
            <a:pathLst>
              <a:path w="4889444" h="4669419">
                <a:moveTo>
                  <a:pt x="0" y="0"/>
                </a:moveTo>
                <a:lnTo>
                  <a:pt x="4889445" y="0"/>
                </a:lnTo>
                <a:lnTo>
                  <a:pt x="4889445" y="4669419"/>
                </a:lnTo>
                <a:lnTo>
                  <a:pt x="0" y="46694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Freeform 5"/>
          <p:cNvSpPr/>
          <p:nvPr/>
        </p:nvSpPr>
        <p:spPr>
          <a:xfrm>
            <a:off x="12149276" y="2208162"/>
            <a:ext cx="4889444" cy="4669419"/>
          </a:xfrm>
          <a:custGeom>
            <a:avLst/>
            <a:gdLst/>
            <a:ahLst/>
            <a:cxnLst/>
            <a:rect l="l" t="t" r="r" b="b"/>
            <a:pathLst>
              <a:path w="4889444" h="4669419">
                <a:moveTo>
                  <a:pt x="0" y="0"/>
                </a:moveTo>
                <a:lnTo>
                  <a:pt x="4889444" y="0"/>
                </a:lnTo>
                <a:lnTo>
                  <a:pt x="4889444" y="4669419"/>
                </a:lnTo>
                <a:lnTo>
                  <a:pt x="0" y="466941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6" name="Freeform 6"/>
          <p:cNvSpPr/>
          <p:nvPr/>
        </p:nvSpPr>
        <p:spPr>
          <a:xfrm>
            <a:off x="1803580" y="7510193"/>
            <a:ext cx="6006401" cy="2048346"/>
          </a:xfrm>
          <a:custGeom>
            <a:avLst/>
            <a:gdLst/>
            <a:ahLst/>
            <a:cxnLst/>
            <a:rect l="l" t="t" r="r" b="b"/>
            <a:pathLst>
              <a:path w="6006401" h="2048346">
                <a:moveTo>
                  <a:pt x="0" y="0"/>
                </a:moveTo>
                <a:lnTo>
                  <a:pt x="6006401" y="0"/>
                </a:lnTo>
                <a:lnTo>
                  <a:pt x="6006401" y="2048346"/>
                </a:lnTo>
                <a:lnTo>
                  <a:pt x="0" y="2048346"/>
                </a:lnTo>
                <a:lnTo>
                  <a:pt x="0" y="0"/>
                </a:lnTo>
                <a:close/>
              </a:path>
            </a:pathLst>
          </a:custGeom>
          <a:blipFill>
            <a:blip r:embed="rId3"/>
            <a:stretch>
              <a:fillRect r="-17643" b="-80030"/>
            </a:stretch>
          </a:blipFill>
        </p:spPr>
        <p:txBody>
          <a:bodyPr/>
          <a:lstStyle/>
          <a:p>
            <a:endParaRPr lang="en-US"/>
          </a:p>
        </p:txBody>
      </p:sp>
      <p:sp>
        <p:nvSpPr>
          <p:cNvPr id="7" name="Freeform 7"/>
          <p:cNvSpPr/>
          <p:nvPr/>
        </p:nvSpPr>
        <p:spPr>
          <a:xfrm>
            <a:off x="8658552" y="7029981"/>
            <a:ext cx="2848103" cy="2651258"/>
          </a:xfrm>
          <a:custGeom>
            <a:avLst/>
            <a:gdLst/>
            <a:ahLst/>
            <a:cxnLst/>
            <a:rect l="l" t="t" r="r" b="b"/>
            <a:pathLst>
              <a:path w="2848103" h="2651258">
                <a:moveTo>
                  <a:pt x="0" y="0"/>
                </a:moveTo>
                <a:lnTo>
                  <a:pt x="2848103" y="0"/>
                </a:lnTo>
                <a:lnTo>
                  <a:pt x="2848103" y="2651258"/>
                </a:lnTo>
                <a:lnTo>
                  <a:pt x="0" y="2651258"/>
                </a:lnTo>
                <a:lnTo>
                  <a:pt x="0" y="0"/>
                </a:lnTo>
                <a:close/>
              </a:path>
            </a:pathLst>
          </a:custGeom>
          <a:blipFill>
            <a:blip r:embed="rId4"/>
            <a:stretch>
              <a:fillRect/>
            </a:stretch>
          </a:blipFill>
        </p:spPr>
        <p:txBody>
          <a:bodyPr/>
          <a:lstStyle/>
          <a:p>
            <a:endParaRPr lang="en-US"/>
          </a:p>
        </p:txBody>
      </p:sp>
      <p:sp>
        <p:nvSpPr>
          <p:cNvPr id="8" name="Freeform 8"/>
          <p:cNvSpPr/>
          <p:nvPr/>
        </p:nvSpPr>
        <p:spPr>
          <a:xfrm>
            <a:off x="13259030" y="7194458"/>
            <a:ext cx="3096406" cy="2322304"/>
          </a:xfrm>
          <a:custGeom>
            <a:avLst/>
            <a:gdLst/>
            <a:ahLst/>
            <a:cxnLst/>
            <a:rect l="l" t="t" r="r" b="b"/>
            <a:pathLst>
              <a:path w="3096406" h="2322304">
                <a:moveTo>
                  <a:pt x="0" y="0"/>
                </a:moveTo>
                <a:lnTo>
                  <a:pt x="3096405" y="0"/>
                </a:lnTo>
                <a:lnTo>
                  <a:pt x="3096405" y="2322304"/>
                </a:lnTo>
                <a:lnTo>
                  <a:pt x="0" y="2322304"/>
                </a:lnTo>
                <a:lnTo>
                  <a:pt x="0" y="0"/>
                </a:lnTo>
                <a:close/>
              </a:path>
            </a:pathLst>
          </a:custGeom>
          <a:blipFill>
            <a:blip r:embed="rId5"/>
            <a:stretch>
              <a:fillRect/>
            </a:stretch>
          </a:blipFill>
        </p:spPr>
        <p:txBody>
          <a:bodyPr/>
          <a:lstStyle/>
          <a:p>
            <a:endParaRPr lang="en-US"/>
          </a:p>
        </p:txBody>
      </p:sp>
      <p:sp>
        <p:nvSpPr>
          <p:cNvPr id="9" name="TextBox 9"/>
          <p:cNvSpPr txBox="1"/>
          <p:nvPr/>
        </p:nvSpPr>
        <p:spPr>
          <a:xfrm>
            <a:off x="1433151" y="3321341"/>
            <a:ext cx="3514130" cy="434340"/>
          </a:xfrm>
          <a:prstGeom prst="rect">
            <a:avLst/>
          </a:prstGeom>
        </p:spPr>
        <p:txBody>
          <a:bodyPr lIns="0" tIns="0" rIns="0" bIns="0" rtlCol="0" anchor="t">
            <a:spAutoFit/>
          </a:bodyPr>
          <a:lstStyle/>
          <a:p>
            <a:pPr algn="ctr">
              <a:lnSpc>
                <a:spcPts val="2970"/>
              </a:lnSpc>
              <a:spcBef>
                <a:spcPct val="0"/>
              </a:spcBef>
            </a:pPr>
            <a:r>
              <a:rPr lang="en-US" sz="2700" b="1">
                <a:solidFill>
                  <a:srgbClr val="FFFFFF"/>
                </a:solidFill>
                <a:latin typeface="Times New Roman MT Semi-Bold"/>
                <a:ea typeface="Times New Roman MT Semi-Bold"/>
                <a:cs typeface="Times New Roman MT Semi-Bold"/>
                <a:sym typeface="Times New Roman MT Semi-Bold"/>
              </a:rPr>
              <a:t>Spider-silk composites</a:t>
            </a:r>
          </a:p>
        </p:txBody>
      </p:sp>
      <p:sp>
        <p:nvSpPr>
          <p:cNvPr id="10" name="Freeform 10"/>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1" name="TextBox 11"/>
          <p:cNvSpPr txBox="1"/>
          <p:nvPr/>
        </p:nvSpPr>
        <p:spPr>
          <a:xfrm>
            <a:off x="12380948" y="3321341"/>
            <a:ext cx="4426100" cy="805815"/>
          </a:xfrm>
          <a:prstGeom prst="rect">
            <a:avLst/>
          </a:prstGeom>
        </p:spPr>
        <p:txBody>
          <a:bodyPr lIns="0" tIns="0" rIns="0" bIns="0" rtlCol="0" anchor="t">
            <a:spAutoFit/>
          </a:bodyPr>
          <a:lstStyle/>
          <a:p>
            <a:pPr algn="l">
              <a:lnSpc>
                <a:spcPts val="2970"/>
              </a:lnSpc>
              <a:spcBef>
                <a:spcPct val="0"/>
              </a:spcBef>
            </a:pPr>
            <a:r>
              <a:rPr lang="en-US" sz="2700" b="1">
                <a:solidFill>
                  <a:srgbClr val="FFFFFF"/>
                </a:solidFill>
                <a:latin typeface="Times New Roman MT Semi-Bold"/>
                <a:ea typeface="Times New Roman MT Semi-Bold"/>
                <a:cs typeface="Times New Roman MT Semi-Bold"/>
                <a:sym typeface="Times New Roman MT Semi-Bold"/>
              </a:rPr>
              <a:t>Robotic silk-inspired fabrication</a:t>
            </a:r>
          </a:p>
        </p:txBody>
      </p:sp>
      <p:sp>
        <p:nvSpPr>
          <p:cNvPr id="12" name="TextBox 12"/>
          <p:cNvSpPr txBox="1"/>
          <p:nvPr/>
        </p:nvSpPr>
        <p:spPr>
          <a:xfrm>
            <a:off x="6871378" y="3321341"/>
            <a:ext cx="3635573" cy="434340"/>
          </a:xfrm>
          <a:prstGeom prst="rect">
            <a:avLst/>
          </a:prstGeom>
        </p:spPr>
        <p:txBody>
          <a:bodyPr lIns="0" tIns="0" rIns="0" bIns="0" rtlCol="0" anchor="t">
            <a:spAutoFit/>
          </a:bodyPr>
          <a:lstStyle/>
          <a:p>
            <a:pPr algn="ctr">
              <a:lnSpc>
                <a:spcPts val="2970"/>
              </a:lnSpc>
              <a:spcBef>
                <a:spcPct val="0"/>
              </a:spcBef>
            </a:pPr>
            <a:r>
              <a:rPr lang="en-US" sz="2700" b="1">
                <a:solidFill>
                  <a:srgbClr val="FFFFFF"/>
                </a:solidFill>
                <a:latin typeface="Times New Roman MT Semi-Bold"/>
                <a:ea typeface="Times New Roman MT Semi-Bold"/>
                <a:cs typeface="Times New Roman MT Semi-Bold"/>
                <a:sym typeface="Times New Roman MT Semi-Bold"/>
              </a:rPr>
              <a:t>3D-printed web lattices</a:t>
            </a:r>
          </a:p>
        </p:txBody>
      </p:sp>
      <p:sp>
        <p:nvSpPr>
          <p:cNvPr id="13" name="TextBox 13"/>
          <p:cNvSpPr txBox="1"/>
          <p:nvPr/>
        </p:nvSpPr>
        <p:spPr>
          <a:xfrm>
            <a:off x="1420660" y="4098581"/>
            <a:ext cx="4486622" cy="1392555"/>
          </a:xfrm>
          <a:prstGeom prst="rect">
            <a:avLst/>
          </a:prstGeom>
        </p:spPr>
        <p:txBody>
          <a:bodyPr lIns="0" tIns="0" rIns="0" bIns="0" rtlCol="0" anchor="t">
            <a:spAutoFit/>
          </a:bodyPr>
          <a:lstStyle/>
          <a:p>
            <a:pPr algn="l">
              <a:lnSpc>
                <a:spcPts val="2639"/>
              </a:lnSpc>
              <a:spcBef>
                <a:spcPct val="0"/>
              </a:spcBef>
            </a:pPr>
            <a:r>
              <a:rPr lang="en-US" sz="2399">
                <a:solidFill>
                  <a:srgbClr val="FFFFFF"/>
                </a:solidFill>
                <a:latin typeface="Times New Roman MT"/>
                <a:ea typeface="Times New Roman MT"/>
                <a:cs typeface="Times New Roman MT"/>
                <a:sym typeface="Times New Roman MT"/>
              </a:rPr>
              <a:t>Light, strong materials for future buildings. Lab-made 'wrinkled' silk fibres have reached 1.61 GPa tensile strength (2025).</a:t>
            </a:r>
          </a:p>
        </p:txBody>
      </p:sp>
      <p:sp>
        <p:nvSpPr>
          <p:cNvPr id="14" name="TextBox 14"/>
          <p:cNvSpPr txBox="1"/>
          <p:nvPr/>
        </p:nvSpPr>
        <p:spPr>
          <a:xfrm>
            <a:off x="12320426" y="4250981"/>
            <a:ext cx="4486622" cy="1059180"/>
          </a:xfrm>
          <a:prstGeom prst="rect">
            <a:avLst/>
          </a:prstGeom>
        </p:spPr>
        <p:txBody>
          <a:bodyPr lIns="0" tIns="0" rIns="0" bIns="0" rtlCol="0" anchor="t">
            <a:spAutoFit/>
          </a:bodyPr>
          <a:lstStyle/>
          <a:p>
            <a:pPr algn="l">
              <a:lnSpc>
                <a:spcPts val="2639"/>
              </a:lnSpc>
              <a:spcBef>
                <a:spcPct val="0"/>
              </a:spcBef>
            </a:pPr>
            <a:r>
              <a:rPr lang="en-US" sz="2399">
                <a:solidFill>
                  <a:srgbClr val="FFFFFF"/>
                </a:solidFill>
                <a:latin typeface="Times New Roman MT"/>
                <a:ea typeface="Times New Roman MT"/>
                <a:cs typeface="Times New Roman MT"/>
                <a:sym typeface="Times New Roman MT"/>
              </a:rPr>
              <a:t>MIT Media Lab's CNSilk project explores robotic fabrication inspired by how silk is spun.</a:t>
            </a:r>
          </a:p>
        </p:txBody>
      </p:sp>
      <p:sp>
        <p:nvSpPr>
          <p:cNvPr id="15" name="TextBox 15"/>
          <p:cNvSpPr txBox="1"/>
          <p:nvPr/>
        </p:nvSpPr>
        <p:spPr>
          <a:xfrm>
            <a:off x="6871378" y="4098581"/>
            <a:ext cx="4486622" cy="1392555"/>
          </a:xfrm>
          <a:prstGeom prst="rect">
            <a:avLst/>
          </a:prstGeom>
        </p:spPr>
        <p:txBody>
          <a:bodyPr lIns="0" tIns="0" rIns="0" bIns="0" rtlCol="0" anchor="t">
            <a:spAutoFit/>
          </a:bodyPr>
          <a:lstStyle/>
          <a:p>
            <a:pPr algn="l">
              <a:lnSpc>
                <a:spcPts val="2639"/>
              </a:lnSpc>
              <a:spcBef>
                <a:spcPct val="0"/>
              </a:spcBef>
            </a:pPr>
            <a:r>
              <a:rPr lang="en-US" sz="2399">
                <a:solidFill>
                  <a:srgbClr val="FFFFFF"/>
                </a:solidFill>
                <a:latin typeface="Times New Roman MT"/>
                <a:ea typeface="Times New Roman MT"/>
                <a:cs typeface="Times New Roman MT"/>
                <a:sym typeface="Times New Roman MT"/>
              </a:rPr>
              <a:t>MIT researchers design synthetic webs, 3D-print them and test them; generative AI models (2023) now propose new web geometries.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1803580" y="1480991"/>
            <a:ext cx="8316176" cy="568325"/>
          </a:xfrm>
          <a:prstGeom prst="rect">
            <a:avLst/>
          </a:prstGeom>
        </p:spPr>
        <p:txBody>
          <a:bodyPr lIns="0" tIns="0" rIns="0" bIns="0" rtlCol="0" anchor="t">
            <a:spAutoFit/>
          </a:bodyPr>
          <a:lstStyle/>
          <a:p>
            <a:pPr algn="ctr">
              <a:lnSpc>
                <a:spcPts val="3849"/>
              </a:lnSpc>
              <a:spcBef>
                <a:spcPct val="0"/>
              </a:spcBef>
            </a:pPr>
            <a:r>
              <a:rPr lang="en-US" sz="3499" b="1">
                <a:solidFill>
                  <a:srgbClr val="000000"/>
                </a:solidFill>
                <a:latin typeface="Times New Roman MT Semi-Bold"/>
                <a:ea typeface="Times New Roman MT Semi-Bold"/>
                <a:cs typeface="Times New Roman MT Semi-Bold"/>
                <a:sym typeface="Times New Roman MT Semi-Bold"/>
              </a:rPr>
              <a:t>Safety, Sensing &amp; Smart Design</a:t>
            </a:r>
          </a:p>
        </p:txBody>
      </p:sp>
      <p:sp>
        <p:nvSpPr>
          <p:cNvPr id="3" name="Freeform 3"/>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TextBox 4"/>
          <p:cNvSpPr txBox="1"/>
          <p:nvPr/>
        </p:nvSpPr>
        <p:spPr>
          <a:xfrm>
            <a:off x="1687280" y="3130499"/>
            <a:ext cx="12567466" cy="4762500"/>
          </a:xfrm>
          <a:prstGeom prst="rect">
            <a:avLst/>
          </a:prstGeom>
        </p:spPr>
        <p:txBody>
          <a:bodyPr lIns="0" tIns="0" rIns="0" bIns="0" rtlCol="0" anchor="t">
            <a:spAutoFit/>
          </a:bodyPr>
          <a:lstStyle/>
          <a:p>
            <a:pPr marL="755649" lvl="1" indent="-377824" algn="l">
              <a:lnSpc>
                <a:spcPts val="3849"/>
              </a:lnSpc>
              <a:buAutoNum type="arabicPeriod"/>
            </a:pPr>
            <a:r>
              <a:rPr lang="en-US" sz="3499">
                <a:solidFill>
                  <a:srgbClr val="000000"/>
                </a:solidFill>
                <a:latin typeface="Times New Roman MT"/>
                <a:ea typeface="Times New Roman MT"/>
                <a:cs typeface="Times New Roman MT"/>
                <a:sym typeface="Times New Roman MT"/>
              </a:rPr>
              <a:t>Earthquake resistant design</a:t>
            </a:r>
          </a:p>
          <a:p>
            <a:pPr marL="539748" lvl="1" indent="-269874" algn="l">
              <a:lnSpc>
                <a:spcPts val="2749"/>
              </a:lnSpc>
              <a:buFont typeface="Arial"/>
              <a:buChar char="•"/>
            </a:pPr>
            <a:r>
              <a:rPr lang="en-US" sz="2499">
                <a:solidFill>
                  <a:srgbClr val="000000"/>
                </a:solidFill>
                <a:latin typeface="Times New Roman MT"/>
                <a:ea typeface="Times New Roman MT"/>
                <a:cs typeface="Times New Roman MT"/>
                <a:sym typeface="Times New Roman MT"/>
              </a:rPr>
              <a:t>Redundant load paths let a structure redistribute force if one member fails.</a:t>
            </a:r>
          </a:p>
          <a:p>
            <a:pPr algn="l">
              <a:lnSpc>
                <a:spcPts val="2749"/>
              </a:lnSpc>
            </a:pPr>
            <a:endParaRPr lang="en-US" sz="2499">
              <a:solidFill>
                <a:srgbClr val="000000"/>
              </a:solidFill>
              <a:latin typeface="Times New Roman MT"/>
              <a:ea typeface="Times New Roman MT"/>
              <a:cs typeface="Times New Roman MT"/>
              <a:sym typeface="Times New Roman MT"/>
            </a:endParaRPr>
          </a:p>
          <a:p>
            <a:pPr algn="l">
              <a:lnSpc>
                <a:spcPts val="3849"/>
              </a:lnSpc>
            </a:pPr>
            <a:r>
              <a:rPr lang="en-US" sz="3499">
                <a:solidFill>
                  <a:srgbClr val="000000"/>
                </a:solidFill>
                <a:latin typeface="Times New Roman MT"/>
                <a:ea typeface="Times New Roman MT"/>
                <a:cs typeface="Times New Roman MT"/>
                <a:sym typeface="Times New Roman MT"/>
              </a:rPr>
              <a:t>   2.Form finding algorithms</a:t>
            </a:r>
          </a:p>
          <a:p>
            <a:pPr marL="539749" lvl="1" indent="-269875" algn="l">
              <a:lnSpc>
                <a:spcPts val="2749"/>
              </a:lnSpc>
              <a:buFont typeface="Arial"/>
              <a:buChar char="•"/>
            </a:pPr>
            <a:r>
              <a:rPr lang="en-US" sz="2499">
                <a:solidFill>
                  <a:srgbClr val="000000"/>
                </a:solidFill>
                <a:latin typeface="Times New Roman MT"/>
                <a:ea typeface="Times New Roman MT"/>
                <a:cs typeface="Times New Roman MT"/>
                <a:sym typeface="Times New Roman MT"/>
              </a:rPr>
              <a:t> Dynamic relaxation and optimisation find efficient tension-structure shapes, as spiders do instinctively.</a:t>
            </a:r>
          </a:p>
          <a:p>
            <a:pPr algn="l">
              <a:lnSpc>
                <a:spcPts val="2749"/>
              </a:lnSpc>
            </a:pPr>
            <a:endParaRPr lang="en-US" sz="2499">
              <a:solidFill>
                <a:srgbClr val="000000"/>
              </a:solidFill>
              <a:latin typeface="Times New Roman MT"/>
              <a:ea typeface="Times New Roman MT"/>
              <a:cs typeface="Times New Roman MT"/>
              <a:sym typeface="Times New Roman MT"/>
            </a:endParaRPr>
          </a:p>
          <a:p>
            <a:pPr algn="l">
              <a:lnSpc>
                <a:spcPts val="3849"/>
              </a:lnSpc>
            </a:pPr>
            <a:r>
              <a:rPr lang="en-US" sz="3499">
                <a:solidFill>
                  <a:srgbClr val="000000"/>
                </a:solidFill>
                <a:latin typeface="Times New Roman MT"/>
                <a:ea typeface="Times New Roman MT"/>
                <a:cs typeface="Times New Roman MT"/>
                <a:sym typeface="Times New Roman MT"/>
              </a:rPr>
              <a:t>   3.bird safe glass</a:t>
            </a:r>
          </a:p>
          <a:p>
            <a:pPr marL="539749" lvl="1" indent="-269875" algn="l">
              <a:lnSpc>
                <a:spcPts val="2749"/>
              </a:lnSpc>
              <a:buFont typeface="Arial"/>
              <a:buChar char="•"/>
            </a:pPr>
            <a:r>
              <a:rPr lang="en-US" sz="2499">
                <a:solidFill>
                  <a:srgbClr val="000000"/>
                </a:solidFill>
                <a:latin typeface="Times New Roman MT"/>
                <a:ea typeface="Times New Roman MT"/>
                <a:cs typeface="Times New Roman MT"/>
                <a:sym typeface="Times New Roman MT"/>
              </a:rPr>
              <a:t>'Spiderweb glass' uses UV-reflective web patterns that birds can see, reducing collisions.</a:t>
            </a:r>
          </a:p>
          <a:p>
            <a:pPr algn="l">
              <a:lnSpc>
                <a:spcPts val="2749"/>
              </a:lnSpc>
            </a:pPr>
            <a:endParaRPr lang="en-US" sz="2499">
              <a:solidFill>
                <a:srgbClr val="000000"/>
              </a:solidFill>
              <a:latin typeface="Times New Roman MT"/>
              <a:ea typeface="Times New Roman MT"/>
              <a:cs typeface="Times New Roman MT"/>
              <a:sym typeface="Times New Roman MT"/>
            </a:endParaRPr>
          </a:p>
          <a:p>
            <a:pPr algn="l">
              <a:lnSpc>
                <a:spcPts val="3849"/>
              </a:lnSpc>
            </a:pPr>
            <a:r>
              <a:rPr lang="en-US" sz="3499">
                <a:solidFill>
                  <a:srgbClr val="000000"/>
                </a:solidFill>
                <a:latin typeface="Times New Roman MT"/>
                <a:ea typeface="Times New Roman MT"/>
                <a:cs typeface="Times New Roman MT"/>
                <a:sym typeface="Times New Roman MT"/>
              </a:rPr>
              <a:t>   4.smart sensing cables</a:t>
            </a:r>
          </a:p>
          <a:p>
            <a:pPr marL="539749" lvl="1" indent="-269875" algn="l">
              <a:lnSpc>
                <a:spcPts val="2749"/>
              </a:lnSpc>
              <a:spcBef>
                <a:spcPct val="0"/>
              </a:spcBef>
              <a:buFont typeface="Arial"/>
              <a:buChar char="•"/>
            </a:pPr>
            <a:r>
              <a:rPr lang="en-US" sz="2499">
                <a:solidFill>
                  <a:srgbClr val="000000"/>
                </a:solidFill>
                <a:latin typeface="Times New Roman MT"/>
                <a:ea typeface="Times New Roman MT"/>
                <a:cs typeface="Times New Roman MT"/>
                <a:sym typeface="Times New Roman MT"/>
              </a:rPr>
              <a:t>Idea under study: cables that sense vibration changes could give early warning of damage.</a:t>
            </a:r>
          </a:p>
        </p:txBody>
      </p:sp>
      <p:sp>
        <p:nvSpPr>
          <p:cNvPr id="5" name="Freeform 5"/>
          <p:cNvSpPr/>
          <p:nvPr/>
        </p:nvSpPr>
        <p:spPr>
          <a:xfrm>
            <a:off x="14567980" y="1839262"/>
            <a:ext cx="2532553" cy="2202594"/>
          </a:xfrm>
          <a:custGeom>
            <a:avLst/>
            <a:gdLst/>
            <a:ahLst/>
            <a:cxnLst/>
            <a:rect l="l" t="t" r="r" b="b"/>
            <a:pathLst>
              <a:path w="2532553" h="2202594">
                <a:moveTo>
                  <a:pt x="0" y="0"/>
                </a:moveTo>
                <a:lnTo>
                  <a:pt x="2532553" y="0"/>
                </a:lnTo>
                <a:lnTo>
                  <a:pt x="2532553" y="2202594"/>
                </a:lnTo>
                <a:lnTo>
                  <a:pt x="0" y="2202594"/>
                </a:lnTo>
                <a:lnTo>
                  <a:pt x="0" y="0"/>
                </a:lnTo>
                <a:close/>
              </a:path>
            </a:pathLst>
          </a:custGeom>
          <a:blipFill>
            <a:blip r:embed="rId3"/>
            <a:stretch>
              <a:fillRect r="-103611"/>
            </a:stretch>
          </a:blipFill>
        </p:spPr>
        <p:txBody>
          <a:bodyPr/>
          <a:lstStyle/>
          <a:p>
            <a:endParaRPr lang="en-US"/>
          </a:p>
        </p:txBody>
      </p:sp>
      <p:sp>
        <p:nvSpPr>
          <p:cNvPr id="6" name="Freeform 6"/>
          <p:cNvSpPr/>
          <p:nvPr/>
        </p:nvSpPr>
        <p:spPr>
          <a:xfrm>
            <a:off x="14491867" y="4066338"/>
            <a:ext cx="2608666" cy="2228546"/>
          </a:xfrm>
          <a:custGeom>
            <a:avLst/>
            <a:gdLst/>
            <a:ahLst/>
            <a:cxnLst/>
            <a:rect l="l" t="t" r="r" b="b"/>
            <a:pathLst>
              <a:path w="2608666" h="2228546">
                <a:moveTo>
                  <a:pt x="0" y="0"/>
                </a:moveTo>
                <a:lnTo>
                  <a:pt x="2608666" y="0"/>
                </a:lnTo>
                <a:lnTo>
                  <a:pt x="2608666" y="2228546"/>
                </a:lnTo>
                <a:lnTo>
                  <a:pt x="0" y="2228546"/>
                </a:lnTo>
                <a:lnTo>
                  <a:pt x="0" y="0"/>
                </a:lnTo>
                <a:close/>
              </a:path>
            </a:pathLst>
          </a:custGeom>
          <a:blipFill>
            <a:blip r:embed="rId3"/>
            <a:stretch>
              <a:fillRect l="-100000"/>
            </a:stretch>
          </a:blipFill>
        </p:spPr>
        <p:txBody>
          <a:bodyPr/>
          <a:lstStyle/>
          <a:p>
            <a:endParaRPr lang="en-US"/>
          </a:p>
        </p:txBody>
      </p:sp>
      <p:sp>
        <p:nvSpPr>
          <p:cNvPr id="7" name="Freeform 7"/>
          <p:cNvSpPr/>
          <p:nvPr/>
        </p:nvSpPr>
        <p:spPr>
          <a:xfrm>
            <a:off x="14555628" y="6527698"/>
            <a:ext cx="3496191" cy="2730602"/>
          </a:xfrm>
          <a:custGeom>
            <a:avLst/>
            <a:gdLst/>
            <a:ahLst/>
            <a:cxnLst/>
            <a:rect l="l" t="t" r="r" b="b"/>
            <a:pathLst>
              <a:path w="3496191" h="2730602">
                <a:moveTo>
                  <a:pt x="0" y="0"/>
                </a:moveTo>
                <a:lnTo>
                  <a:pt x="3496191" y="0"/>
                </a:lnTo>
                <a:lnTo>
                  <a:pt x="3496191" y="2730602"/>
                </a:lnTo>
                <a:lnTo>
                  <a:pt x="0" y="2730602"/>
                </a:lnTo>
                <a:lnTo>
                  <a:pt x="0" y="0"/>
                </a:lnTo>
                <a:close/>
              </a:path>
            </a:pathLst>
          </a:custGeom>
          <a:blipFill>
            <a:blip r:embed="rId4"/>
            <a:stretch>
              <a:fillRect/>
            </a:stretch>
          </a:blipFill>
        </p:spPr>
        <p:txBody>
          <a:bodyPr/>
          <a:lstStyle/>
          <a:p>
            <a:endParaRPr lang="en-US"/>
          </a:p>
        </p:txBody>
      </p:sp>
      <p:sp>
        <p:nvSpPr>
          <p:cNvPr id="8" name="AutoShape 8"/>
          <p:cNvSpPr/>
          <p:nvPr/>
        </p:nvSpPr>
        <p:spPr>
          <a:xfrm flipH="1">
            <a:off x="17100533" y="2940559"/>
            <a:ext cx="573593" cy="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9" name="AutoShape 9"/>
          <p:cNvSpPr/>
          <p:nvPr/>
        </p:nvSpPr>
        <p:spPr>
          <a:xfrm flipH="1">
            <a:off x="17100533" y="4947173"/>
            <a:ext cx="593030" cy="0"/>
          </a:xfrm>
          <a:prstGeom prst="line">
            <a:avLst/>
          </a:prstGeom>
          <a:ln w="38100" cap="flat">
            <a:solidFill>
              <a:srgbClr val="000000"/>
            </a:solidFill>
            <a:prstDash val="solid"/>
            <a:headEnd type="none" w="sm" len="sm"/>
            <a:tailEnd type="triangle" w="lg" len="med"/>
          </a:ln>
        </p:spPr>
        <p:txBody>
          <a:bodyPr/>
          <a:lstStyle/>
          <a:p>
            <a:endParaRPr lang="en-US"/>
          </a:p>
        </p:txBody>
      </p:sp>
      <p:sp>
        <p:nvSpPr>
          <p:cNvPr id="10" name="AutoShape 10"/>
          <p:cNvSpPr/>
          <p:nvPr/>
        </p:nvSpPr>
        <p:spPr>
          <a:xfrm flipH="1">
            <a:off x="17674126" y="2899577"/>
            <a:ext cx="387" cy="2047597"/>
          </a:xfrm>
          <a:prstGeom prst="line">
            <a:avLst/>
          </a:prstGeom>
          <a:ln w="38100" cap="flat">
            <a:solidFill>
              <a:srgbClr val="000000"/>
            </a:solidFill>
            <a:prstDash val="solid"/>
            <a:headEnd type="none" w="sm" len="sm"/>
            <a:tailEnd type="none" w="sm" len="sm"/>
          </a:ln>
        </p:spPr>
        <p:txBody>
          <a:bodyPr/>
          <a:lstStyle/>
          <a:p>
            <a:endParaRPr lang="en-US"/>
          </a:p>
        </p:txBody>
      </p:sp>
      <p:sp>
        <p:nvSpPr>
          <p:cNvPr id="11" name="TextBox 11"/>
          <p:cNvSpPr txBox="1"/>
          <p:nvPr/>
        </p:nvSpPr>
        <p:spPr>
          <a:xfrm rot="5400000">
            <a:off x="17070940" y="3844178"/>
            <a:ext cx="1549865" cy="318928"/>
          </a:xfrm>
          <a:prstGeom prst="rect">
            <a:avLst/>
          </a:prstGeom>
        </p:spPr>
        <p:txBody>
          <a:bodyPr lIns="0" tIns="0" rIns="0" bIns="0" rtlCol="0" anchor="t">
            <a:spAutoFit/>
          </a:bodyPr>
          <a:lstStyle/>
          <a:p>
            <a:pPr algn="ctr">
              <a:lnSpc>
                <a:spcPts val="2108"/>
              </a:lnSpc>
              <a:spcBef>
                <a:spcPct val="0"/>
              </a:spcBef>
            </a:pPr>
            <a:r>
              <a:rPr lang="en-US" sz="1916" b="1">
                <a:solidFill>
                  <a:srgbClr val="000000"/>
                </a:solidFill>
                <a:latin typeface="Times New Roman MT Semi-Bold"/>
                <a:ea typeface="Times New Roman MT Semi-Bold"/>
                <a:cs typeface="Times New Roman MT Semi-Bold"/>
                <a:sym typeface="Times New Roman MT Semi-Bold"/>
              </a:rPr>
              <a:t>bird safe glass</a:t>
            </a:r>
          </a:p>
        </p:txBody>
      </p:sp>
      <p:sp>
        <p:nvSpPr>
          <p:cNvPr id="12" name="TextBox 12"/>
          <p:cNvSpPr txBox="1"/>
          <p:nvPr/>
        </p:nvSpPr>
        <p:spPr>
          <a:xfrm>
            <a:off x="15042609" y="9467850"/>
            <a:ext cx="2522229" cy="286685"/>
          </a:xfrm>
          <a:prstGeom prst="rect">
            <a:avLst/>
          </a:prstGeom>
        </p:spPr>
        <p:txBody>
          <a:bodyPr lIns="0" tIns="0" rIns="0" bIns="0" rtlCol="0" anchor="t">
            <a:spAutoFit/>
          </a:bodyPr>
          <a:lstStyle/>
          <a:p>
            <a:pPr algn="ctr">
              <a:lnSpc>
                <a:spcPts val="1943"/>
              </a:lnSpc>
              <a:spcBef>
                <a:spcPct val="0"/>
              </a:spcBef>
            </a:pPr>
            <a:r>
              <a:rPr lang="en-US" sz="1766" b="1">
                <a:solidFill>
                  <a:srgbClr val="000000"/>
                </a:solidFill>
                <a:latin typeface="Times New Roman MT Semi-Bold"/>
                <a:ea typeface="Times New Roman MT Semi-Bold"/>
                <a:cs typeface="Times New Roman MT Semi-Bold"/>
                <a:sym typeface="Times New Roman MT Semi-Bold"/>
              </a:rPr>
              <a:t>Form finding algorithms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5466647" y="-86314"/>
            <a:ext cx="2931170" cy="5200362"/>
          </a:xfrm>
          <a:custGeom>
            <a:avLst/>
            <a:gdLst/>
            <a:ahLst/>
            <a:cxnLst/>
            <a:rect l="l" t="t" r="r" b="b"/>
            <a:pathLst>
              <a:path w="2931170" h="5200362">
                <a:moveTo>
                  <a:pt x="0" y="0"/>
                </a:moveTo>
                <a:lnTo>
                  <a:pt x="2931170" y="0"/>
                </a:lnTo>
                <a:lnTo>
                  <a:pt x="2931170" y="5200363"/>
                </a:lnTo>
                <a:lnTo>
                  <a:pt x="0" y="5200363"/>
                </a:lnTo>
                <a:lnTo>
                  <a:pt x="0" y="0"/>
                </a:lnTo>
                <a:close/>
              </a:path>
            </a:pathLst>
          </a:custGeom>
          <a:blipFill>
            <a:blip r:embed="rId2">
              <a:alphaModFix amt="70000"/>
            </a:blip>
            <a:stretch>
              <a:fillRect l="-18257" r="-38687" b="-32804"/>
            </a:stretch>
          </a:blipFill>
        </p:spPr>
        <p:txBody>
          <a:bodyPr/>
          <a:lstStyle/>
          <a:p>
            <a:endParaRPr lang="en-US"/>
          </a:p>
        </p:txBody>
      </p:sp>
      <p:sp>
        <p:nvSpPr>
          <p:cNvPr id="3" name="AutoShape 3"/>
          <p:cNvSpPr/>
          <p:nvPr/>
        </p:nvSpPr>
        <p:spPr>
          <a:xfrm>
            <a:off x="1690122" y="5215404"/>
            <a:ext cx="14907756" cy="0"/>
          </a:xfrm>
          <a:prstGeom prst="line">
            <a:avLst/>
          </a:prstGeom>
          <a:ln w="38100" cap="flat">
            <a:solidFill>
              <a:srgbClr val="000000"/>
            </a:solidFill>
            <a:prstDash val="sysDash"/>
            <a:headEnd type="none" w="sm" len="sm"/>
            <a:tailEnd type="none" w="sm" len="sm"/>
          </a:ln>
        </p:spPr>
        <p:txBody>
          <a:bodyPr/>
          <a:lstStyle/>
          <a:p>
            <a:endParaRPr lang="en-US"/>
          </a:p>
        </p:txBody>
      </p:sp>
      <p:sp>
        <p:nvSpPr>
          <p:cNvPr id="4" name="AutoShape 4"/>
          <p:cNvSpPr/>
          <p:nvPr/>
        </p:nvSpPr>
        <p:spPr>
          <a:xfrm>
            <a:off x="11494629" y="1702021"/>
            <a:ext cx="0" cy="7720683"/>
          </a:xfrm>
          <a:prstGeom prst="line">
            <a:avLst/>
          </a:prstGeom>
          <a:ln w="38100" cap="flat">
            <a:solidFill>
              <a:srgbClr val="000000"/>
            </a:solidFill>
            <a:prstDash val="sysDash"/>
            <a:headEnd type="none" w="sm" len="sm"/>
            <a:tailEnd type="none" w="sm" len="sm"/>
          </a:ln>
        </p:spPr>
        <p:txBody>
          <a:bodyPr/>
          <a:lstStyle/>
          <a:p>
            <a:endParaRPr lang="en-US"/>
          </a:p>
        </p:txBody>
      </p:sp>
      <p:sp>
        <p:nvSpPr>
          <p:cNvPr id="5" name="AutoShape 5"/>
          <p:cNvSpPr/>
          <p:nvPr/>
        </p:nvSpPr>
        <p:spPr>
          <a:xfrm>
            <a:off x="6494757" y="1702021"/>
            <a:ext cx="0" cy="7720683"/>
          </a:xfrm>
          <a:prstGeom prst="line">
            <a:avLst/>
          </a:prstGeom>
          <a:ln w="38100" cap="flat">
            <a:solidFill>
              <a:srgbClr val="000000"/>
            </a:solidFill>
            <a:prstDash val="sysDash"/>
            <a:headEnd type="none" w="sm" len="sm"/>
            <a:tailEnd type="none" w="sm" len="sm"/>
          </a:ln>
        </p:spPr>
        <p:txBody>
          <a:bodyPr/>
          <a:lstStyle/>
          <a:p>
            <a:endParaRPr lang="en-US"/>
          </a:p>
        </p:txBody>
      </p:sp>
      <p:sp>
        <p:nvSpPr>
          <p:cNvPr id="6" name="TextBox 6"/>
          <p:cNvSpPr txBox="1"/>
          <p:nvPr/>
        </p:nvSpPr>
        <p:spPr>
          <a:xfrm>
            <a:off x="4701346" y="192443"/>
            <a:ext cx="8313867" cy="1002323"/>
          </a:xfrm>
          <a:prstGeom prst="rect">
            <a:avLst/>
          </a:prstGeom>
        </p:spPr>
        <p:txBody>
          <a:bodyPr lIns="0" tIns="0" rIns="0" bIns="0" rtlCol="0" anchor="t">
            <a:spAutoFit/>
          </a:bodyPr>
          <a:lstStyle/>
          <a:p>
            <a:pPr algn="ctr">
              <a:lnSpc>
                <a:spcPts val="7614"/>
              </a:lnSpc>
            </a:pPr>
            <a:r>
              <a:rPr lang="en-US" sz="6921">
                <a:solidFill>
                  <a:srgbClr val="1B1B1B"/>
                </a:solidFill>
                <a:latin typeface="Vollkorn"/>
                <a:ea typeface="Vollkorn"/>
                <a:cs typeface="Vollkorn"/>
                <a:sym typeface="Vollkorn"/>
              </a:rPr>
              <a:t>PROs </a:t>
            </a:r>
          </a:p>
        </p:txBody>
      </p:sp>
      <p:sp>
        <p:nvSpPr>
          <p:cNvPr id="7" name="Freeform 7"/>
          <p:cNvSpPr/>
          <p:nvPr/>
        </p:nvSpPr>
        <p:spPr>
          <a:xfrm>
            <a:off x="1690122" y="1702021"/>
            <a:ext cx="1046899" cy="1125698"/>
          </a:xfrm>
          <a:custGeom>
            <a:avLst/>
            <a:gdLst/>
            <a:ahLst/>
            <a:cxnLst/>
            <a:rect l="l" t="t" r="r" b="b"/>
            <a:pathLst>
              <a:path w="1046899" h="1125698">
                <a:moveTo>
                  <a:pt x="0" y="0"/>
                </a:moveTo>
                <a:lnTo>
                  <a:pt x="1046899" y="0"/>
                </a:lnTo>
                <a:lnTo>
                  <a:pt x="1046899" y="1125697"/>
                </a:lnTo>
                <a:lnTo>
                  <a:pt x="0" y="11256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8" name="Freeform 8"/>
          <p:cNvSpPr/>
          <p:nvPr/>
        </p:nvSpPr>
        <p:spPr>
          <a:xfrm>
            <a:off x="11656554" y="5425499"/>
            <a:ext cx="1046899" cy="1125698"/>
          </a:xfrm>
          <a:custGeom>
            <a:avLst/>
            <a:gdLst/>
            <a:ahLst/>
            <a:cxnLst/>
            <a:rect l="l" t="t" r="r" b="b"/>
            <a:pathLst>
              <a:path w="1046899" h="1125698">
                <a:moveTo>
                  <a:pt x="0" y="0"/>
                </a:moveTo>
                <a:lnTo>
                  <a:pt x="1046899" y="0"/>
                </a:lnTo>
                <a:lnTo>
                  <a:pt x="1046899" y="1125698"/>
                </a:lnTo>
                <a:lnTo>
                  <a:pt x="0" y="11256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6659051" y="5524558"/>
            <a:ext cx="1046899" cy="1125698"/>
          </a:xfrm>
          <a:custGeom>
            <a:avLst/>
            <a:gdLst/>
            <a:ahLst/>
            <a:cxnLst/>
            <a:rect l="l" t="t" r="r" b="b"/>
            <a:pathLst>
              <a:path w="1046899" h="1125698">
                <a:moveTo>
                  <a:pt x="0" y="0"/>
                </a:moveTo>
                <a:lnTo>
                  <a:pt x="1046899" y="0"/>
                </a:lnTo>
                <a:lnTo>
                  <a:pt x="1046899" y="1125698"/>
                </a:lnTo>
                <a:lnTo>
                  <a:pt x="0" y="11256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Freeform 10"/>
          <p:cNvSpPr/>
          <p:nvPr/>
        </p:nvSpPr>
        <p:spPr>
          <a:xfrm>
            <a:off x="1690122" y="5524558"/>
            <a:ext cx="1046899" cy="1125698"/>
          </a:xfrm>
          <a:custGeom>
            <a:avLst/>
            <a:gdLst/>
            <a:ahLst/>
            <a:cxnLst/>
            <a:rect l="l" t="t" r="r" b="b"/>
            <a:pathLst>
              <a:path w="1046899" h="1125698">
                <a:moveTo>
                  <a:pt x="0" y="0"/>
                </a:moveTo>
                <a:lnTo>
                  <a:pt x="1046899" y="0"/>
                </a:lnTo>
                <a:lnTo>
                  <a:pt x="1046899" y="1125698"/>
                </a:lnTo>
                <a:lnTo>
                  <a:pt x="0" y="112569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1" name="Freeform 11"/>
          <p:cNvSpPr/>
          <p:nvPr/>
        </p:nvSpPr>
        <p:spPr>
          <a:xfrm>
            <a:off x="11778511" y="1702021"/>
            <a:ext cx="1046899" cy="1125698"/>
          </a:xfrm>
          <a:custGeom>
            <a:avLst/>
            <a:gdLst/>
            <a:ahLst/>
            <a:cxnLst/>
            <a:rect l="l" t="t" r="r" b="b"/>
            <a:pathLst>
              <a:path w="1046899" h="1125698">
                <a:moveTo>
                  <a:pt x="0" y="0"/>
                </a:moveTo>
                <a:lnTo>
                  <a:pt x="1046899" y="0"/>
                </a:lnTo>
                <a:lnTo>
                  <a:pt x="1046899" y="1125697"/>
                </a:lnTo>
                <a:lnTo>
                  <a:pt x="0" y="11256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a:off x="6659051" y="1702021"/>
            <a:ext cx="1046899" cy="1125698"/>
          </a:xfrm>
          <a:custGeom>
            <a:avLst/>
            <a:gdLst/>
            <a:ahLst/>
            <a:cxnLst/>
            <a:rect l="l" t="t" r="r" b="b"/>
            <a:pathLst>
              <a:path w="1046899" h="1125698">
                <a:moveTo>
                  <a:pt x="0" y="0"/>
                </a:moveTo>
                <a:lnTo>
                  <a:pt x="1046899" y="0"/>
                </a:lnTo>
                <a:lnTo>
                  <a:pt x="1046899" y="1125697"/>
                </a:lnTo>
                <a:lnTo>
                  <a:pt x="0" y="112569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TextBox 13"/>
          <p:cNvSpPr txBox="1"/>
          <p:nvPr/>
        </p:nvSpPr>
        <p:spPr>
          <a:xfrm>
            <a:off x="11494629" y="1901183"/>
            <a:ext cx="1678970" cy="765472"/>
          </a:xfrm>
          <a:prstGeom prst="rect">
            <a:avLst/>
          </a:prstGeom>
        </p:spPr>
        <p:txBody>
          <a:bodyPr lIns="0" tIns="0" rIns="0" bIns="0" rtlCol="0" anchor="t">
            <a:spAutoFit/>
          </a:bodyPr>
          <a:lstStyle/>
          <a:p>
            <a:pPr algn="ctr">
              <a:lnSpc>
                <a:spcPts val="5907"/>
              </a:lnSpc>
              <a:spcBef>
                <a:spcPct val="0"/>
              </a:spcBef>
            </a:pPr>
            <a:r>
              <a:rPr lang="en-US" sz="5370" b="1">
                <a:solidFill>
                  <a:srgbClr val="1B1B1B"/>
                </a:solidFill>
                <a:latin typeface="Vollkorn Bold"/>
                <a:ea typeface="Vollkorn Bold"/>
                <a:cs typeface="Vollkorn Bold"/>
                <a:sym typeface="Vollkorn Bold"/>
              </a:rPr>
              <a:t>3.</a:t>
            </a:r>
          </a:p>
        </p:txBody>
      </p:sp>
      <p:sp>
        <p:nvSpPr>
          <p:cNvPr id="14" name="TextBox 14"/>
          <p:cNvSpPr txBox="1"/>
          <p:nvPr/>
        </p:nvSpPr>
        <p:spPr>
          <a:xfrm>
            <a:off x="1165965" y="1805759"/>
            <a:ext cx="2157298" cy="930402"/>
          </a:xfrm>
          <a:prstGeom prst="rect">
            <a:avLst/>
          </a:prstGeom>
        </p:spPr>
        <p:txBody>
          <a:bodyPr lIns="0" tIns="0" rIns="0" bIns="0" rtlCol="0" anchor="t">
            <a:spAutoFit/>
          </a:bodyPr>
          <a:lstStyle/>
          <a:p>
            <a:pPr algn="ctr">
              <a:lnSpc>
                <a:spcPts val="7517"/>
              </a:lnSpc>
            </a:pPr>
            <a:r>
              <a:rPr lang="en-US" sz="5370" b="1">
                <a:solidFill>
                  <a:srgbClr val="1B1B1B"/>
                </a:solidFill>
                <a:latin typeface="Vollkorn Bold"/>
                <a:ea typeface="Vollkorn Bold"/>
                <a:cs typeface="Vollkorn Bold"/>
                <a:sym typeface="Vollkorn Bold"/>
              </a:rPr>
              <a:t>1.</a:t>
            </a:r>
          </a:p>
        </p:txBody>
      </p:sp>
      <p:sp>
        <p:nvSpPr>
          <p:cNvPr id="15" name="TextBox 15"/>
          <p:cNvSpPr txBox="1"/>
          <p:nvPr/>
        </p:nvSpPr>
        <p:spPr>
          <a:xfrm>
            <a:off x="6446850" y="1958159"/>
            <a:ext cx="1678970" cy="765472"/>
          </a:xfrm>
          <a:prstGeom prst="rect">
            <a:avLst/>
          </a:prstGeom>
        </p:spPr>
        <p:txBody>
          <a:bodyPr lIns="0" tIns="0" rIns="0" bIns="0" rtlCol="0" anchor="t">
            <a:spAutoFit/>
          </a:bodyPr>
          <a:lstStyle/>
          <a:p>
            <a:pPr algn="ctr">
              <a:lnSpc>
                <a:spcPts val="5907"/>
              </a:lnSpc>
              <a:spcBef>
                <a:spcPct val="0"/>
              </a:spcBef>
            </a:pPr>
            <a:r>
              <a:rPr lang="en-US" sz="5370" b="1">
                <a:solidFill>
                  <a:srgbClr val="1B1B1B"/>
                </a:solidFill>
                <a:latin typeface="Vollkorn Bold"/>
                <a:ea typeface="Vollkorn Bold"/>
                <a:cs typeface="Vollkorn Bold"/>
                <a:sym typeface="Vollkorn Bold"/>
              </a:rPr>
              <a:t>2.</a:t>
            </a:r>
          </a:p>
        </p:txBody>
      </p:sp>
      <p:sp>
        <p:nvSpPr>
          <p:cNvPr id="16" name="TextBox 16"/>
          <p:cNvSpPr txBox="1"/>
          <p:nvPr/>
        </p:nvSpPr>
        <p:spPr>
          <a:xfrm>
            <a:off x="1165965" y="5465997"/>
            <a:ext cx="2157298" cy="930402"/>
          </a:xfrm>
          <a:prstGeom prst="rect">
            <a:avLst/>
          </a:prstGeom>
        </p:spPr>
        <p:txBody>
          <a:bodyPr lIns="0" tIns="0" rIns="0" bIns="0" rtlCol="0" anchor="t">
            <a:spAutoFit/>
          </a:bodyPr>
          <a:lstStyle/>
          <a:p>
            <a:pPr algn="ctr">
              <a:lnSpc>
                <a:spcPts val="7517"/>
              </a:lnSpc>
            </a:pPr>
            <a:r>
              <a:rPr lang="en-US" sz="5370" b="1">
                <a:solidFill>
                  <a:srgbClr val="1B1B1B"/>
                </a:solidFill>
                <a:latin typeface="Vollkorn Bold"/>
                <a:ea typeface="Vollkorn Bold"/>
                <a:cs typeface="Vollkorn Bold"/>
                <a:sym typeface="Vollkorn Bold"/>
              </a:rPr>
              <a:t>4.</a:t>
            </a:r>
          </a:p>
        </p:txBody>
      </p:sp>
      <p:sp>
        <p:nvSpPr>
          <p:cNvPr id="17" name="TextBox 17"/>
          <p:cNvSpPr txBox="1"/>
          <p:nvPr/>
        </p:nvSpPr>
        <p:spPr>
          <a:xfrm>
            <a:off x="6103851" y="5465997"/>
            <a:ext cx="2157298" cy="930402"/>
          </a:xfrm>
          <a:prstGeom prst="rect">
            <a:avLst/>
          </a:prstGeom>
        </p:spPr>
        <p:txBody>
          <a:bodyPr lIns="0" tIns="0" rIns="0" bIns="0" rtlCol="0" anchor="t">
            <a:spAutoFit/>
          </a:bodyPr>
          <a:lstStyle/>
          <a:p>
            <a:pPr algn="ctr">
              <a:lnSpc>
                <a:spcPts val="7517"/>
              </a:lnSpc>
            </a:pPr>
            <a:r>
              <a:rPr lang="en-US" sz="5370" b="1">
                <a:solidFill>
                  <a:srgbClr val="1B1B1B"/>
                </a:solidFill>
                <a:latin typeface="Vollkorn Bold"/>
                <a:ea typeface="Vollkorn Bold"/>
                <a:cs typeface="Vollkorn Bold"/>
                <a:sym typeface="Vollkorn Bold"/>
              </a:rPr>
              <a:t>5.</a:t>
            </a:r>
          </a:p>
        </p:txBody>
      </p:sp>
      <p:sp>
        <p:nvSpPr>
          <p:cNvPr id="18" name="TextBox 18"/>
          <p:cNvSpPr txBox="1"/>
          <p:nvPr/>
        </p:nvSpPr>
        <p:spPr>
          <a:xfrm>
            <a:off x="11223311" y="5465997"/>
            <a:ext cx="2157298" cy="930402"/>
          </a:xfrm>
          <a:prstGeom prst="rect">
            <a:avLst/>
          </a:prstGeom>
        </p:spPr>
        <p:txBody>
          <a:bodyPr lIns="0" tIns="0" rIns="0" bIns="0" rtlCol="0" anchor="t">
            <a:spAutoFit/>
          </a:bodyPr>
          <a:lstStyle/>
          <a:p>
            <a:pPr algn="ctr">
              <a:lnSpc>
                <a:spcPts val="7517"/>
              </a:lnSpc>
            </a:pPr>
            <a:r>
              <a:rPr lang="en-US" sz="5370" b="1">
                <a:solidFill>
                  <a:srgbClr val="1B1B1B"/>
                </a:solidFill>
                <a:latin typeface="Vollkorn Bold"/>
                <a:ea typeface="Vollkorn Bold"/>
                <a:cs typeface="Vollkorn Bold"/>
                <a:sym typeface="Vollkorn Bold"/>
              </a:rPr>
              <a:t>6.</a:t>
            </a:r>
          </a:p>
        </p:txBody>
      </p:sp>
      <p:sp>
        <p:nvSpPr>
          <p:cNvPr id="19" name="TextBox 19"/>
          <p:cNvSpPr txBox="1"/>
          <p:nvPr/>
        </p:nvSpPr>
        <p:spPr>
          <a:xfrm>
            <a:off x="2107610" y="3220873"/>
            <a:ext cx="4216678" cy="1129665"/>
          </a:xfrm>
          <a:prstGeom prst="rect">
            <a:avLst/>
          </a:prstGeom>
        </p:spPr>
        <p:txBody>
          <a:bodyPr lIns="0" tIns="0" rIns="0" bIns="0" rtlCol="0" anchor="t">
            <a:spAutoFit/>
          </a:bodyPr>
          <a:lstStyle/>
          <a:p>
            <a:pPr algn="ctr">
              <a:lnSpc>
                <a:spcPts val="2970"/>
              </a:lnSpc>
              <a:spcBef>
                <a:spcPct val="0"/>
              </a:spcBef>
            </a:pPr>
            <a:r>
              <a:rPr lang="en-US" sz="2700">
                <a:solidFill>
                  <a:srgbClr val="1B1B1B"/>
                </a:solidFill>
                <a:latin typeface="Vollkorn"/>
                <a:ea typeface="Vollkorn"/>
                <a:cs typeface="Vollkorn"/>
                <a:sym typeface="Vollkorn"/>
              </a:rPr>
              <a:t>Carries load mainly in tension, so minimal material is needed.</a:t>
            </a:r>
          </a:p>
        </p:txBody>
      </p:sp>
      <p:sp>
        <p:nvSpPr>
          <p:cNvPr id="20" name="TextBox 20"/>
          <p:cNvSpPr txBox="1"/>
          <p:nvPr/>
        </p:nvSpPr>
        <p:spPr>
          <a:xfrm>
            <a:off x="2911878" y="2075746"/>
            <a:ext cx="2954259" cy="867543"/>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Tension-based efficiency</a:t>
            </a:r>
          </a:p>
        </p:txBody>
      </p:sp>
      <p:sp>
        <p:nvSpPr>
          <p:cNvPr id="21" name="TextBox 21"/>
          <p:cNvSpPr txBox="1"/>
          <p:nvPr/>
        </p:nvSpPr>
        <p:spPr>
          <a:xfrm>
            <a:off x="7086288" y="3208054"/>
            <a:ext cx="4216678" cy="1129665"/>
          </a:xfrm>
          <a:prstGeom prst="rect">
            <a:avLst/>
          </a:prstGeom>
        </p:spPr>
        <p:txBody>
          <a:bodyPr lIns="0" tIns="0" rIns="0" bIns="0" rtlCol="0" anchor="t">
            <a:spAutoFit/>
          </a:bodyPr>
          <a:lstStyle/>
          <a:p>
            <a:pPr algn="ctr">
              <a:lnSpc>
                <a:spcPts val="2970"/>
              </a:lnSpc>
              <a:spcBef>
                <a:spcPct val="0"/>
              </a:spcBef>
            </a:pPr>
            <a:r>
              <a:rPr lang="en-US" sz="2700">
                <a:solidFill>
                  <a:srgbClr val="1B1B1B"/>
                </a:solidFill>
                <a:latin typeface="Vollkorn"/>
                <a:ea typeface="Vollkorn"/>
                <a:cs typeface="Vollkorn"/>
                <a:sym typeface="Vollkorn"/>
              </a:rPr>
              <a:t>Forces spread through the web network instead of one member.</a:t>
            </a:r>
          </a:p>
        </p:txBody>
      </p:sp>
      <p:sp>
        <p:nvSpPr>
          <p:cNvPr id="22" name="TextBox 22"/>
          <p:cNvSpPr txBox="1"/>
          <p:nvPr/>
        </p:nvSpPr>
        <p:spPr>
          <a:xfrm>
            <a:off x="7890556" y="2062926"/>
            <a:ext cx="2954259" cy="867543"/>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Multiple load paths</a:t>
            </a:r>
          </a:p>
        </p:txBody>
      </p:sp>
      <p:sp>
        <p:nvSpPr>
          <p:cNvPr id="23" name="TextBox 23"/>
          <p:cNvSpPr txBox="1"/>
          <p:nvPr/>
        </p:nvSpPr>
        <p:spPr>
          <a:xfrm>
            <a:off x="12085179" y="3220873"/>
            <a:ext cx="4216678" cy="758190"/>
          </a:xfrm>
          <a:prstGeom prst="rect">
            <a:avLst/>
          </a:prstGeom>
        </p:spPr>
        <p:txBody>
          <a:bodyPr lIns="0" tIns="0" rIns="0" bIns="0" rtlCol="0" anchor="t">
            <a:spAutoFit/>
          </a:bodyPr>
          <a:lstStyle/>
          <a:p>
            <a:pPr algn="ctr">
              <a:lnSpc>
                <a:spcPts val="2970"/>
              </a:lnSpc>
              <a:spcBef>
                <a:spcPct val="0"/>
              </a:spcBef>
            </a:pPr>
            <a:r>
              <a:rPr lang="en-US" sz="2700">
                <a:solidFill>
                  <a:srgbClr val="1B1B1B"/>
                </a:solidFill>
                <a:latin typeface="Vollkorn"/>
                <a:ea typeface="Vollkorn"/>
                <a:cs typeface="Vollkorn"/>
                <a:sym typeface="Vollkorn"/>
              </a:rPr>
              <a:t>If a strand breaks, the rest can redistribute the load.</a:t>
            </a:r>
          </a:p>
        </p:txBody>
      </p:sp>
      <p:sp>
        <p:nvSpPr>
          <p:cNvPr id="24" name="TextBox 24"/>
          <p:cNvSpPr txBox="1"/>
          <p:nvPr/>
        </p:nvSpPr>
        <p:spPr>
          <a:xfrm>
            <a:off x="12889447" y="2075746"/>
            <a:ext cx="2954259" cy="867543"/>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Damage tolerance</a:t>
            </a:r>
          </a:p>
        </p:txBody>
      </p:sp>
      <p:sp>
        <p:nvSpPr>
          <p:cNvPr id="25" name="TextBox 25"/>
          <p:cNvSpPr txBox="1"/>
          <p:nvPr/>
        </p:nvSpPr>
        <p:spPr>
          <a:xfrm>
            <a:off x="2087579" y="7012206"/>
            <a:ext cx="4216678" cy="1129665"/>
          </a:xfrm>
          <a:prstGeom prst="rect">
            <a:avLst/>
          </a:prstGeom>
        </p:spPr>
        <p:txBody>
          <a:bodyPr lIns="0" tIns="0" rIns="0" bIns="0" rtlCol="0" anchor="t">
            <a:spAutoFit/>
          </a:bodyPr>
          <a:lstStyle/>
          <a:p>
            <a:pPr algn="ctr">
              <a:lnSpc>
                <a:spcPts val="2970"/>
              </a:lnSpc>
              <a:spcBef>
                <a:spcPct val="0"/>
              </a:spcBef>
            </a:pPr>
            <a:r>
              <a:rPr lang="en-US" sz="2700">
                <a:solidFill>
                  <a:srgbClr val="1B1B1B"/>
                </a:solidFill>
                <a:latin typeface="Vollkorn"/>
                <a:ea typeface="Vollkorn"/>
                <a:cs typeface="Vollkorn"/>
                <a:sym typeface="Vollkorn"/>
              </a:rPr>
              <a:t>Can move and adapt rather than resist everything stiffly.</a:t>
            </a:r>
          </a:p>
        </p:txBody>
      </p:sp>
      <p:sp>
        <p:nvSpPr>
          <p:cNvPr id="26" name="TextBox 26"/>
          <p:cNvSpPr txBox="1"/>
          <p:nvPr/>
        </p:nvSpPr>
        <p:spPr>
          <a:xfrm>
            <a:off x="2943307" y="5731918"/>
            <a:ext cx="2954259" cy="867543"/>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Flexible, not rigid</a:t>
            </a:r>
          </a:p>
        </p:txBody>
      </p:sp>
      <p:sp>
        <p:nvSpPr>
          <p:cNvPr id="27" name="TextBox 27"/>
          <p:cNvSpPr txBox="1"/>
          <p:nvPr/>
        </p:nvSpPr>
        <p:spPr>
          <a:xfrm>
            <a:off x="7086288" y="7012206"/>
            <a:ext cx="4216678" cy="1129665"/>
          </a:xfrm>
          <a:prstGeom prst="rect">
            <a:avLst/>
          </a:prstGeom>
        </p:spPr>
        <p:txBody>
          <a:bodyPr lIns="0" tIns="0" rIns="0" bIns="0" rtlCol="0" anchor="t">
            <a:spAutoFit/>
          </a:bodyPr>
          <a:lstStyle/>
          <a:p>
            <a:pPr algn="ctr">
              <a:lnSpc>
                <a:spcPts val="2970"/>
              </a:lnSpc>
              <a:spcBef>
                <a:spcPct val="0"/>
              </a:spcBef>
            </a:pPr>
            <a:r>
              <a:rPr lang="en-US" sz="2700">
                <a:solidFill>
                  <a:srgbClr val="1B1B1B"/>
                </a:solidFill>
                <a:latin typeface="Vollkorn"/>
                <a:ea typeface="Vollkorn"/>
                <a:cs typeface="Vollkorn"/>
                <a:sym typeface="Vollkorn"/>
              </a:rPr>
              <a:t>Mechanical energy from impacts and vibration is spread out.</a:t>
            </a:r>
          </a:p>
        </p:txBody>
      </p:sp>
      <p:sp>
        <p:nvSpPr>
          <p:cNvPr id="28" name="TextBox 28"/>
          <p:cNvSpPr txBox="1"/>
          <p:nvPr/>
        </p:nvSpPr>
        <p:spPr>
          <a:xfrm>
            <a:off x="7832261" y="5731918"/>
            <a:ext cx="3248175" cy="867543"/>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Absorbs and dissipates energy</a:t>
            </a:r>
          </a:p>
        </p:txBody>
      </p:sp>
      <p:sp>
        <p:nvSpPr>
          <p:cNvPr id="29" name="TextBox 29"/>
          <p:cNvSpPr txBox="1"/>
          <p:nvPr/>
        </p:nvSpPr>
        <p:spPr>
          <a:xfrm>
            <a:off x="12180004" y="7075072"/>
            <a:ext cx="4216678" cy="1129665"/>
          </a:xfrm>
          <a:prstGeom prst="rect">
            <a:avLst/>
          </a:prstGeom>
        </p:spPr>
        <p:txBody>
          <a:bodyPr lIns="0" tIns="0" rIns="0" bIns="0" rtlCol="0" anchor="t">
            <a:spAutoFit/>
          </a:bodyPr>
          <a:lstStyle/>
          <a:p>
            <a:pPr algn="ctr">
              <a:lnSpc>
                <a:spcPts val="2970"/>
              </a:lnSpc>
              <a:spcBef>
                <a:spcPct val="0"/>
              </a:spcBef>
            </a:pPr>
            <a:r>
              <a:rPr lang="en-US" sz="2700">
                <a:solidFill>
                  <a:srgbClr val="1B1B1B"/>
                </a:solidFill>
                <a:latin typeface="Vollkorn"/>
                <a:ea typeface="Vollkorn"/>
                <a:cs typeface="Vollkorn"/>
                <a:sym typeface="Vollkorn"/>
              </a:rPr>
              <a:t>Web logic guides new lightweight lattice and cable-net designs.</a:t>
            </a:r>
          </a:p>
        </p:txBody>
      </p:sp>
      <p:sp>
        <p:nvSpPr>
          <p:cNvPr id="30" name="TextBox 30"/>
          <p:cNvSpPr txBox="1"/>
          <p:nvPr/>
        </p:nvSpPr>
        <p:spPr>
          <a:xfrm>
            <a:off x="12825410" y="5683654"/>
            <a:ext cx="3747832" cy="867543"/>
          </a:xfrm>
          <a:prstGeom prst="rect">
            <a:avLst/>
          </a:prstGeom>
        </p:spPr>
        <p:txBody>
          <a:bodyPr lIns="0" tIns="0" rIns="0" bIns="0" rtlCol="0" anchor="t">
            <a:spAutoFit/>
          </a:bodyPr>
          <a:lstStyle/>
          <a:p>
            <a:pPr algn="ctr">
              <a:lnSpc>
                <a:spcPts val="3366"/>
              </a:lnSpc>
              <a:spcBef>
                <a:spcPct val="0"/>
              </a:spcBef>
            </a:pPr>
            <a:r>
              <a:rPr lang="en-US" sz="3060" b="1">
                <a:solidFill>
                  <a:srgbClr val="1B1B1B"/>
                </a:solidFill>
                <a:latin typeface="Vollkorn Bold"/>
                <a:ea typeface="Vollkorn Bold"/>
                <a:cs typeface="Vollkorn Bold"/>
                <a:sym typeface="Vollkorn Bold"/>
              </a:rPr>
              <a:t>Inspires hierarchical lattices</a:t>
            </a:r>
          </a:p>
        </p:txBody>
      </p:sp>
      <p:sp>
        <p:nvSpPr>
          <p:cNvPr id="31" name="Freeform 31"/>
          <p:cNvSpPr/>
          <p:nvPr/>
        </p:nvSpPr>
        <p:spPr>
          <a:xfrm rot="5400000" flipV="1">
            <a:off x="-192799" y="25974"/>
            <a:ext cx="3043969" cy="2815671"/>
          </a:xfrm>
          <a:custGeom>
            <a:avLst/>
            <a:gdLst/>
            <a:ahLst/>
            <a:cxnLst/>
            <a:rect l="l" t="t" r="r" b="b"/>
            <a:pathLst>
              <a:path w="3043969" h="2815671">
                <a:moveTo>
                  <a:pt x="0" y="2815671"/>
                </a:moveTo>
                <a:lnTo>
                  <a:pt x="3043969" y="2815671"/>
                </a:lnTo>
                <a:lnTo>
                  <a:pt x="3043969" y="0"/>
                </a:lnTo>
                <a:lnTo>
                  <a:pt x="0" y="0"/>
                </a:lnTo>
                <a:lnTo>
                  <a:pt x="0" y="2815671"/>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Freeform 2"/>
          <p:cNvSpPr/>
          <p:nvPr/>
        </p:nvSpPr>
        <p:spPr>
          <a:xfrm>
            <a:off x="16042630" y="0"/>
            <a:ext cx="2245370" cy="3983644"/>
          </a:xfrm>
          <a:custGeom>
            <a:avLst/>
            <a:gdLst/>
            <a:ahLst/>
            <a:cxnLst/>
            <a:rect l="l" t="t" r="r" b="b"/>
            <a:pathLst>
              <a:path w="2245370" h="3983644">
                <a:moveTo>
                  <a:pt x="0" y="0"/>
                </a:moveTo>
                <a:lnTo>
                  <a:pt x="2245370" y="0"/>
                </a:lnTo>
                <a:lnTo>
                  <a:pt x="2245370" y="3983644"/>
                </a:lnTo>
                <a:lnTo>
                  <a:pt x="0" y="3983644"/>
                </a:lnTo>
                <a:lnTo>
                  <a:pt x="0" y="0"/>
                </a:lnTo>
                <a:close/>
              </a:path>
            </a:pathLst>
          </a:custGeom>
          <a:blipFill>
            <a:blip r:embed="rId2">
              <a:alphaModFix amt="70000"/>
            </a:blip>
            <a:stretch>
              <a:fillRect l="-18257" r="-38687" b="-32804"/>
            </a:stretch>
          </a:blipFill>
        </p:spPr>
        <p:txBody>
          <a:bodyPr/>
          <a:lstStyle/>
          <a:p>
            <a:endParaRPr lang="en-US"/>
          </a:p>
        </p:txBody>
      </p:sp>
      <p:graphicFrame>
        <p:nvGraphicFramePr>
          <p:cNvPr id="3" name="Table 3"/>
          <p:cNvGraphicFramePr>
            <a:graphicFrameLocks noGrp="1"/>
          </p:cNvGraphicFramePr>
          <p:nvPr/>
        </p:nvGraphicFramePr>
        <p:xfrm>
          <a:off x="1028700" y="2800837"/>
          <a:ext cx="14574924" cy="7248116"/>
        </p:xfrm>
        <a:graphic>
          <a:graphicData uri="http://schemas.openxmlformats.org/drawingml/2006/table">
            <a:tbl>
              <a:tblPr/>
              <a:tblGrid>
                <a:gridCol w="4858308">
                  <a:extLst>
                    <a:ext uri="{9D8B030D-6E8A-4147-A177-3AD203B41FA5}">
                      <a16:colId xmlns:a16="http://schemas.microsoft.com/office/drawing/2014/main" val="20000"/>
                    </a:ext>
                  </a:extLst>
                </a:gridCol>
                <a:gridCol w="4858308">
                  <a:extLst>
                    <a:ext uri="{9D8B030D-6E8A-4147-A177-3AD203B41FA5}">
                      <a16:colId xmlns:a16="http://schemas.microsoft.com/office/drawing/2014/main" val="20001"/>
                    </a:ext>
                  </a:extLst>
                </a:gridCol>
                <a:gridCol w="4858308">
                  <a:extLst>
                    <a:ext uri="{9D8B030D-6E8A-4147-A177-3AD203B41FA5}">
                      <a16:colId xmlns:a16="http://schemas.microsoft.com/office/drawing/2014/main" val="20002"/>
                    </a:ext>
                  </a:extLst>
                </a:gridCol>
              </a:tblGrid>
              <a:tr h="966698">
                <a:tc>
                  <a:txBody>
                    <a:bodyPr/>
                    <a:lstStyle/>
                    <a:p>
                      <a:pPr algn="ctr">
                        <a:lnSpc>
                          <a:spcPts val="3080"/>
                        </a:lnSpc>
                        <a:defRPr/>
                      </a:pPr>
                      <a:r>
                        <a:rPr lang="en-US" sz="2200" b="1" u="sng">
                          <a:solidFill>
                            <a:srgbClr val="000000"/>
                          </a:solidFill>
                          <a:latin typeface="Times New Roman MT Bold"/>
                          <a:ea typeface="Times New Roman MT Bold"/>
                          <a:cs typeface="Times New Roman MT Bold"/>
                          <a:sym typeface="Times New Roman MT Bold"/>
                        </a:rPr>
                        <a:t>LIMITATIONS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80"/>
                        </a:lnSpc>
                        <a:defRPr/>
                      </a:pPr>
                      <a:r>
                        <a:rPr lang="en-US" sz="2200" b="1" u="sng">
                          <a:solidFill>
                            <a:srgbClr val="000000"/>
                          </a:solidFill>
                          <a:latin typeface="Times New Roman MT Bold"/>
                          <a:ea typeface="Times New Roman MT Bold"/>
                          <a:cs typeface="Times New Roman MT Bold"/>
                          <a:sym typeface="Times New Roman MT Bold"/>
                        </a:rPr>
                        <a:t>WHY IT MATTERS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80"/>
                        </a:lnSpc>
                        <a:defRPr/>
                      </a:pPr>
                      <a:r>
                        <a:rPr lang="en-US" sz="2200" b="1" u="sng">
                          <a:solidFill>
                            <a:srgbClr val="000000"/>
                          </a:solidFill>
                          <a:latin typeface="Times New Roman MT Bold"/>
                          <a:ea typeface="Times New Roman MT Bold"/>
                          <a:cs typeface="Times New Roman MT Bold"/>
                          <a:sym typeface="Times New Roman MT Bold"/>
                        </a:rPr>
                        <a:t>RESPONSE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350122">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Complex geometry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Replicating web-like structures accurately is difficult.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Parametric design and 3D printing.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790587">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Optimisation required</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Small changes in web geometry can change mechanical performance.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Generative AI and simulation to search designs.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350122">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Manufacturing limits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Highly complex geometries are hard to build conventionally.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Additive manufacturing (3D printing).</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790587">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Limited large-scale evidence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Most research covers materials, lattices and components, not whole buildings.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499"/>
                        </a:lnSpc>
                        <a:defRPr/>
                      </a:pPr>
                      <a:r>
                        <a:rPr lang="en-US" sz="2499">
                          <a:solidFill>
                            <a:srgbClr val="000000"/>
                          </a:solidFill>
                          <a:latin typeface="Times New Roman MT"/>
                          <a:ea typeface="Times New Roman MT"/>
                          <a:cs typeface="Times New Roman MT"/>
                          <a:sym typeface="Times New Roman MT"/>
                        </a:rPr>
                        <a:t>Scaled testing and pilot structures.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4" name="TextBox 4"/>
          <p:cNvSpPr txBox="1"/>
          <p:nvPr/>
        </p:nvSpPr>
        <p:spPr>
          <a:xfrm>
            <a:off x="4615994" y="555611"/>
            <a:ext cx="8313867" cy="1003327"/>
          </a:xfrm>
          <a:prstGeom prst="rect">
            <a:avLst/>
          </a:prstGeom>
        </p:spPr>
        <p:txBody>
          <a:bodyPr lIns="0" tIns="0" rIns="0" bIns="0" rtlCol="0" anchor="t">
            <a:spAutoFit/>
          </a:bodyPr>
          <a:lstStyle/>
          <a:p>
            <a:pPr algn="ctr">
              <a:lnSpc>
                <a:spcPts val="7699"/>
              </a:lnSpc>
            </a:pPr>
            <a:r>
              <a:rPr lang="en-US" sz="6999">
                <a:solidFill>
                  <a:srgbClr val="1B1B1B"/>
                </a:solidFill>
                <a:latin typeface="Vollkorn"/>
                <a:ea typeface="Vollkorn"/>
                <a:cs typeface="Vollkorn"/>
                <a:sym typeface="Vollkorn"/>
              </a:rPr>
              <a:t>CONs</a:t>
            </a:r>
          </a:p>
        </p:txBody>
      </p:sp>
      <p:sp>
        <p:nvSpPr>
          <p:cNvPr id="5" name="TextBox 5"/>
          <p:cNvSpPr txBox="1"/>
          <p:nvPr/>
        </p:nvSpPr>
        <p:spPr>
          <a:xfrm>
            <a:off x="1028700" y="2154231"/>
            <a:ext cx="6134303" cy="410821"/>
          </a:xfrm>
          <a:prstGeom prst="rect">
            <a:avLst/>
          </a:prstGeom>
        </p:spPr>
        <p:txBody>
          <a:bodyPr lIns="0" tIns="0" rIns="0" bIns="0" rtlCol="0" anchor="t">
            <a:spAutoFit/>
          </a:bodyPr>
          <a:lstStyle/>
          <a:p>
            <a:pPr algn="ctr">
              <a:lnSpc>
                <a:spcPts val="3146"/>
              </a:lnSpc>
              <a:spcBef>
                <a:spcPct val="0"/>
              </a:spcBef>
            </a:pPr>
            <a:r>
              <a:rPr lang="en-US" sz="2860">
                <a:solidFill>
                  <a:srgbClr val="1B1B1B"/>
                </a:solidFill>
                <a:latin typeface="Vollkorn"/>
                <a:ea typeface="Vollkorn"/>
                <a:cs typeface="Vollkorn"/>
                <a:sym typeface="Vollkorn"/>
              </a:rPr>
              <a:t>Limitations &amp; How Research Responds</a:t>
            </a:r>
          </a:p>
        </p:txBody>
      </p:sp>
      <p:sp>
        <p:nvSpPr>
          <p:cNvPr id="6" name="Freeform 6"/>
          <p:cNvSpPr/>
          <p:nvPr/>
        </p:nvSpPr>
        <p:spPr>
          <a:xfrm>
            <a:off x="15269498" y="6628225"/>
            <a:ext cx="3018502" cy="5017388"/>
          </a:xfrm>
          <a:custGeom>
            <a:avLst/>
            <a:gdLst/>
            <a:ahLst/>
            <a:cxnLst/>
            <a:rect l="l" t="t" r="r" b="b"/>
            <a:pathLst>
              <a:path w="3018502" h="5017388">
                <a:moveTo>
                  <a:pt x="0" y="0"/>
                </a:moveTo>
                <a:lnTo>
                  <a:pt x="3018502" y="0"/>
                </a:lnTo>
                <a:lnTo>
                  <a:pt x="3018502" y="5017388"/>
                </a:lnTo>
                <a:lnTo>
                  <a:pt x="0" y="5017388"/>
                </a:lnTo>
                <a:lnTo>
                  <a:pt x="0" y="0"/>
                </a:lnTo>
                <a:close/>
              </a:path>
            </a:pathLst>
          </a:custGeom>
          <a:blipFill>
            <a:blip r:embed="rId3"/>
            <a:stretch>
              <a:fillRect l="-79583" r="-119165"/>
            </a:stretch>
          </a:blipFill>
        </p:spPr>
        <p:txBody>
          <a:bodyPr/>
          <a:lstStyle/>
          <a:p>
            <a:endParaRPr lang="en-US"/>
          </a:p>
        </p:txBody>
      </p:sp>
      <p:sp>
        <p:nvSpPr>
          <p:cNvPr id="7" name="Freeform 7"/>
          <p:cNvSpPr/>
          <p:nvPr/>
        </p:nvSpPr>
        <p:spPr>
          <a:xfrm rot="5400000" flipV="1">
            <a:off x="-186988" y="20163"/>
            <a:ext cx="2889012" cy="2672336"/>
          </a:xfrm>
          <a:custGeom>
            <a:avLst/>
            <a:gdLst/>
            <a:ahLst/>
            <a:cxnLst/>
            <a:rect l="l" t="t" r="r" b="b"/>
            <a:pathLst>
              <a:path w="2889012" h="2672336">
                <a:moveTo>
                  <a:pt x="0" y="2672336"/>
                </a:moveTo>
                <a:lnTo>
                  <a:pt x="2889012" y="2672336"/>
                </a:lnTo>
                <a:lnTo>
                  <a:pt x="2889012" y="0"/>
                </a:lnTo>
                <a:lnTo>
                  <a:pt x="0" y="0"/>
                </a:lnTo>
                <a:lnTo>
                  <a:pt x="0" y="2672336"/>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4618677" y="728370"/>
            <a:ext cx="9034742" cy="1232323"/>
          </a:xfrm>
          <a:prstGeom prst="rect">
            <a:avLst/>
          </a:prstGeom>
        </p:spPr>
        <p:txBody>
          <a:bodyPr lIns="0" tIns="0" rIns="0" bIns="0" rtlCol="0" anchor="t">
            <a:spAutoFit/>
          </a:bodyPr>
          <a:lstStyle/>
          <a:p>
            <a:pPr algn="ctr">
              <a:lnSpc>
                <a:spcPts val="9386"/>
              </a:lnSpc>
            </a:pPr>
            <a:r>
              <a:rPr lang="en-US" sz="8533">
                <a:solidFill>
                  <a:srgbClr val="1B1B1B"/>
                </a:solidFill>
                <a:latin typeface="Vollkorn"/>
                <a:ea typeface="Vollkorn"/>
                <a:cs typeface="Vollkorn"/>
                <a:sym typeface="Vollkorn"/>
              </a:rPr>
              <a:t>Research Timeline</a:t>
            </a:r>
          </a:p>
        </p:txBody>
      </p:sp>
      <p:sp>
        <p:nvSpPr>
          <p:cNvPr id="3" name="TextBox 3"/>
          <p:cNvSpPr txBox="1"/>
          <p:nvPr/>
        </p:nvSpPr>
        <p:spPr>
          <a:xfrm>
            <a:off x="3366689" y="1866459"/>
            <a:ext cx="11554622" cy="447675"/>
          </a:xfrm>
          <a:prstGeom prst="rect">
            <a:avLst/>
          </a:prstGeom>
        </p:spPr>
        <p:txBody>
          <a:bodyPr lIns="0" tIns="0" rIns="0" bIns="0" rtlCol="0" anchor="t">
            <a:spAutoFit/>
          </a:bodyPr>
          <a:lstStyle/>
          <a:p>
            <a:pPr algn="ctr">
              <a:lnSpc>
                <a:spcPts val="3300"/>
              </a:lnSpc>
            </a:pPr>
            <a:r>
              <a:rPr lang="en-US" sz="3000">
                <a:solidFill>
                  <a:srgbClr val="1B1B1B"/>
                </a:solidFill>
                <a:latin typeface="Vollkorn"/>
                <a:ea typeface="Vollkorn"/>
                <a:cs typeface="Vollkorn"/>
                <a:sym typeface="Vollkorn"/>
              </a:rPr>
              <a:t>Early Research — Understanding Natural Webs (1995–2016)</a:t>
            </a:r>
          </a:p>
        </p:txBody>
      </p:sp>
      <p:sp>
        <p:nvSpPr>
          <p:cNvPr id="4" name="Freeform 4"/>
          <p:cNvSpPr/>
          <p:nvPr/>
        </p:nvSpPr>
        <p:spPr>
          <a:xfrm>
            <a:off x="3978664" y="2085534"/>
            <a:ext cx="4746059" cy="5486773"/>
          </a:xfrm>
          <a:custGeom>
            <a:avLst/>
            <a:gdLst/>
            <a:ahLst/>
            <a:cxnLst/>
            <a:rect l="l" t="t" r="r" b="b"/>
            <a:pathLst>
              <a:path w="4746059" h="5486773">
                <a:moveTo>
                  <a:pt x="0" y="0"/>
                </a:moveTo>
                <a:lnTo>
                  <a:pt x="4746058" y="0"/>
                </a:lnTo>
                <a:lnTo>
                  <a:pt x="4746058" y="5486773"/>
                </a:lnTo>
                <a:lnTo>
                  <a:pt x="0" y="5486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p:cNvSpPr txBox="1"/>
          <p:nvPr/>
        </p:nvSpPr>
        <p:spPr>
          <a:xfrm>
            <a:off x="4696690" y="3063794"/>
            <a:ext cx="3310007" cy="867543"/>
          </a:xfrm>
          <a:prstGeom prst="rect">
            <a:avLst/>
          </a:prstGeom>
        </p:spPr>
        <p:txBody>
          <a:bodyPr lIns="0" tIns="0" rIns="0" bIns="0" rtlCol="0" anchor="t">
            <a:spAutoFit/>
          </a:bodyPr>
          <a:lstStyle/>
          <a:p>
            <a:pPr algn="ctr">
              <a:lnSpc>
                <a:spcPts val="3366"/>
              </a:lnSpc>
              <a:spcBef>
                <a:spcPct val="0"/>
              </a:spcBef>
            </a:pPr>
            <a:r>
              <a:rPr lang="en-US" sz="3060" b="1">
                <a:solidFill>
                  <a:srgbClr val="FFBD59"/>
                </a:solidFill>
                <a:latin typeface="Vollkorn Bold"/>
                <a:ea typeface="Vollkorn Bold"/>
                <a:cs typeface="Vollkorn Bold"/>
                <a:sym typeface="Vollkorn Bold"/>
              </a:rPr>
              <a:t>1995-Structural Mechanics</a:t>
            </a:r>
          </a:p>
        </p:txBody>
      </p:sp>
      <p:sp>
        <p:nvSpPr>
          <p:cNvPr id="6" name="TextBox 6"/>
          <p:cNvSpPr txBox="1"/>
          <p:nvPr/>
        </p:nvSpPr>
        <p:spPr>
          <a:xfrm>
            <a:off x="4243354" y="4273613"/>
            <a:ext cx="4112918" cy="2244090"/>
          </a:xfrm>
          <a:prstGeom prst="rect">
            <a:avLst/>
          </a:prstGeom>
        </p:spPr>
        <p:txBody>
          <a:bodyPr lIns="0" tIns="0" rIns="0" bIns="0" rtlCol="0" anchor="t">
            <a:spAutoFit/>
          </a:bodyPr>
          <a:lstStyle/>
          <a:p>
            <a:pPr algn="ctr">
              <a:lnSpc>
                <a:spcPts val="2970"/>
              </a:lnSpc>
              <a:spcBef>
                <a:spcPct val="0"/>
              </a:spcBef>
            </a:pPr>
            <a:r>
              <a:rPr lang="en-US" sz="2700">
                <a:solidFill>
                  <a:srgbClr val="FFFFFF"/>
                </a:solidFill>
                <a:latin typeface="Vollkorn"/>
                <a:ea typeface="Vollkorn"/>
                <a:cs typeface="Vollkorn"/>
                <a:sym typeface="Vollkorn"/>
              </a:rPr>
              <a:t>Researchers modelled spider-web silk properties and showed the importance of aerodynamic damping in prey capture.</a:t>
            </a:r>
          </a:p>
        </p:txBody>
      </p:sp>
      <p:sp>
        <p:nvSpPr>
          <p:cNvPr id="7" name="Freeform 7"/>
          <p:cNvSpPr/>
          <p:nvPr/>
        </p:nvSpPr>
        <p:spPr>
          <a:xfrm>
            <a:off x="9563278" y="2174470"/>
            <a:ext cx="4746059" cy="5486773"/>
          </a:xfrm>
          <a:custGeom>
            <a:avLst/>
            <a:gdLst/>
            <a:ahLst/>
            <a:cxnLst/>
            <a:rect l="l" t="t" r="r" b="b"/>
            <a:pathLst>
              <a:path w="4746059" h="5486773">
                <a:moveTo>
                  <a:pt x="0" y="0"/>
                </a:moveTo>
                <a:lnTo>
                  <a:pt x="4746058" y="0"/>
                </a:lnTo>
                <a:lnTo>
                  <a:pt x="4746058" y="5486774"/>
                </a:lnTo>
                <a:lnTo>
                  <a:pt x="0" y="5486774"/>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8" name="TextBox 8"/>
          <p:cNvSpPr txBox="1"/>
          <p:nvPr/>
        </p:nvSpPr>
        <p:spPr>
          <a:xfrm>
            <a:off x="10281304" y="3112438"/>
            <a:ext cx="3310007" cy="1656848"/>
          </a:xfrm>
          <a:prstGeom prst="rect">
            <a:avLst/>
          </a:prstGeom>
        </p:spPr>
        <p:txBody>
          <a:bodyPr lIns="0" tIns="0" rIns="0" bIns="0" rtlCol="0" anchor="t">
            <a:spAutoFit/>
          </a:bodyPr>
          <a:lstStyle/>
          <a:p>
            <a:pPr algn="ctr">
              <a:lnSpc>
                <a:spcPts val="3256"/>
              </a:lnSpc>
              <a:spcBef>
                <a:spcPct val="0"/>
              </a:spcBef>
            </a:pPr>
            <a:r>
              <a:rPr lang="en-US" sz="2960" b="1">
                <a:solidFill>
                  <a:srgbClr val="FFBD59"/>
                </a:solidFill>
                <a:latin typeface="Vollkorn Bold"/>
                <a:ea typeface="Vollkorn Bold"/>
                <a:cs typeface="Vollkorn Bold"/>
                <a:sym typeface="Vollkorn Bold"/>
              </a:rPr>
              <a:t>Early 2000s-2010s-Material and Network Studies</a:t>
            </a:r>
          </a:p>
        </p:txBody>
      </p:sp>
      <p:sp>
        <p:nvSpPr>
          <p:cNvPr id="9" name="TextBox 9"/>
          <p:cNvSpPr txBox="1"/>
          <p:nvPr/>
        </p:nvSpPr>
        <p:spPr>
          <a:xfrm>
            <a:off x="9879848" y="5105500"/>
            <a:ext cx="4112918" cy="1501140"/>
          </a:xfrm>
          <a:prstGeom prst="rect">
            <a:avLst/>
          </a:prstGeom>
        </p:spPr>
        <p:txBody>
          <a:bodyPr lIns="0" tIns="0" rIns="0" bIns="0" rtlCol="0" anchor="t">
            <a:spAutoFit/>
          </a:bodyPr>
          <a:lstStyle/>
          <a:p>
            <a:pPr algn="ctr">
              <a:lnSpc>
                <a:spcPts val="2970"/>
              </a:lnSpc>
              <a:spcBef>
                <a:spcPct val="0"/>
              </a:spcBef>
            </a:pPr>
            <a:r>
              <a:rPr lang="en-US" sz="2700">
                <a:solidFill>
                  <a:srgbClr val="FFFFFF"/>
                </a:solidFill>
                <a:latin typeface="Vollkorn"/>
                <a:ea typeface="Vollkorn"/>
                <a:cs typeface="Vollkorn"/>
                <a:sym typeface="Vollkorn"/>
              </a:rPr>
              <a:t>Research increasingly examined silk mechanics, web geometry, vibration, and load distribution.</a:t>
            </a:r>
          </a:p>
        </p:txBody>
      </p:sp>
      <p:sp>
        <p:nvSpPr>
          <p:cNvPr id="10" name="TextBox 10"/>
          <p:cNvSpPr txBox="1"/>
          <p:nvPr/>
        </p:nvSpPr>
        <p:spPr>
          <a:xfrm>
            <a:off x="2491927" y="8097017"/>
            <a:ext cx="13288243" cy="1501140"/>
          </a:xfrm>
          <a:prstGeom prst="rect">
            <a:avLst/>
          </a:prstGeom>
        </p:spPr>
        <p:txBody>
          <a:bodyPr lIns="0" tIns="0" rIns="0" bIns="0" rtlCol="0" anchor="t">
            <a:spAutoFit/>
          </a:bodyPr>
          <a:lstStyle/>
          <a:p>
            <a:pPr algn="ctr">
              <a:lnSpc>
                <a:spcPts val="2970"/>
              </a:lnSpc>
            </a:pPr>
            <a:r>
              <a:rPr lang="en-US" sz="2700" b="1">
                <a:solidFill>
                  <a:srgbClr val="000000"/>
                </a:solidFill>
                <a:latin typeface="Vollkorn Bold"/>
                <a:ea typeface="Vollkorn Bold"/>
                <a:cs typeface="Vollkorn Bold"/>
                <a:sym typeface="Vollkorn Bold"/>
              </a:rPr>
              <a:t>Research Goal</a:t>
            </a:r>
            <a:r>
              <a:rPr lang="en-US" sz="2700">
                <a:solidFill>
                  <a:srgbClr val="000000"/>
                </a:solidFill>
                <a:latin typeface="Vollkorn"/>
                <a:ea typeface="Vollkorn"/>
                <a:cs typeface="Vollkorn"/>
                <a:sym typeface="Vollkorn"/>
              </a:rPr>
              <a:t>: Understand how web structure and silk properties work together.</a:t>
            </a:r>
          </a:p>
          <a:p>
            <a:pPr algn="ctr">
              <a:lnSpc>
                <a:spcPts val="2970"/>
              </a:lnSpc>
            </a:pPr>
            <a:endParaRPr lang="en-US" sz="2700">
              <a:solidFill>
                <a:srgbClr val="000000"/>
              </a:solidFill>
              <a:latin typeface="Vollkorn"/>
              <a:ea typeface="Vollkorn"/>
              <a:cs typeface="Vollkorn"/>
              <a:sym typeface="Vollkorn"/>
            </a:endParaRPr>
          </a:p>
          <a:p>
            <a:pPr algn="ctr">
              <a:lnSpc>
                <a:spcPts val="2970"/>
              </a:lnSpc>
              <a:spcBef>
                <a:spcPct val="0"/>
              </a:spcBef>
            </a:pPr>
            <a:r>
              <a:rPr lang="en-US" sz="2700" b="1">
                <a:solidFill>
                  <a:srgbClr val="000000"/>
                </a:solidFill>
                <a:latin typeface="Vollkorn Bold"/>
                <a:ea typeface="Vollkorn Bold"/>
                <a:cs typeface="Vollkorn Bold"/>
                <a:sym typeface="Vollkorn Bold"/>
              </a:rPr>
              <a:t>Key Development</a:t>
            </a:r>
            <a:r>
              <a:rPr lang="en-US" sz="2700">
                <a:solidFill>
                  <a:srgbClr val="000000"/>
                </a:solidFill>
                <a:latin typeface="Vollkorn"/>
                <a:ea typeface="Vollkorn"/>
                <a:cs typeface="Vollkorn"/>
                <a:sym typeface="Vollkorn"/>
              </a:rPr>
              <a:t>: Spider webs became models for studying efficient, lightweight, energy-absorbing structures.</a:t>
            </a:r>
          </a:p>
        </p:txBody>
      </p:sp>
      <p:sp>
        <p:nvSpPr>
          <p:cNvPr id="11" name="Freeform 11"/>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4618677" y="728370"/>
            <a:ext cx="9034742" cy="1232323"/>
          </a:xfrm>
          <a:prstGeom prst="rect">
            <a:avLst/>
          </a:prstGeom>
        </p:spPr>
        <p:txBody>
          <a:bodyPr lIns="0" tIns="0" rIns="0" bIns="0" rtlCol="0" anchor="t">
            <a:spAutoFit/>
          </a:bodyPr>
          <a:lstStyle/>
          <a:p>
            <a:pPr algn="ctr">
              <a:lnSpc>
                <a:spcPts val="9386"/>
              </a:lnSpc>
            </a:pPr>
            <a:r>
              <a:rPr lang="en-US" sz="8533">
                <a:solidFill>
                  <a:srgbClr val="1B1B1B"/>
                </a:solidFill>
                <a:latin typeface="Vollkorn"/>
                <a:ea typeface="Vollkorn"/>
                <a:cs typeface="Vollkorn"/>
                <a:sym typeface="Vollkorn"/>
              </a:rPr>
              <a:t>Research Timeline</a:t>
            </a:r>
          </a:p>
        </p:txBody>
      </p:sp>
      <p:sp>
        <p:nvSpPr>
          <p:cNvPr id="3" name="TextBox 3"/>
          <p:cNvSpPr txBox="1"/>
          <p:nvPr/>
        </p:nvSpPr>
        <p:spPr>
          <a:xfrm>
            <a:off x="3366689" y="1866459"/>
            <a:ext cx="11554622" cy="447675"/>
          </a:xfrm>
          <a:prstGeom prst="rect">
            <a:avLst/>
          </a:prstGeom>
        </p:spPr>
        <p:txBody>
          <a:bodyPr lIns="0" tIns="0" rIns="0" bIns="0" rtlCol="0" anchor="t">
            <a:spAutoFit/>
          </a:bodyPr>
          <a:lstStyle/>
          <a:p>
            <a:pPr algn="ctr">
              <a:lnSpc>
                <a:spcPts val="3300"/>
              </a:lnSpc>
            </a:pPr>
            <a:r>
              <a:rPr lang="en-US" sz="3000">
                <a:solidFill>
                  <a:srgbClr val="1B1B1B"/>
                </a:solidFill>
                <a:latin typeface="Vollkorn"/>
                <a:ea typeface="Vollkorn"/>
                <a:cs typeface="Vollkorn"/>
                <a:sym typeface="Vollkorn"/>
              </a:rPr>
              <a:t>Adaptive and Bio-Inspired Designs (2017–2022)</a:t>
            </a:r>
          </a:p>
        </p:txBody>
      </p:sp>
      <p:sp>
        <p:nvSpPr>
          <p:cNvPr id="4" name="Freeform 4"/>
          <p:cNvSpPr/>
          <p:nvPr/>
        </p:nvSpPr>
        <p:spPr>
          <a:xfrm>
            <a:off x="1186712" y="2631286"/>
            <a:ext cx="4746059" cy="5486773"/>
          </a:xfrm>
          <a:custGeom>
            <a:avLst/>
            <a:gdLst/>
            <a:ahLst/>
            <a:cxnLst/>
            <a:rect l="l" t="t" r="r" b="b"/>
            <a:pathLst>
              <a:path w="4746059" h="5486773">
                <a:moveTo>
                  <a:pt x="0" y="0"/>
                </a:moveTo>
                <a:lnTo>
                  <a:pt x="4746059" y="0"/>
                </a:lnTo>
                <a:lnTo>
                  <a:pt x="4746059" y="5486773"/>
                </a:lnTo>
                <a:lnTo>
                  <a:pt x="0" y="5486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p:cNvSpPr txBox="1"/>
          <p:nvPr/>
        </p:nvSpPr>
        <p:spPr>
          <a:xfrm>
            <a:off x="1904738" y="3747832"/>
            <a:ext cx="3310007" cy="867543"/>
          </a:xfrm>
          <a:prstGeom prst="rect">
            <a:avLst/>
          </a:prstGeom>
        </p:spPr>
        <p:txBody>
          <a:bodyPr lIns="0" tIns="0" rIns="0" bIns="0" rtlCol="0" anchor="t">
            <a:spAutoFit/>
          </a:bodyPr>
          <a:lstStyle/>
          <a:p>
            <a:pPr algn="ctr">
              <a:lnSpc>
                <a:spcPts val="3366"/>
              </a:lnSpc>
              <a:spcBef>
                <a:spcPct val="0"/>
              </a:spcBef>
            </a:pPr>
            <a:r>
              <a:rPr lang="en-US" sz="3060" b="1">
                <a:solidFill>
                  <a:srgbClr val="FFBD59"/>
                </a:solidFill>
                <a:latin typeface="Vollkorn Bold"/>
                <a:ea typeface="Vollkorn Bold"/>
                <a:cs typeface="Vollkorn Bold"/>
                <a:sym typeface="Vollkorn Bold"/>
              </a:rPr>
              <a:t>2017-Adaptive Webs</a:t>
            </a:r>
          </a:p>
        </p:txBody>
      </p:sp>
      <p:sp>
        <p:nvSpPr>
          <p:cNvPr id="6" name="Freeform 6"/>
          <p:cNvSpPr/>
          <p:nvPr/>
        </p:nvSpPr>
        <p:spPr>
          <a:xfrm>
            <a:off x="6771326" y="2720223"/>
            <a:ext cx="4746059" cy="5486773"/>
          </a:xfrm>
          <a:custGeom>
            <a:avLst/>
            <a:gdLst/>
            <a:ahLst/>
            <a:cxnLst/>
            <a:rect l="l" t="t" r="r" b="b"/>
            <a:pathLst>
              <a:path w="4746059" h="5486773">
                <a:moveTo>
                  <a:pt x="0" y="0"/>
                </a:moveTo>
                <a:lnTo>
                  <a:pt x="4746059" y="0"/>
                </a:lnTo>
                <a:lnTo>
                  <a:pt x="4746059" y="5486773"/>
                </a:lnTo>
                <a:lnTo>
                  <a:pt x="0" y="5486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TextBox 7"/>
          <p:cNvSpPr txBox="1"/>
          <p:nvPr/>
        </p:nvSpPr>
        <p:spPr>
          <a:xfrm>
            <a:off x="7489352" y="3757357"/>
            <a:ext cx="3310007" cy="837698"/>
          </a:xfrm>
          <a:prstGeom prst="rect">
            <a:avLst/>
          </a:prstGeom>
        </p:spPr>
        <p:txBody>
          <a:bodyPr lIns="0" tIns="0" rIns="0" bIns="0" rtlCol="0" anchor="t">
            <a:spAutoFit/>
          </a:bodyPr>
          <a:lstStyle/>
          <a:p>
            <a:pPr algn="ctr">
              <a:lnSpc>
                <a:spcPts val="3256"/>
              </a:lnSpc>
              <a:spcBef>
                <a:spcPct val="0"/>
              </a:spcBef>
            </a:pPr>
            <a:r>
              <a:rPr lang="en-US" sz="2960" b="1">
                <a:solidFill>
                  <a:srgbClr val="FFBD59"/>
                </a:solidFill>
                <a:latin typeface="Vollkorn Bold"/>
                <a:ea typeface="Vollkorn Bold"/>
                <a:cs typeface="Vollkorn Bold"/>
                <a:sym typeface="Vollkorn Bold"/>
              </a:rPr>
              <a:t>2021-3D Web Mechanics</a:t>
            </a:r>
          </a:p>
        </p:txBody>
      </p:sp>
      <p:sp>
        <p:nvSpPr>
          <p:cNvPr id="8" name="TextBox 8"/>
          <p:cNvSpPr txBox="1"/>
          <p:nvPr/>
        </p:nvSpPr>
        <p:spPr>
          <a:xfrm>
            <a:off x="1503282" y="4993441"/>
            <a:ext cx="4112918" cy="2244090"/>
          </a:xfrm>
          <a:prstGeom prst="rect">
            <a:avLst/>
          </a:prstGeom>
        </p:spPr>
        <p:txBody>
          <a:bodyPr lIns="0" tIns="0" rIns="0" bIns="0" rtlCol="0" anchor="t">
            <a:spAutoFit/>
          </a:bodyPr>
          <a:lstStyle/>
          <a:p>
            <a:pPr algn="ctr">
              <a:lnSpc>
                <a:spcPts val="2970"/>
              </a:lnSpc>
              <a:spcBef>
                <a:spcPct val="0"/>
              </a:spcBef>
            </a:pPr>
            <a:r>
              <a:rPr lang="en-US" sz="2700">
                <a:solidFill>
                  <a:srgbClr val="FFFFFF"/>
                </a:solidFill>
                <a:latin typeface="Vollkorn"/>
                <a:ea typeface="Vollkorn"/>
                <a:cs typeface="Vollkorn"/>
                <a:sym typeface="Vollkorn"/>
              </a:rPr>
              <a:t>Researchers tested adjustable radial-thread tension to improve energy absorption and compensate for damaged threads.</a:t>
            </a:r>
          </a:p>
        </p:txBody>
      </p:sp>
      <p:sp>
        <p:nvSpPr>
          <p:cNvPr id="9" name="Freeform 9"/>
          <p:cNvSpPr/>
          <p:nvPr/>
        </p:nvSpPr>
        <p:spPr>
          <a:xfrm>
            <a:off x="12355585" y="2720223"/>
            <a:ext cx="4746059" cy="5486773"/>
          </a:xfrm>
          <a:custGeom>
            <a:avLst/>
            <a:gdLst/>
            <a:ahLst/>
            <a:cxnLst/>
            <a:rect l="l" t="t" r="r" b="b"/>
            <a:pathLst>
              <a:path w="4746059" h="5486773">
                <a:moveTo>
                  <a:pt x="0" y="0"/>
                </a:moveTo>
                <a:lnTo>
                  <a:pt x="4746059" y="0"/>
                </a:lnTo>
                <a:lnTo>
                  <a:pt x="4746059" y="5486773"/>
                </a:lnTo>
                <a:lnTo>
                  <a:pt x="0" y="5486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TextBox 10"/>
          <p:cNvSpPr txBox="1"/>
          <p:nvPr/>
        </p:nvSpPr>
        <p:spPr>
          <a:xfrm>
            <a:off x="13073611" y="3757357"/>
            <a:ext cx="3310007" cy="837698"/>
          </a:xfrm>
          <a:prstGeom prst="rect">
            <a:avLst/>
          </a:prstGeom>
        </p:spPr>
        <p:txBody>
          <a:bodyPr lIns="0" tIns="0" rIns="0" bIns="0" rtlCol="0" anchor="t">
            <a:spAutoFit/>
          </a:bodyPr>
          <a:lstStyle/>
          <a:p>
            <a:pPr algn="ctr">
              <a:lnSpc>
                <a:spcPts val="3256"/>
              </a:lnSpc>
              <a:spcBef>
                <a:spcPct val="0"/>
              </a:spcBef>
            </a:pPr>
            <a:r>
              <a:rPr lang="en-US" sz="2960" b="1">
                <a:solidFill>
                  <a:srgbClr val="FFBD59"/>
                </a:solidFill>
                <a:latin typeface="Vollkorn Bold"/>
                <a:ea typeface="Vollkorn Bold"/>
                <a:cs typeface="Vollkorn Bold"/>
                <a:sym typeface="Vollkorn Bold"/>
              </a:rPr>
              <a:t>2022-Prey Detection</a:t>
            </a:r>
          </a:p>
        </p:txBody>
      </p:sp>
      <p:sp>
        <p:nvSpPr>
          <p:cNvPr id="11" name="TextBox 11"/>
          <p:cNvSpPr txBox="1"/>
          <p:nvPr/>
        </p:nvSpPr>
        <p:spPr>
          <a:xfrm>
            <a:off x="12672155" y="5249600"/>
            <a:ext cx="4112918" cy="1501140"/>
          </a:xfrm>
          <a:prstGeom prst="rect">
            <a:avLst/>
          </a:prstGeom>
        </p:spPr>
        <p:txBody>
          <a:bodyPr lIns="0" tIns="0" rIns="0" bIns="0" rtlCol="0" anchor="t">
            <a:spAutoFit/>
          </a:bodyPr>
          <a:lstStyle/>
          <a:p>
            <a:pPr algn="ctr">
              <a:lnSpc>
                <a:spcPts val="2970"/>
              </a:lnSpc>
              <a:spcBef>
                <a:spcPct val="0"/>
              </a:spcBef>
            </a:pPr>
            <a:r>
              <a:rPr lang="en-US" sz="2700">
                <a:solidFill>
                  <a:srgbClr val="FFFFFF"/>
                </a:solidFill>
                <a:latin typeface="Vollkorn"/>
                <a:ea typeface="Vollkorn"/>
                <a:cs typeface="Vollkorn"/>
                <a:sym typeface="Vollkorn"/>
              </a:rPr>
              <a:t>Models investigated how web mechanics and silk properties help identify the location of an impact.</a:t>
            </a:r>
          </a:p>
        </p:txBody>
      </p:sp>
      <p:sp>
        <p:nvSpPr>
          <p:cNvPr id="12" name="TextBox 12"/>
          <p:cNvSpPr txBox="1"/>
          <p:nvPr/>
        </p:nvSpPr>
        <p:spPr>
          <a:xfrm>
            <a:off x="7079767" y="5249600"/>
            <a:ext cx="4112918" cy="1501140"/>
          </a:xfrm>
          <a:prstGeom prst="rect">
            <a:avLst/>
          </a:prstGeom>
        </p:spPr>
        <p:txBody>
          <a:bodyPr lIns="0" tIns="0" rIns="0" bIns="0" rtlCol="0" anchor="t">
            <a:spAutoFit/>
          </a:bodyPr>
          <a:lstStyle/>
          <a:p>
            <a:pPr algn="ctr">
              <a:lnSpc>
                <a:spcPts val="2970"/>
              </a:lnSpc>
              <a:spcBef>
                <a:spcPct val="0"/>
              </a:spcBef>
            </a:pPr>
            <a:r>
              <a:rPr lang="en-US" sz="2700">
                <a:solidFill>
                  <a:srgbClr val="FFFFFF"/>
                </a:solidFill>
                <a:latin typeface="Vollkorn"/>
                <a:ea typeface="Vollkorn"/>
                <a:cs typeface="Vollkorn"/>
                <a:sym typeface="Vollkorn"/>
              </a:rPr>
              <a:t>Researchers studied how a spider builds a three-dimensional web and how its geometry develops.</a:t>
            </a:r>
          </a:p>
        </p:txBody>
      </p:sp>
      <p:sp>
        <p:nvSpPr>
          <p:cNvPr id="13" name="TextBox 13"/>
          <p:cNvSpPr txBox="1"/>
          <p:nvPr/>
        </p:nvSpPr>
        <p:spPr>
          <a:xfrm>
            <a:off x="3456128" y="8988046"/>
            <a:ext cx="11672556" cy="758190"/>
          </a:xfrm>
          <a:prstGeom prst="rect">
            <a:avLst/>
          </a:prstGeom>
        </p:spPr>
        <p:txBody>
          <a:bodyPr lIns="0" tIns="0" rIns="0" bIns="0" rtlCol="0" anchor="t">
            <a:spAutoFit/>
          </a:bodyPr>
          <a:lstStyle/>
          <a:p>
            <a:pPr algn="ctr">
              <a:lnSpc>
                <a:spcPts val="2970"/>
              </a:lnSpc>
              <a:spcBef>
                <a:spcPct val="0"/>
              </a:spcBef>
            </a:pPr>
            <a:r>
              <a:rPr lang="en-US" sz="2700" b="1">
                <a:solidFill>
                  <a:srgbClr val="000000"/>
                </a:solidFill>
                <a:latin typeface="Vollkorn Bold"/>
                <a:ea typeface="Vollkorn Bold"/>
                <a:cs typeface="Vollkorn Bold"/>
                <a:sym typeface="Vollkorn Bold"/>
              </a:rPr>
              <a:t>Key Development</a:t>
            </a:r>
            <a:r>
              <a:rPr lang="en-US" sz="2700">
                <a:solidFill>
                  <a:srgbClr val="000000"/>
                </a:solidFill>
                <a:latin typeface="Vollkorn"/>
                <a:ea typeface="Vollkorn"/>
                <a:cs typeface="Vollkorn"/>
                <a:sym typeface="Vollkorn"/>
              </a:rPr>
              <a:t>: Research moved from understanding natural webs towards controllable structures and sensing applications.</a:t>
            </a:r>
          </a:p>
        </p:txBody>
      </p:sp>
      <p:sp>
        <p:nvSpPr>
          <p:cNvPr id="14" name="Freeform 14"/>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4618677" y="728370"/>
            <a:ext cx="9034742" cy="1232323"/>
          </a:xfrm>
          <a:prstGeom prst="rect">
            <a:avLst/>
          </a:prstGeom>
        </p:spPr>
        <p:txBody>
          <a:bodyPr lIns="0" tIns="0" rIns="0" bIns="0" rtlCol="0" anchor="t">
            <a:spAutoFit/>
          </a:bodyPr>
          <a:lstStyle/>
          <a:p>
            <a:pPr algn="ctr">
              <a:lnSpc>
                <a:spcPts val="9386"/>
              </a:lnSpc>
            </a:pPr>
            <a:r>
              <a:rPr lang="en-US" sz="8533">
                <a:solidFill>
                  <a:srgbClr val="1B1B1B"/>
                </a:solidFill>
                <a:latin typeface="Vollkorn"/>
                <a:ea typeface="Vollkorn"/>
                <a:cs typeface="Vollkorn"/>
                <a:sym typeface="Vollkorn"/>
              </a:rPr>
              <a:t>Research Timeline</a:t>
            </a:r>
          </a:p>
        </p:txBody>
      </p:sp>
      <p:sp>
        <p:nvSpPr>
          <p:cNvPr id="3" name="TextBox 3"/>
          <p:cNvSpPr txBox="1"/>
          <p:nvPr/>
        </p:nvSpPr>
        <p:spPr>
          <a:xfrm>
            <a:off x="3366689" y="1866459"/>
            <a:ext cx="11554622" cy="447675"/>
          </a:xfrm>
          <a:prstGeom prst="rect">
            <a:avLst/>
          </a:prstGeom>
        </p:spPr>
        <p:txBody>
          <a:bodyPr lIns="0" tIns="0" rIns="0" bIns="0" rtlCol="0" anchor="t">
            <a:spAutoFit/>
          </a:bodyPr>
          <a:lstStyle/>
          <a:p>
            <a:pPr algn="ctr">
              <a:lnSpc>
                <a:spcPts val="3300"/>
              </a:lnSpc>
            </a:pPr>
            <a:r>
              <a:rPr lang="en-US" sz="3000">
                <a:solidFill>
                  <a:srgbClr val="1B1B1B"/>
                </a:solidFill>
                <a:latin typeface="Vollkorn"/>
                <a:ea typeface="Vollkorn"/>
                <a:cs typeface="Vollkorn"/>
                <a:sym typeface="Vollkorn"/>
              </a:rPr>
              <a:t>Recent Advances - Artificial Spider-Web Structures (2024–2026)</a:t>
            </a:r>
          </a:p>
        </p:txBody>
      </p:sp>
      <p:sp>
        <p:nvSpPr>
          <p:cNvPr id="4" name="Freeform 4"/>
          <p:cNvSpPr/>
          <p:nvPr/>
        </p:nvSpPr>
        <p:spPr>
          <a:xfrm>
            <a:off x="1186712" y="2631286"/>
            <a:ext cx="4746059" cy="5486773"/>
          </a:xfrm>
          <a:custGeom>
            <a:avLst/>
            <a:gdLst/>
            <a:ahLst/>
            <a:cxnLst/>
            <a:rect l="l" t="t" r="r" b="b"/>
            <a:pathLst>
              <a:path w="4746059" h="5486773">
                <a:moveTo>
                  <a:pt x="0" y="0"/>
                </a:moveTo>
                <a:lnTo>
                  <a:pt x="4746059" y="0"/>
                </a:lnTo>
                <a:lnTo>
                  <a:pt x="4746059" y="5486773"/>
                </a:lnTo>
                <a:lnTo>
                  <a:pt x="0" y="5486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5" name="TextBox 5"/>
          <p:cNvSpPr txBox="1"/>
          <p:nvPr/>
        </p:nvSpPr>
        <p:spPr>
          <a:xfrm>
            <a:off x="1689807" y="3727512"/>
            <a:ext cx="3739868" cy="867543"/>
          </a:xfrm>
          <a:prstGeom prst="rect">
            <a:avLst/>
          </a:prstGeom>
        </p:spPr>
        <p:txBody>
          <a:bodyPr lIns="0" tIns="0" rIns="0" bIns="0" rtlCol="0" anchor="t">
            <a:spAutoFit/>
          </a:bodyPr>
          <a:lstStyle/>
          <a:p>
            <a:pPr algn="ctr">
              <a:lnSpc>
                <a:spcPts val="3366"/>
              </a:lnSpc>
              <a:spcBef>
                <a:spcPct val="0"/>
              </a:spcBef>
            </a:pPr>
            <a:r>
              <a:rPr lang="en-US" sz="3060" b="1">
                <a:solidFill>
                  <a:srgbClr val="FFBD59"/>
                </a:solidFill>
                <a:latin typeface="Vollkorn Bold"/>
                <a:ea typeface="Vollkorn Bold"/>
                <a:cs typeface="Vollkorn Bold"/>
                <a:sym typeface="Vollkorn Bold"/>
              </a:rPr>
              <a:t>2024-Sensitive Web-Inspired Sensors</a:t>
            </a:r>
          </a:p>
        </p:txBody>
      </p:sp>
      <p:sp>
        <p:nvSpPr>
          <p:cNvPr id="6" name="Freeform 6"/>
          <p:cNvSpPr/>
          <p:nvPr/>
        </p:nvSpPr>
        <p:spPr>
          <a:xfrm>
            <a:off x="6771326" y="2720223"/>
            <a:ext cx="4746059" cy="5486773"/>
          </a:xfrm>
          <a:custGeom>
            <a:avLst/>
            <a:gdLst/>
            <a:ahLst/>
            <a:cxnLst/>
            <a:rect l="l" t="t" r="r" b="b"/>
            <a:pathLst>
              <a:path w="4746059" h="5486773">
                <a:moveTo>
                  <a:pt x="0" y="0"/>
                </a:moveTo>
                <a:lnTo>
                  <a:pt x="4746059" y="0"/>
                </a:lnTo>
                <a:lnTo>
                  <a:pt x="4746059" y="5486773"/>
                </a:lnTo>
                <a:lnTo>
                  <a:pt x="0" y="5486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7" name="TextBox 7"/>
          <p:cNvSpPr txBox="1"/>
          <p:nvPr/>
        </p:nvSpPr>
        <p:spPr>
          <a:xfrm>
            <a:off x="7489352" y="3757357"/>
            <a:ext cx="3310007" cy="837698"/>
          </a:xfrm>
          <a:prstGeom prst="rect">
            <a:avLst/>
          </a:prstGeom>
        </p:spPr>
        <p:txBody>
          <a:bodyPr lIns="0" tIns="0" rIns="0" bIns="0" rtlCol="0" anchor="t">
            <a:spAutoFit/>
          </a:bodyPr>
          <a:lstStyle/>
          <a:p>
            <a:pPr algn="ctr">
              <a:lnSpc>
                <a:spcPts val="3256"/>
              </a:lnSpc>
              <a:spcBef>
                <a:spcPct val="0"/>
              </a:spcBef>
            </a:pPr>
            <a:r>
              <a:rPr lang="en-US" sz="2960" b="1">
                <a:solidFill>
                  <a:srgbClr val="FFBD59"/>
                </a:solidFill>
                <a:latin typeface="Vollkorn Bold"/>
                <a:ea typeface="Vollkorn Bold"/>
                <a:cs typeface="Vollkorn Bold"/>
                <a:sym typeface="Vollkorn Bold"/>
              </a:rPr>
              <a:t>2025–2026-Energy Absorption</a:t>
            </a:r>
          </a:p>
        </p:txBody>
      </p:sp>
      <p:sp>
        <p:nvSpPr>
          <p:cNvPr id="8" name="TextBox 8"/>
          <p:cNvSpPr txBox="1"/>
          <p:nvPr/>
        </p:nvSpPr>
        <p:spPr>
          <a:xfrm>
            <a:off x="1505883" y="5249600"/>
            <a:ext cx="4112918" cy="1501140"/>
          </a:xfrm>
          <a:prstGeom prst="rect">
            <a:avLst/>
          </a:prstGeom>
        </p:spPr>
        <p:txBody>
          <a:bodyPr lIns="0" tIns="0" rIns="0" bIns="0" rtlCol="0" anchor="t">
            <a:spAutoFit/>
          </a:bodyPr>
          <a:lstStyle/>
          <a:p>
            <a:pPr algn="ctr">
              <a:lnSpc>
                <a:spcPts val="2970"/>
              </a:lnSpc>
              <a:spcBef>
                <a:spcPct val="0"/>
              </a:spcBef>
            </a:pPr>
            <a:r>
              <a:rPr lang="en-US" sz="2700">
                <a:solidFill>
                  <a:srgbClr val="FFFFFF"/>
                </a:solidFill>
                <a:latin typeface="Vollkorn"/>
                <a:ea typeface="Vollkorn"/>
                <a:cs typeface="Vollkorn"/>
                <a:sym typeface="Vollkorn"/>
              </a:rPr>
              <a:t>Researchers developed a spider-web-inspired material for detecting airflow and sound.</a:t>
            </a:r>
          </a:p>
        </p:txBody>
      </p:sp>
      <p:sp>
        <p:nvSpPr>
          <p:cNvPr id="9" name="Freeform 9"/>
          <p:cNvSpPr/>
          <p:nvPr/>
        </p:nvSpPr>
        <p:spPr>
          <a:xfrm>
            <a:off x="12355585" y="2720223"/>
            <a:ext cx="4746059" cy="5486773"/>
          </a:xfrm>
          <a:custGeom>
            <a:avLst/>
            <a:gdLst/>
            <a:ahLst/>
            <a:cxnLst/>
            <a:rect l="l" t="t" r="r" b="b"/>
            <a:pathLst>
              <a:path w="4746059" h="5486773">
                <a:moveTo>
                  <a:pt x="0" y="0"/>
                </a:moveTo>
                <a:lnTo>
                  <a:pt x="4746059" y="0"/>
                </a:lnTo>
                <a:lnTo>
                  <a:pt x="4746059" y="5486773"/>
                </a:lnTo>
                <a:lnTo>
                  <a:pt x="0" y="5486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10" name="TextBox 10"/>
          <p:cNvSpPr txBox="1"/>
          <p:nvPr/>
        </p:nvSpPr>
        <p:spPr>
          <a:xfrm>
            <a:off x="13073611" y="3757357"/>
            <a:ext cx="3310007" cy="837698"/>
          </a:xfrm>
          <a:prstGeom prst="rect">
            <a:avLst/>
          </a:prstGeom>
        </p:spPr>
        <p:txBody>
          <a:bodyPr lIns="0" tIns="0" rIns="0" bIns="0" rtlCol="0" anchor="t">
            <a:spAutoFit/>
          </a:bodyPr>
          <a:lstStyle/>
          <a:p>
            <a:pPr algn="ctr">
              <a:lnSpc>
                <a:spcPts val="3256"/>
              </a:lnSpc>
              <a:spcBef>
                <a:spcPct val="0"/>
              </a:spcBef>
            </a:pPr>
            <a:r>
              <a:rPr lang="en-US" sz="2960" b="1">
                <a:solidFill>
                  <a:srgbClr val="FFBD59"/>
                </a:solidFill>
                <a:latin typeface="Vollkorn Bold"/>
                <a:ea typeface="Vollkorn Bold"/>
                <a:cs typeface="Vollkorn Bold"/>
                <a:sym typeface="Vollkorn Bold"/>
              </a:rPr>
              <a:t>2026-Artificial Web Sensors</a:t>
            </a:r>
          </a:p>
        </p:txBody>
      </p:sp>
      <p:sp>
        <p:nvSpPr>
          <p:cNvPr id="11" name="TextBox 11"/>
          <p:cNvSpPr txBox="1"/>
          <p:nvPr/>
        </p:nvSpPr>
        <p:spPr>
          <a:xfrm>
            <a:off x="12672155" y="5249600"/>
            <a:ext cx="4112918" cy="1872615"/>
          </a:xfrm>
          <a:prstGeom prst="rect">
            <a:avLst/>
          </a:prstGeom>
        </p:spPr>
        <p:txBody>
          <a:bodyPr lIns="0" tIns="0" rIns="0" bIns="0" rtlCol="0" anchor="t">
            <a:spAutoFit/>
          </a:bodyPr>
          <a:lstStyle/>
          <a:p>
            <a:pPr algn="ctr">
              <a:lnSpc>
                <a:spcPts val="2970"/>
              </a:lnSpc>
              <a:spcBef>
                <a:spcPct val="0"/>
              </a:spcBef>
            </a:pPr>
            <a:r>
              <a:rPr lang="en-US" sz="2700">
                <a:solidFill>
                  <a:srgbClr val="FFFFFF"/>
                </a:solidFill>
                <a:latin typeface="Vollkorn"/>
                <a:ea typeface="Vollkorn"/>
                <a:cs typeface="Vollkorn"/>
                <a:sym typeface="Vollkorn"/>
              </a:rPr>
              <a:t>Research demonstrated multiscale artificial webs for pressure sensing and human–machine interaction.</a:t>
            </a:r>
          </a:p>
        </p:txBody>
      </p:sp>
      <p:sp>
        <p:nvSpPr>
          <p:cNvPr id="12" name="TextBox 12"/>
          <p:cNvSpPr txBox="1"/>
          <p:nvPr/>
        </p:nvSpPr>
        <p:spPr>
          <a:xfrm>
            <a:off x="7079589" y="5162550"/>
            <a:ext cx="4112918" cy="1872615"/>
          </a:xfrm>
          <a:prstGeom prst="rect">
            <a:avLst/>
          </a:prstGeom>
        </p:spPr>
        <p:txBody>
          <a:bodyPr lIns="0" tIns="0" rIns="0" bIns="0" rtlCol="0" anchor="t">
            <a:spAutoFit/>
          </a:bodyPr>
          <a:lstStyle/>
          <a:p>
            <a:pPr algn="ctr">
              <a:lnSpc>
                <a:spcPts val="2970"/>
              </a:lnSpc>
              <a:spcBef>
                <a:spcPct val="0"/>
              </a:spcBef>
            </a:pPr>
            <a:r>
              <a:rPr lang="en-US" sz="2700">
                <a:solidFill>
                  <a:srgbClr val="FFFFFF"/>
                </a:solidFill>
                <a:latin typeface="Vollkorn"/>
                <a:ea typeface="Vollkorn"/>
                <a:cs typeface="Vollkorn"/>
                <a:sym typeface="Vollkorn"/>
              </a:rPr>
              <a:t>Studies investigated printed spider-web structures designed to withstand compression and absorb energy.</a:t>
            </a:r>
          </a:p>
        </p:txBody>
      </p:sp>
      <p:sp>
        <p:nvSpPr>
          <p:cNvPr id="13" name="TextBox 13"/>
          <p:cNvSpPr txBox="1"/>
          <p:nvPr/>
        </p:nvSpPr>
        <p:spPr>
          <a:xfrm>
            <a:off x="3456128" y="8988046"/>
            <a:ext cx="11672556" cy="758190"/>
          </a:xfrm>
          <a:prstGeom prst="rect">
            <a:avLst/>
          </a:prstGeom>
        </p:spPr>
        <p:txBody>
          <a:bodyPr lIns="0" tIns="0" rIns="0" bIns="0" rtlCol="0" anchor="t">
            <a:spAutoFit/>
          </a:bodyPr>
          <a:lstStyle/>
          <a:p>
            <a:pPr algn="ctr">
              <a:lnSpc>
                <a:spcPts val="2970"/>
              </a:lnSpc>
              <a:spcBef>
                <a:spcPct val="0"/>
              </a:spcBef>
            </a:pPr>
            <a:r>
              <a:rPr lang="en-US" sz="2700" b="1">
                <a:solidFill>
                  <a:srgbClr val="000000"/>
                </a:solidFill>
                <a:latin typeface="Vollkorn Bold"/>
                <a:ea typeface="Vollkorn Bold"/>
                <a:cs typeface="Vollkorn Bold"/>
                <a:sym typeface="Vollkorn Bold"/>
              </a:rPr>
              <a:t>Current Direction: </a:t>
            </a:r>
            <a:r>
              <a:rPr lang="en-US" sz="2700">
                <a:solidFill>
                  <a:srgbClr val="000000"/>
                </a:solidFill>
                <a:latin typeface="Vollkorn"/>
                <a:ea typeface="Vollkorn"/>
                <a:cs typeface="Vollkorn"/>
                <a:sym typeface="Vollkorn"/>
              </a:rPr>
              <a:t>Research focuses on manufacturable structures, advanced sensing, and improved mechanical performance.</a:t>
            </a:r>
          </a:p>
        </p:txBody>
      </p:sp>
      <p:sp>
        <p:nvSpPr>
          <p:cNvPr id="14" name="Freeform 14"/>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5489653" y="445876"/>
            <a:ext cx="7308694" cy="1232323"/>
          </a:xfrm>
          <a:prstGeom prst="rect">
            <a:avLst/>
          </a:prstGeom>
        </p:spPr>
        <p:txBody>
          <a:bodyPr lIns="0" tIns="0" rIns="0" bIns="0" rtlCol="0" anchor="t">
            <a:spAutoFit/>
          </a:bodyPr>
          <a:lstStyle/>
          <a:p>
            <a:pPr algn="l">
              <a:lnSpc>
                <a:spcPts val="9386"/>
              </a:lnSpc>
            </a:pPr>
            <a:r>
              <a:rPr lang="en-US" sz="8533">
                <a:solidFill>
                  <a:srgbClr val="1B1B1B"/>
                </a:solidFill>
                <a:latin typeface="Vollkorn"/>
                <a:ea typeface="Vollkorn"/>
                <a:cs typeface="Vollkorn"/>
                <a:sym typeface="Vollkorn"/>
              </a:rPr>
              <a:t>Statistical Data</a:t>
            </a:r>
          </a:p>
        </p:txBody>
      </p:sp>
      <p:pic>
        <p:nvPicPr>
          <p:cNvPr id="3" name="Picture 3"/>
          <p:cNvPicPr>
            <a:picLocks noChangeAspect="1"/>
          </p:cNvPicPr>
          <p:nvPr/>
        </p:nvPicPr>
        <p:blipFill>
          <a:blip r:embed="rId2"/>
          <a:stretch>
            <a:fillRect/>
          </a:stretch>
        </p:blipFill>
        <p:spPr>
          <a:xfrm>
            <a:off x="1390044" y="2658226"/>
            <a:ext cx="6358456" cy="6319574"/>
          </a:xfrm>
          <a:prstGeom prst="rect">
            <a:avLst/>
          </a:prstGeom>
        </p:spPr>
      </p:pic>
      <p:pic>
        <p:nvPicPr>
          <p:cNvPr id="4" name="Picture 4"/>
          <p:cNvPicPr>
            <a:picLocks noChangeAspect="1"/>
          </p:cNvPicPr>
          <p:nvPr/>
        </p:nvPicPr>
        <p:blipFill>
          <a:blip r:embed="rId3"/>
          <a:stretch>
            <a:fillRect/>
          </a:stretch>
        </p:blipFill>
        <p:spPr>
          <a:xfrm>
            <a:off x="9517806" y="2562306"/>
            <a:ext cx="7509487" cy="6415002"/>
          </a:xfrm>
          <a:prstGeom prst="rect">
            <a:avLst/>
          </a:prstGeom>
        </p:spPr>
      </p:pic>
      <p:sp>
        <p:nvSpPr>
          <p:cNvPr id="5" name="TextBox 5"/>
          <p:cNvSpPr txBox="1"/>
          <p:nvPr/>
        </p:nvSpPr>
        <p:spPr>
          <a:xfrm>
            <a:off x="1890037" y="8886078"/>
            <a:ext cx="14349812" cy="598170"/>
          </a:xfrm>
          <a:prstGeom prst="rect">
            <a:avLst/>
          </a:prstGeom>
        </p:spPr>
        <p:txBody>
          <a:bodyPr lIns="0" tIns="0" rIns="0" bIns="0" rtlCol="0" anchor="t">
            <a:spAutoFit/>
          </a:bodyPr>
          <a:lstStyle/>
          <a:p>
            <a:pPr algn="ctr">
              <a:lnSpc>
                <a:spcPts val="2310"/>
              </a:lnSpc>
              <a:spcBef>
                <a:spcPct val="0"/>
              </a:spcBef>
            </a:pPr>
            <a:r>
              <a:rPr lang="en-US" sz="2100">
                <a:solidFill>
                  <a:srgbClr val="1B1B1B"/>
                </a:solidFill>
                <a:latin typeface="Vollkorn"/>
                <a:ea typeface="Vollkorn"/>
                <a:cs typeface="Vollkorn"/>
                <a:sym typeface="Vollkorn"/>
              </a:rPr>
              <a:t>per unit weight steel is far behind silk, and silk's real advantage is toughness, about 3× the strongest steels. Kevlar is stronger per weight but much less tough.</a:t>
            </a:r>
          </a:p>
        </p:txBody>
      </p:sp>
      <p:sp>
        <p:nvSpPr>
          <p:cNvPr id="6" name="TextBox 6"/>
          <p:cNvSpPr txBox="1"/>
          <p:nvPr/>
        </p:nvSpPr>
        <p:spPr>
          <a:xfrm>
            <a:off x="1728521" y="2265143"/>
            <a:ext cx="5490107" cy="598170"/>
          </a:xfrm>
          <a:prstGeom prst="rect">
            <a:avLst/>
          </a:prstGeom>
        </p:spPr>
        <p:txBody>
          <a:bodyPr lIns="0" tIns="0" rIns="0" bIns="0" rtlCol="0" anchor="t">
            <a:spAutoFit/>
          </a:bodyPr>
          <a:lstStyle/>
          <a:p>
            <a:pPr algn="ctr">
              <a:lnSpc>
                <a:spcPts val="2310"/>
              </a:lnSpc>
              <a:spcBef>
                <a:spcPct val="0"/>
              </a:spcBef>
            </a:pPr>
            <a:r>
              <a:rPr lang="en-US" sz="2100" b="1">
                <a:solidFill>
                  <a:srgbClr val="1B1B1B"/>
                </a:solidFill>
                <a:latin typeface="Vollkorn Bold"/>
                <a:ea typeface="Vollkorn Bold"/>
                <a:cs typeface="Vollkorn Bold"/>
                <a:sym typeface="Vollkorn Bold"/>
              </a:rPr>
              <a:t>Specific strength: tensile strength ÷ density (higher = stronger per unit weight)</a:t>
            </a:r>
          </a:p>
        </p:txBody>
      </p:sp>
      <p:sp>
        <p:nvSpPr>
          <p:cNvPr id="7" name="TextBox 7"/>
          <p:cNvSpPr txBox="1"/>
          <p:nvPr/>
        </p:nvSpPr>
        <p:spPr>
          <a:xfrm>
            <a:off x="10911396" y="2265143"/>
            <a:ext cx="5490107" cy="598170"/>
          </a:xfrm>
          <a:prstGeom prst="rect">
            <a:avLst/>
          </a:prstGeom>
        </p:spPr>
        <p:txBody>
          <a:bodyPr lIns="0" tIns="0" rIns="0" bIns="0" rtlCol="0" anchor="t">
            <a:spAutoFit/>
          </a:bodyPr>
          <a:lstStyle/>
          <a:p>
            <a:pPr algn="ctr">
              <a:lnSpc>
                <a:spcPts val="2310"/>
              </a:lnSpc>
              <a:spcBef>
                <a:spcPct val="0"/>
              </a:spcBef>
            </a:pPr>
            <a:r>
              <a:rPr lang="en-US" sz="2100" b="1">
                <a:solidFill>
                  <a:srgbClr val="1B1B1B"/>
                </a:solidFill>
                <a:latin typeface="Vollkorn Bold"/>
                <a:ea typeface="Vollkorn Bold"/>
                <a:cs typeface="Vollkorn Bold"/>
                <a:sym typeface="Vollkorn Bold"/>
              </a:rPr>
              <a:t>Toughness: energy absorbed before failure (MJ/m³)</a:t>
            </a:r>
          </a:p>
        </p:txBody>
      </p:sp>
      <p:sp>
        <p:nvSpPr>
          <p:cNvPr id="8" name="Freeform 8"/>
          <p:cNvSpPr/>
          <p:nvPr/>
        </p:nvSpPr>
        <p:spPr>
          <a:xfrm rot="5400000" flipV="1">
            <a:off x="-211112" y="44287"/>
            <a:ext cx="3532318" cy="3267394"/>
          </a:xfrm>
          <a:custGeom>
            <a:avLst/>
            <a:gdLst/>
            <a:ahLst/>
            <a:cxnLst/>
            <a:rect l="l" t="t" r="r" b="b"/>
            <a:pathLst>
              <a:path w="3532318" h="3267394">
                <a:moveTo>
                  <a:pt x="0" y="3267395"/>
                </a:moveTo>
                <a:lnTo>
                  <a:pt x="3532319" y="3267395"/>
                </a:lnTo>
                <a:lnTo>
                  <a:pt x="3532319" y="0"/>
                </a:lnTo>
                <a:lnTo>
                  <a:pt x="0" y="0"/>
                </a:lnTo>
                <a:lnTo>
                  <a:pt x="0" y="3267395"/>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6769307" y="1095375"/>
            <a:ext cx="4749386" cy="1222375"/>
          </a:xfrm>
          <a:prstGeom prst="rect">
            <a:avLst/>
          </a:prstGeom>
        </p:spPr>
        <p:txBody>
          <a:bodyPr lIns="0" tIns="0" rIns="0" bIns="0" rtlCol="0" anchor="t">
            <a:spAutoFit/>
          </a:bodyPr>
          <a:lstStyle/>
          <a:p>
            <a:pPr algn="l">
              <a:lnSpc>
                <a:spcPts val="9349"/>
              </a:lnSpc>
            </a:pPr>
            <a:r>
              <a:rPr lang="en-US" sz="8499">
                <a:solidFill>
                  <a:srgbClr val="1B1B1B"/>
                </a:solidFill>
                <a:latin typeface="Vollkorn"/>
                <a:ea typeface="Vollkorn"/>
                <a:cs typeface="Vollkorn"/>
                <a:sym typeface="Vollkorn"/>
              </a:rPr>
              <a:t>Summary</a:t>
            </a:r>
          </a:p>
        </p:txBody>
      </p:sp>
      <p:sp>
        <p:nvSpPr>
          <p:cNvPr id="3" name="TextBox 3"/>
          <p:cNvSpPr txBox="1"/>
          <p:nvPr/>
        </p:nvSpPr>
        <p:spPr>
          <a:xfrm>
            <a:off x="3366689" y="2192561"/>
            <a:ext cx="11554622" cy="447675"/>
          </a:xfrm>
          <a:prstGeom prst="rect">
            <a:avLst/>
          </a:prstGeom>
        </p:spPr>
        <p:txBody>
          <a:bodyPr lIns="0" tIns="0" rIns="0" bIns="0" rtlCol="0" anchor="t">
            <a:spAutoFit/>
          </a:bodyPr>
          <a:lstStyle/>
          <a:p>
            <a:pPr algn="ctr">
              <a:lnSpc>
                <a:spcPts val="3300"/>
              </a:lnSpc>
            </a:pPr>
            <a:r>
              <a:rPr lang="en-US" sz="3000">
                <a:solidFill>
                  <a:srgbClr val="1B1B1B"/>
                </a:solidFill>
                <a:latin typeface="Vollkorn"/>
                <a:ea typeface="Vollkorn"/>
                <a:cs typeface="Vollkorn"/>
                <a:sym typeface="Vollkorn"/>
              </a:rPr>
              <a:t>Key Biological Principles</a:t>
            </a:r>
          </a:p>
        </p:txBody>
      </p:sp>
      <p:sp>
        <p:nvSpPr>
          <p:cNvPr id="4" name="TextBox 4"/>
          <p:cNvSpPr txBox="1"/>
          <p:nvPr/>
        </p:nvSpPr>
        <p:spPr>
          <a:xfrm>
            <a:off x="1986295" y="2784347"/>
            <a:ext cx="14315410" cy="7306610"/>
          </a:xfrm>
          <a:prstGeom prst="rect">
            <a:avLst/>
          </a:prstGeom>
        </p:spPr>
        <p:txBody>
          <a:bodyPr lIns="0" tIns="0" rIns="0" bIns="0" rtlCol="0" anchor="t">
            <a:spAutoFit/>
          </a:bodyPr>
          <a:lstStyle/>
          <a:p>
            <a:pPr algn="l">
              <a:lnSpc>
                <a:spcPts val="3380"/>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Efficient Geometry</a:t>
            </a:r>
            <a:r>
              <a:rPr lang="en-US" sz="3073">
                <a:solidFill>
                  <a:srgbClr val="1B1B1B"/>
                </a:solidFill>
                <a:latin typeface="Vollkorn"/>
                <a:ea typeface="Vollkorn"/>
                <a:cs typeface="Vollkorn"/>
                <a:sym typeface="Vollkorn"/>
              </a:rPr>
              <a:t>: Radial and spiral threads form a connected network that supports the web and distributes forces.</a:t>
            </a:r>
          </a:p>
          <a:p>
            <a:pPr algn="l">
              <a:lnSpc>
                <a:spcPts val="3380"/>
              </a:lnSpc>
            </a:pPr>
            <a:endParaRPr lang="en-US" sz="3073">
              <a:solidFill>
                <a:srgbClr val="1B1B1B"/>
              </a:solidFill>
              <a:latin typeface="Vollkorn"/>
              <a:ea typeface="Vollkorn"/>
              <a:cs typeface="Vollkorn"/>
              <a:sym typeface="Vollkorn"/>
            </a:endParaRPr>
          </a:p>
          <a:p>
            <a:pPr algn="l">
              <a:lnSpc>
                <a:spcPts val="3380"/>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Material Performance</a:t>
            </a:r>
            <a:r>
              <a:rPr lang="en-US" sz="3073">
                <a:solidFill>
                  <a:srgbClr val="1B1B1B"/>
                </a:solidFill>
                <a:latin typeface="Vollkorn"/>
                <a:ea typeface="Vollkorn"/>
                <a:cs typeface="Vollkorn"/>
                <a:sym typeface="Vollkorn"/>
              </a:rPr>
              <a:t>: Spider silk combines strength with flexibility, allowing it to withstand different types of mechanical stress.</a:t>
            </a:r>
          </a:p>
          <a:p>
            <a:pPr algn="l">
              <a:lnSpc>
                <a:spcPts val="3380"/>
              </a:lnSpc>
            </a:pPr>
            <a:endParaRPr lang="en-US" sz="3073">
              <a:solidFill>
                <a:srgbClr val="1B1B1B"/>
              </a:solidFill>
              <a:latin typeface="Vollkorn"/>
              <a:ea typeface="Vollkorn"/>
              <a:cs typeface="Vollkorn"/>
              <a:sym typeface="Vollkorn"/>
            </a:endParaRPr>
          </a:p>
          <a:p>
            <a:pPr algn="l">
              <a:lnSpc>
                <a:spcPts val="3380"/>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Force Distribution</a:t>
            </a:r>
            <a:r>
              <a:rPr lang="en-US" sz="3073">
                <a:solidFill>
                  <a:srgbClr val="1B1B1B"/>
                </a:solidFill>
                <a:latin typeface="Vollkorn"/>
                <a:ea typeface="Vollkorn"/>
                <a:cs typeface="Vollkorn"/>
                <a:sym typeface="Vollkorn"/>
              </a:rPr>
              <a:t>: Connected threads transfer loads between different parts of the web, helping it respond to external forces.</a:t>
            </a:r>
          </a:p>
          <a:p>
            <a:pPr algn="l">
              <a:lnSpc>
                <a:spcPts val="3380"/>
              </a:lnSpc>
            </a:pPr>
            <a:endParaRPr lang="en-US" sz="3073">
              <a:solidFill>
                <a:srgbClr val="1B1B1B"/>
              </a:solidFill>
              <a:latin typeface="Vollkorn"/>
              <a:ea typeface="Vollkorn"/>
              <a:cs typeface="Vollkorn"/>
              <a:sym typeface="Vollkorn"/>
            </a:endParaRPr>
          </a:p>
          <a:p>
            <a:pPr algn="l">
              <a:lnSpc>
                <a:spcPts val="3380"/>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Energy Absorption</a:t>
            </a:r>
            <a:r>
              <a:rPr lang="en-US" sz="3073">
                <a:solidFill>
                  <a:srgbClr val="1B1B1B"/>
                </a:solidFill>
                <a:latin typeface="Vollkorn"/>
                <a:ea typeface="Vollkorn"/>
                <a:cs typeface="Vollkorn"/>
                <a:sym typeface="Vollkorn"/>
              </a:rPr>
              <a:t>: Silk fibres stretch and deform under impact, helping dissipate energy before complete structural failure.</a:t>
            </a:r>
          </a:p>
          <a:p>
            <a:pPr algn="l">
              <a:lnSpc>
                <a:spcPts val="3380"/>
              </a:lnSpc>
            </a:pPr>
            <a:endParaRPr lang="en-US" sz="3073">
              <a:solidFill>
                <a:srgbClr val="1B1B1B"/>
              </a:solidFill>
              <a:latin typeface="Vollkorn"/>
              <a:ea typeface="Vollkorn"/>
              <a:cs typeface="Vollkorn"/>
              <a:sym typeface="Vollkorn"/>
            </a:endParaRPr>
          </a:p>
          <a:p>
            <a:pPr algn="l">
              <a:lnSpc>
                <a:spcPts val="3380"/>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Sensory Function</a:t>
            </a:r>
            <a:r>
              <a:rPr lang="en-US" sz="3073">
                <a:solidFill>
                  <a:srgbClr val="1B1B1B"/>
                </a:solidFill>
                <a:latin typeface="Vollkorn"/>
                <a:ea typeface="Vollkorn"/>
                <a:cs typeface="Vollkorn"/>
                <a:sym typeface="Vollkorn"/>
              </a:rPr>
              <a:t>: Vibrations travel through the web and provide information about movement and the location of prey.</a:t>
            </a:r>
          </a:p>
          <a:p>
            <a:pPr algn="l">
              <a:lnSpc>
                <a:spcPts val="3380"/>
              </a:lnSpc>
            </a:pPr>
            <a:endParaRPr lang="en-US" sz="3073">
              <a:solidFill>
                <a:srgbClr val="1B1B1B"/>
              </a:solidFill>
              <a:latin typeface="Vollkorn"/>
              <a:ea typeface="Vollkorn"/>
              <a:cs typeface="Vollkorn"/>
              <a:sym typeface="Vollkorn"/>
            </a:endParaRPr>
          </a:p>
          <a:p>
            <a:pPr algn="l">
              <a:lnSpc>
                <a:spcPts val="3380"/>
              </a:lnSpc>
            </a:pPr>
            <a:r>
              <a:rPr lang="en-US" sz="3073" b="1">
                <a:solidFill>
                  <a:srgbClr val="1B1B1B"/>
                </a:solidFill>
                <a:latin typeface="Vollkorn Bold"/>
                <a:ea typeface="Vollkorn Bold"/>
                <a:cs typeface="Vollkorn Bold"/>
                <a:sym typeface="Vollkorn Bold"/>
              </a:rPr>
              <a:t>Main Finding</a:t>
            </a:r>
            <a:r>
              <a:rPr lang="en-US" sz="3073">
                <a:solidFill>
                  <a:srgbClr val="1B1B1B"/>
                </a:solidFill>
                <a:latin typeface="Vollkorn"/>
                <a:ea typeface="Vollkorn"/>
                <a:cs typeface="Vollkorn"/>
                <a:sym typeface="Vollkorn"/>
              </a:rPr>
              <a:t>: Spider-web performance depends on the interaction between its geometry, material properties, and connected network.</a:t>
            </a:r>
          </a:p>
        </p:txBody>
      </p:sp>
      <p:sp>
        <p:nvSpPr>
          <p:cNvPr id="5" name="Freeform 5"/>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6769307" y="1095375"/>
            <a:ext cx="4749386" cy="1222375"/>
          </a:xfrm>
          <a:prstGeom prst="rect">
            <a:avLst/>
          </a:prstGeom>
        </p:spPr>
        <p:txBody>
          <a:bodyPr lIns="0" tIns="0" rIns="0" bIns="0" rtlCol="0" anchor="t">
            <a:spAutoFit/>
          </a:bodyPr>
          <a:lstStyle/>
          <a:p>
            <a:pPr algn="l">
              <a:lnSpc>
                <a:spcPts val="9349"/>
              </a:lnSpc>
            </a:pPr>
            <a:r>
              <a:rPr lang="en-US" sz="8499">
                <a:solidFill>
                  <a:srgbClr val="1B1B1B"/>
                </a:solidFill>
                <a:latin typeface="Vollkorn"/>
                <a:ea typeface="Vollkorn"/>
                <a:cs typeface="Vollkorn"/>
                <a:sym typeface="Vollkorn"/>
              </a:rPr>
              <a:t>Summary</a:t>
            </a:r>
          </a:p>
        </p:txBody>
      </p:sp>
      <p:sp>
        <p:nvSpPr>
          <p:cNvPr id="3" name="TextBox 3"/>
          <p:cNvSpPr txBox="1"/>
          <p:nvPr/>
        </p:nvSpPr>
        <p:spPr>
          <a:xfrm>
            <a:off x="3366689" y="2192561"/>
            <a:ext cx="11554622" cy="447675"/>
          </a:xfrm>
          <a:prstGeom prst="rect">
            <a:avLst/>
          </a:prstGeom>
        </p:spPr>
        <p:txBody>
          <a:bodyPr lIns="0" tIns="0" rIns="0" bIns="0" rtlCol="0" anchor="t">
            <a:spAutoFit/>
          </a:bodyPr>
          <a:lstStyle/>
          <a:p>
            <a:pPr algn="ctr">
              <a:lnSpc>
                <a:spcPts val="3300"/>
              </a:lnSpc>
            </a:pPr>
            <a:r>
              <a:rPr lang="en-US" sz="3000">
                <a:solidFill>
                  <a:srgbClr val="1B1B1B"/>
                </a:solidFill>
                <a:latin typeface="Vollkorn"/>
                <a:ea typeface="Vollkorn"/>
                <a:cs typeface="Vollkorn"/>
                <a:sym typeface="Vollkorn"/>
              </a:rPr>
              <a:t>Engineering Lessons from Spider Webs</a:t>
            </a:r>
          </a:p>
        </p:txBody>
      </p:sp>
      <p:sp>
        <p:nvSpPr>
          <p:cNvPr id="4" name="TextBox 4"/>
          <p:cNvSpPr txBox="1"/>
          <p:nvPr/>
        </p:nvSpPr>
        <p:spPr>
          <a:xfrm>
            <a:off x="1986295" y="3540311"/>
            <a:ext cx="14315410" cy="6020735"/>
          </a:xfrm>
          <a:prstGeom prst="rect">
            <a:avLst/>
          </a:prstGeom>
        </p:spPr>
        <p:txBody>
          <a:bodyPr lIns="0" tIns="0" rIns="0" bIns="0" rtlCol="0" anchor="t">
            <a:spAutoFit/>
          </a:bodyPr>
          <a:lstStyle/>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Lightweight Design</a:t>
            </a:r>
            <a:r>
              <a:rPr lang="en-US" sz="3073">
                <a:solidFill>
                  <a:srgbClr val="1B1B1B"/>
                </a:solidFill>
                <a:latin typeface="Vollkorn"/>
                <a:ea typeface="Vollkorn"/>
                <a:cs typeface="Vollkorn"/>
                <a:sym typeface="Vollkorn"/>
              </a:rPr>
              <a:t>: Efficiently arranged networks can reduce unnecessary material while maintaining useful structural performance.</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Damage Tolerance</a:t>
            </a:r>
            <a:r>
              <a:rPr lang="en-US" sz="3073">
                <a:solidFill>
                  <a:srgbClr val="1B1B1B"/>
                </a:solidFill>
                <a:latin typeface="Vollkorn"/>
                <a:ea typeface="Vollkorn"/>
                <a:cs typeface="Vollkorn"/>
                <a:sym typeface="Vollkorn"/>
              </a:rPr>
              <a:t>: Connected systems with alternative load paths may continue functioning after some local connections fail.</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Adaptive Performance</a:t>
            </a:r>
            <a:r>
              <a:rPr lang="en-US" sz="3073">
                <a:solidFill>
                  <a:srgbClr val="1B1B1B"/>
                </a:solidFill>
                <a:latin typeface="Vollkorn"/>
                <a:ea typeface="Vollkorn"/>
                <a:cs typeface="Vollkorn"/>
                <a:sym typeface="Vollkorn"/>
              </a:rPr>
              <a:t>: Adjustable cable tension can change how a structure responds to different loads and environmental conditions.</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Structural Monitoring</a:t>
            </a:r>
            <a:r>
              <a:rPr lang="en-US" sz="3073">
                <a:solidFill>
                  <a:srgbClr val="1B1B1B"/>
                </a:solidFill>
                <a:latin typeface="Vollkorn"/>
                <a:ea typeface="Vollkorn"/>
                <a:cs typeface="Vollkorn"/>
                <a:sym typeface="Vollkorn"/>
              </a:rPr>
              <a:t>: Web-inspired sensing networks could identify unusual vibrations and help detect possible damage.</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Material Innovation</a:t>
            </a:r>
            <a:r>
              <a:rPr lang="en-US" sz="3073">
                <a:solidFill>
                  <a:srgbClr val="1B1B1B"/>
                </a:solidFill>
                <a:latin typeface="Vollkorn"/>
                <a:ea typeface="Vollkorn"/>
                <a:cs typeface="Vollkorn"/>
                <a:sym typeface="Vollkorn"/>
              </a:rPr>
              <a:t>: Spider-silk-inspired fibres may lead to lightweight components with useful strength and flexibility.</a:t>
            </a:r>
          </a:p>
        </p:txBody>
      </p:sp>
      <p:sp>
        <p:nvSpPr>
          <p:cNvPr id="5" name="Freeform 5"/>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6769307" y="1095375"/>
            <a:ext cx="4749386" cy="1222375"/>
          </a:xfrm>
          <a:prstGeom prst="rect">
            <a:avLst/>
          </a:prstGeom>
        </p:spPr>
        <p:txBody>
          <a:bodyPr lIns="0" tIns="0" rIns="0" bIns="0" rtlCol="0" anchor="t">
            <a:spAutoFit/>
          </a:bodyPr>
          <a:lstStyle/>
          <a:p>
            <a:pPr algn="l">
              <a:lnSpc>
                <a:spcPts val="9349"/>
              </a:lnSpc>
            </a:pPr>
            <a:r>
              <a:rPr lang="en-US" sz="8499">
                <a:solidFill>
                  <a:srgbClr val="1B1B1B"/>
                </a:solidFill>
                <a:latin typeface="Vollkorn"/>
                <a:ea typeface="Vollkorn"/>
                <a:cs typeface="Vollkorn"/>
                <a:sym typeface="Vollkorn"/>
              </a:rPr>
              <a:t>Summary</a:t>
            </a:r>
          </a:p>
        </p:txBody>
      </p:sp>
      <p:sp>
        <p:nvSpPr>
          <p:cNvPr id="3" name="TextBox 3"/>
          <p:cNvSpPr txBox="1"/>
          <p:nvPr/>
        </p:nvSpPr>
        <p:spPr>
          <a:xfrm>
            <a:off x="3366689" y="2192561"/>
            <a:ext cx="11554622" cy="447675"/>
          </a:xfrm>
          <a:prstGeom prst="rect">
            <a:avLst/>
          </a:prstGeom>
        </p:spPr>
        <p:txBody>
          <a:bodyPr lIns="0" tIns="0" rIns="0" bIns="0" rtlCol="0" anchor="t">
            <a:spAutoFit/>
          </a:bodyPr>
          <a:lstStyle/>
          <a:p>
            <a:pPr algn="ctr">
              <a:lnSpc>
                <a:spcPts val="3300"/>
              </a:lnSpc>
            </a:pPr>
            <a:r>
              <a:rPr lang="en-US" sz="3000">
                <a:solidFill>
                  <a:srgbClr val="1B1B1B"/>
                </a:solidFill>
                <a:latin typeface="Vollkorn"/>
                <a:ea typeface="Vollkorn"/>
                <a:cs typeface="Vollkorn"/>
                <a:sym typeface="Vollkorn"/>
              </a:rPr>
              <a:t>Current Applications and Limitations</a:t>
            </a:r>
          </a:p>
        </p:txBody>
      </p:sp>
      <p:sp>
        <p:nvSpPr>
          <p:cNvPr id="4" name="TextBox 4"/>
          <p:cNvSpPr txBox="1"/>
          <p:nvPr/>
        </p:nvSpPr>
        <p:spPr>
          <a:xfrm>
            <a:off x="1986295" y="2769524"/>
            <a:ext cx="14315410" cy="7306610"/>
          </a:xfrm>
          <a:prstGeom prst="rect">
            <a:avLst/>
          </a:prstGeom>
        </p:spPr>
        <p:txBody>
          <a:bodyPr lIns="0" tIns="0" rIns="0" bIns="0" rtlCol="0" anchor="t">
            <a:spAutoFit/>
          </a:bodyPr>
          <a:lstStyle/>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Existing Research Uses</a:t>
            </a:r>
            <a:r>
              <a:rPr lang="en-US" sz="3073">
                <a:solidFill>
                  <a:srgbClr val="1B1B1B"/>
                </a:solidFill>
                <a:latin typeface="Vollkorn"/>
                <a:ea typeface="Vollkorn"/>
                <a:cs typeface="Vollkorn"/>
                <a:sym typeface="Vollkorn"/>
              </a:rPr>
              <a:t>: Spider-web principles are being explored in experimental lattices, sensing devices, and bio-inspired materials.</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Architectural Potential</a:t>
            </a:r>
            <a:r>
              <a:rPr lang="en-US" sz="3073">
                <a:solidFill>
                  <a:srgbClr val="1B1B1B"/>
                </a:solidFill>
                <a:latin typeface="Vollkorn"/>
                <a:ea typeface="Vollkorn"/>
                <a:cs typeface="Vollkorn"/>
                <a:sym typeface="Vollkorn"/>
              </a:rPr>
              <a:t>: Related principles of tension and network connectivity already appear in cable roofs and tensile structures.</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Manufacturing Challenges</a:t>
            </a:r>
            <a:r>
              <a:rPr lang="en-US" sz="3073">
                <a:solidFill>
                  <a:srgbClr val="1B1B1B"/>
                </a:solidFill>
                <a:latin typeface="Vollkorn"/>
                <a:ea typeface="Vollkorn"/>
                <a:cs typeface="Vollkorn"/>
                <a:sym typeface="Vollkorn"/>
              </a:rPr>
              <a:t>: Producing artificial spider silk and complex interconnected networks at large scale can be expensive.</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Safety Requirements</a:t>
            </a:r>
            <a:r>
              <a:rPr lang="en-US" sz="3073">
                <a:solidFill>
                  <a:srgbClr val="1B1B1B"/>
                </a:solidFill>
                <a:latin typeface="Vollkorn"/>
                <a:ea typeface="Vollkorn"/>
                <a:cs typeface="Vollkorn"/>
                <a:sym typeface="Vollkorn"/>
              </a:rPr>
              <a:t>: Building applications require extensive testing for durability, weather resistance, and structural reliability.</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a:solidFill>
                  <a:srgbClr val="1B1B1B"/>
                </a:solidFill>
                <a:latin typeface="Vollkorn"/>
                <a:ea typeface="Vollkorn"/>
                <a:cs typeface="Vollkorn"/>
                <a:sym typeface="Vollkorn"/>
              </a:rPr>
              <a:t>• </a:t>
            </a:r>
            <a:r>
              <a:rPr lang="en-US" sz="3073" b="1">
                <a:solidFill>
                  <a:srgbClr val="1B1B1B"/>
                </a:solidFill>
                <a:latin typeface="Vollkorn Bold"/>
                <a:ea typeface="Vollkorn Bold"/>
                <a:cs typeface="Vollkorn Bold"/>
                <a:sym typeface="Vollkorn Bold"/>
              </a:rPr>
              <a:t>Implementation Gap</a:t>
            </a:r>
            <a:r>
              <a:rPr lang="en-US" sz="3073">
                <a:solidFill>
                  <a:srgbClr val="1B1B1B"/>
                </a:solidFill>
                <a:latin typeface="Vollkorn"/>
                <a:ea typeface="Vollkorn"/>
                <a:cs typeface="Vollkorn"/>
                <a:sym typeface="Vollkorn"/>
              </a:rPr>
              <a:t>: Many direct spider-web-inspired construction concepts remain at the research or prototype stage.</a:t>
            </a:r>
          </a:p>
          <a:p>
            <a:pPr algn="l">
              <a:lnSpc>
                <a:spcPts val="3381"/>
              </a:lnSpc>
            </a:pPr>
            <a:endParaRPr lang="en-US" sz="3073">
              <a:solidFill>
                <a:srgbClr val="1B1B1B"/>
              </a:solidFill>
              <a:latin typeface="Vollkorn"/>
              <a:ea typeface="Vollkorn"/>
              <a:cs typeface="Vollkorn"/>
              <a:sym typeface="Vollkorn"/>
            </a:endParaRPr>
          </a:p>
          <a:p>
            <a:pPr algn="l">
              <a:lnSpc>
                <a:spcPts val="3381"/>
              </a:lnSpc>
            </a:pPr>
            <a:r>
              <a:rPr lang="en-US" sz="3073" b="1">
                <a:solidFill>
                  <a:srgbClr val="1B1B1B"/>
                </a:solidFill>
                <a:latin typeface="Vollkorn Bold"/>
                <a:ea typeface="Vollkorn Bold"/>
                <a:cs typeface="Vollkorn Bold"/>
                <a:sym typeface="Vollkorn Bold"/>
              </a:rPr>
              <a:t>Conclusion</a:t>
            </a:r>
            <a:r>
              <a:rPr lang="en-US" sz="3073">
                <a:solidFill>
                  <a:srgbClr val="1B1B1B"/>
                </a:solidFill>
                <a:latin typeface="Vollkorn"/>
                <a:ea typeface="Vollkorn"/>
                <a:cs typeface="Vollkorn"/>
                <a:sym typeface="Vollkorn"/>
              </a:rPr>
              <a:t>: Spider webs offer valuable design principles, but each engineering application must be tested for practical use.</a:t>
            </a:r>
          </a:p>
        </p:txBody>
      </p:sp>
      <p:sp>
        <p:nvSpPr>
          <p:cNvPr id="5" name="Freeform 5"/>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4112189" y="2299123"/>
            <a:ext cx="10063622" cy="558800"/>
          </a:xfrm>
          <a:prstGeom prst="rect">
            <a:avLst/>
          </a:prstGeom>
        </p:spPr>
        <p:txBody>
          <a:bodyPr lIns="0" tIns="0" rIns="0" bIns="0" rtlCol="0" anchor="t">
            <a:spAutoFit/>
          </a:bodyPr>
          <a:lstStyle/>
          <a:p>
            <a:pPr algn="ctr">
              <a:lnSpc>
                <a:spcPts val="4374"/>
              </a:lnSpc>
            </a:pPr>
            <a:r>
              <a:rPr lang="en-US" sz="3499">
                <a:solidFill>
                  <a:srgbClr val="1B1B1B"/>
                </a:solidFill>
                <a:latin typeface="Vollkorn"/>
                <a:ea typeface="Vollkorn"/>
                <a:cs typeface="Vollkorn"/>
                <a:sym typeface="Vollkorn"/>
              </a:rPr>
              <a:t>Adaptive Structures and Smart Buildings</a:t>
            </a:r>
          </a:p>
        </p:txBody>
      </p:sp>
      <p:sp>
        <p:nvSpPr>
          <p:cNvPr id="3" name="TextBox 3"/>
          <p:cNvSpPr txBox="1"/>
          <p:nvPr/>
        </p:nvSpPr>
        <p:spPr>
          <a:xfrm>
            <a:off x="3397116" y="1095375"/>
            <a:ext cx="11493768" cy="1232323"/>
          </a:xfrm>
          <a:prstGeom prst="rect">
            <a:avLst/>
          </a:prstGeom>
        </p:spPr>
        <p:txBody>
          <a:bodyPr lIns="0" tIns="0" rIns="0" bIns="0" rtlCol="0" anchor="t">
            <a:spAutoFit/>
          </a:bodyPr>
          <a:lstStyle/>
          <a:p>
            <a:pPr algn="ctr">
              <a:lnSpc>
                <a:spcPts val="9386"/>
              </a:lnSpc>
            </a:pPr>
            <a:r>
              <a:rPr lang="en-US" sz="8533">
                <a:solidFill>
                  <a:srgbClr val="1B1B1B"/>
                </a:solidFill>
                <a:latin typeface="Vollkorn"/>
                <a:ea typeface="Vollkorn"/>
                <a:cs typeface="Vollkorn"/>
                <a:sym typeface="Vollkorn"/>
              </a:rPr>
              <a:t>Future Possibilities</a:t>
            </a:r>
          </a:p>
        </p:txBody>
      </p:sp>
      <p:sp>
        <p:nvSpPr>
          <p:cNvPr id="4" name="TextBox 4"/>
          <p:cNvSpPr txBox="1"/>
          <p:nvPr/>
        </p:nvSpPr>
        <p:spPr>
          <a:xfrm>
            <a:off x="1742135" y="2981011"/>
            <a:ext cx="14803730" cy="7066280"/>
          </a:xfrm>
          <a:prstGeom prst="rect">
            <a:avLst/>
          </a:prstGeom>
        </p:spPr>
        <p:txBody>
          <a:bodyPr lIns="0" tIns="0" rIns="0" bIns="0" rtlCol="0" anchor="t">
            <a:spAutoFit/>
          </a:bodyPr>
          <a:lstStyle/>
          <a:p>
            <a:pPr algn="l">
              <a:lnSpc>
                <a:spcPts val="4000"/>
              </a:lnSpc>
            </a:pPr>
            <a:r>
              <a:rPr lang="en-US" sz="3200">
                <a:solidFill>
                  <a:srgbClr val="1B1B1B"/>
                </a:solidFill>
                <a:latin typeface="Vollkorn"/>
                <a:ea typeface="Vollkorn"/>
                <a:cs typeface="Vollkorn"/>
                <a:sym typeface="Vollkorn"/>
              </a:rPr>
              <a:t>• </a:t>
            </a:r>
            <a:r>
              <a:rPr lang="en-US" sz="3200" b="1">
                <a:solidFill>
                  <a:srgbClr val="1B1B1B"/>
                </a:solidFill>
                <a:latin typeface="Vollkorn Bold"/>
                <a:ea typeface="Vollkorn Bold"/>
                <a:cs typeface="Vollkorn Bold"/>
                <a:sym typeface="Vollkorn Bold"/>
              </a:rPr>
              <a:t>Adaptive Cable Networks</a:t>
            </a:r>
            <a:r>
              <a:rPr lang="en-US" sz="3200">
                <a:solidFill>
                  <a:srgbClr val="1B1B1B"/>
                </a:solidFill>
                <a:latin typeface="Vollkorn"/>
                <a:ea typeface="Vollkorn"/>
                <a:cs typeface="Vollkorn"/>
                <a:sym typeface="Vollkorn"/>
              </a:rPr>
              <a:t>: Cables could adjust tension in response to changing loads and wind conditions.</a:t>
            </a:r>
          </a:p>
          <a:p>
            <a:pPr algn="l">
              <a:lnSpc>
                <a:spcPts val="4000"/>
              </a:lnSpc>
            </a:pPr>
            <a:endParaRPr lang="en-US" sz="3200">
              <a:solidFill>
                <a:srgbClr val="1B1B1B"/>
              </a:solidFill>
              <a:latin typeface="Vollkorn"/>
              <a:ea typeface="Vollkorn"/>
              <a:cs typeface="Vollkorn"/>
              <a:sym typeface="Vollkorn"/>
            </a:endParaRPr>
          </a:p>
          <a:p>
            <a:pPr algn="l">
              <a:lnSpc>
                <a:spcPts val="4000"/>
              </a:lnSpc>
            </a:pPr>
            <a:r>
              <a:rPr lang="en-US" sz="3200">
                <a:solidFill>
                  <a:srgbClr val="1B1B1B"/>
                </a:solidFill>
                <a:latin typeface="Vollkorn"/>
                <a:ea typeface="Vollkorn"/>
                <a:cs typeface="Vollkorn"/>
                <a:sym typeface="Vollkorn"/>
              </a:rPr>
              <a:t>• </a:t>
            </a:r>
            <a:r>
              <a:rPr lang="en-US" sz="3200" b="1">
                <a:solidFill>
                  <a:srgbClr val="1B1B1B"/>
                </a:solidFill>
                <a:latin typeface="Vollkorn Bold"/>
                <a:ea typeface="Vollkorn Bold"/>
                <a:cs typeface="Vollkorn Bold"/>
                <a:sym typeface="Vollkorn Bold"/>
              </a:rPr>
              <a:t>Smart Structural Monitoring</a:t>
            </a:r>
            <a:r>
              <a:rPr lang="en-US" sz="3200">
                <a:solidFill>
                  <a:srgbClr val="1B1B1B"/>
                </a:solidFill>
                <a:latin typeface="Vollkorn"/>
                <a:ea typeface="Vollkorn"/>
                <a:cs typeface="Vollkorn"/>
                <a:sym typeface="Vollkorn"/>
              </a:rPr>
              <a:t>: Connected sensors could detect unusual vibrations and identify possible damage early.</a:t>
            </a:r>
          </a:p>
          <a:p>
            <a:pPr algn="l">
              <a:lnSpc>
                <a:spcPts val="4000"/>
              </a:lnSpc>
            </a:pPr>
            <a:endParaRPr lang="en-US" sz="3200">
              <a:solidFill>
                <a:srgbClr val="1B1B1B"/>
              </a:solidFill>
              <a:latin typeface="Vollkorn"/>
              <a:ea typeface="Vollkorn"/>
              <a:cs typeface="Vollkorn"/>
              <a:sym typeface="Vollkorn"/>
            </a:endParaRPr>
          </a:p>
          <a:p>
            <a:pPr algn="l">
              <a:lnSpc>
                <a:spcPts val="4000"/>
              </a:lnSpc>
            </a:pPr>
            <a:r>
              <a:rPr lang="en-US" sz="3200">
                <a:solidFill>
                  <a:srgbClr val="1B1B1B"/>
                </a:solidFill>
                <a:latin typeface="Vollkorn"/>
                <a:ea typeface="Vollkorn"/>
                <a:cs typeface="Vollkorn"/>
                <a:sym typeface="Vollkorn"/>
              </a:rPr>
              <a:t>• </a:t>
            </a:r>
            <a:r>
              <a:rPr lang="en-US" sz="3200" b="1">
                <a:solidFill>
                  <a:srgbClr val="1B1B1B"/>
                </a:solidFill>
                <a:latin typeface="Vollkorn Bold"/>
                <a:ea typeface="Vollkorn Bold"/>
                <a:cs typeface="Vollkorn Bold"/>
                <a:sym typeface="Vollkorn Bold"/>
              </a:rPr>
              <a:t>Self-Healing Connections</a:t>
            </a:r>
            <a:r>
              <a:rPr lang="en-US" sz="3200">
                <a:solidFill>
                  <a:srgbClr val="1B1B1B"/>
                </a:solidFill>
                <a:latin typeface="Vollkorn"/>
                <a:ea typeface="Vollkorn"/>
                <a:cs typeface="Vollkorn"/>
                <a:sym typeface="Vollkorn"/>
              </a:rPr>
              <a:t>: Advanced materials or replaceable links could help structures recover from minor damage.</a:t>
            </a:r>
          </a:p>
          <a:p>
            <a:pPr algn="l">
              <a:lnSpc>
                <a:spcPts val="4000"/>
              </a:lnSpc>
            </a:pPr>
            <a:endParaRPr lang="en-US" sz="3200">
              <a:solidFill>
                <a:srgbClr val="1B1B1B"/>
              </a:solidFill>
              <a:latin typeface="Vollkorn"/>
              <a:ea typeface="Vollkorn"/>
              <a:cs typeface="Vollkorn"/>
              <a:sym typeface="Vollkorn"/>
            </a:endParaRPr>
          </a:p>
          <a:p>
            <a:pPr algn="l">
              <a:lnSpc>
                <a:spcPts val="4000"/>
              </a:lnSpc>
            </a:pPr>
            <a:r>
              <a:rPr lang="en-US" sz="3200">
                <a:solidFill>
                  <a:srgbClr val="1B1B1B"/>
                </a:solidFill>
                <a:latin typeface="Vollkorn"/>
                <a:ea typeface="Vollkorn"/>
                <a:cs typeface="Vollkorn"/>
                <a:sym typeface="Vollkorn"/>
              </a:rPr>
              <a:t>• </a:t>
            </a:r>
            <a:r>
              <a:rPr lang="en-US" sz="3200" b="1">
                <a:solidFill>
                  <a:srgbClr val="1B1B1B"/>
                </a:solidFill>
                <a:latin typeface="Vollkorn Bold"/>
                <a:ea typeface="Vollkorn Bold"/>
                <a:cs typeface="Vollkorn Bold"/>
                <a:sym typeface="Vollkorn Bold"/>
              </a:rPr>
              <a:t>Lightweight Materials</a:t>
            </a:r>
            <a:r>
              <a:rPr lang="en-US" sz="3200">
                <a:solidFill>
                  <a:srgbClr val="1B1B1B"/>
                </a:solidFill>
                <a:latin typeface="Vollkorn"/>
                <a:ea typeface="Vollkorn"/>
                <a:cs typeface="Vollkorn"/>
                <a:sym typeface="Vollkorn"/>
              </a:rPr>
              <a:t>: Artificial spider-silk fibres could support strong, flexible, and lightweight construction components.</a:t>
            </a:r>
          </a:p>
          <a:p>
            <a:pPr algn="l">
              <a:lnSpc>
                <a:spcPts val="4000"/>
              </a:lnSpc>
            </a:pPr>
            <a:endParaRPr lang="en-US" sz="3200">
              <a:solidFill>
                <a:srgbClr val="1B1B1B"/>
              </a:solidFill>
              <a:latin typeface="Vollkorn"/>
              <a:ea typeface="Vollkorn"/>
              <a:cs typeface="Vollkorn"/>
              <a:sym typeface="Vollkorn"/>
            </a:endParaRPr>
          </a:p>
          <a:p>
            <a:pPr algn="l">
              <a:lnSpc>
                <a:spcPts val="4000"/>
              </a:lnSpc>
            </a:pPr>
            <a:r>
              <a:rPr lang="en-US" sz="3200">
                <a:solidFill>
                  <a:srgbClr val="1B1B1B"/>
                </a:solidFill>
                <a:latin typeface="Vollkorn"/>
                <a:ea typeface="Vollkorn"/>
                <a:cs typeface="Vollkorn"/>
                <a:sym typeface="Vollkorn"/>
              </a:rPr>
              <a:t>• </a:t>
            </a:r>
            <a:r>
              <a:rPr lang="en-US" sz="3200" b="1">
                <a:solidFill>
                  <a:srgbClr val="1B1B1B"/>
                </a:solidFill>
                <a:latin typeface="Vollkorn Bold"/>
                <a:ea typeface="Vollkorn Bold"/>
                <a:cs typeface="Vollkorn Bold"/>
                <a:sym typeface="Vollkorn Bold"/>
              </a:rPr>
              <a:t>Sustainable Construction</a:t>
            </a:r>
            <a:r>
              <a:rPr lang="en-US" sz="3200">
                <a:solidFill>
                  <a:srgbClr val="1B1B1B"/>
                </a:solidFill>
                <a:latin typeface="Vollkorn"/>
                <a:ea typeface="Vollkorn"/>
                <a:cs typeface="Vollkorn"/>
                <a:sym typeface="Vollkorn"/>
              </a:rPr>
              <a:t>: Optimised web-like networks could reduce material use while maintaining structural performance.</a:t>
            </a:r>
          </a:p>
        </p:txBody>
      </p:sp>
      <p:sp>
        <p:nvSpPr>
          <p:cNvPr id="5" name="Freeform 5"/>
          <p:cNvSpPr/>
          <p:nvPr/>
        </p:nvSpPr>
        <p:spPr>
          <a:xfrm rot="5400000" flipV="1">
            <a:off x="-232131" y="55781"/>
            <a:ext cx="3838822" cy="3550910"/>
          </a:xfrm>
          <a:custGeom>
            <a:avLst/>
            <a:gdLst/>
            <a:ahLst/>
            <a:cxnLst/>
            <a:rect l="l" t="t" r="r" b="b"/>
            <a:pathLst>
              <a:path w="3838822" h="3550910">
                <a:moveTo>
                  <a:pt x="0" y="3550910"/>
                </a:moveTo>
                <a:lnTo>
                  <a:pt x="3838822" y="3550910"/>
                </a:lnTo>
                <a:lnTo>
                  <a:pt x="3838822" y="0"/>
                </a:lnTo>
                <a:lnTo>
                  <a:pt x="0" y="0"/>
                </a:lnTo>
                <a:lnTo>
                  <a:pt x="0" y="355091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4E9AE"/>
        </a:solidFill>
        <a:effectLst/>
      </p:bgPr>
    </p:bg>
    <p:spTree>
      <p:nvGrpSpPr>
        <p:cNvPr id="1" name=""/>
        <p:cNvGrpSpPr/>
        <p:nvPr/>
      </p:nvGrpSpPr>
      <p:grpSpPr>
        <a:xfrm>
          <a:off x="0" y="0"/>
          <a:ext cx="0" cy="0"/>
          <a:chOff x="0" y="0"/>
          <a:chExt cx="0" cy="0"/>
        </a:xfrm>
      </p:grpSpPr>
      <p:sp>
        <p:nvSpPr>
          <p:cNvPr id="2" name="TextBox 2"/>
          <p:cNvSpPr txBox="1"/>
          <p:nvPr/>
        </p:nvSpPr>
        <p:spPr>
          <a:xfrm>
            <a:off x="4332247" y="2824761"/>
            <a:ext cx="9130242" cy="4751777"/>
          </a:xfrm>
          <a:prstGeom prst="rect">
            <a:avLst/>
          </a:prstGeom>
        </p:spPr>
        <p:txBody>
          <a:bodyPr lIns="0" tIns="0" rIns="0" bIns="0" rtlCol="0" anchor="t">
            <a:spAutoFit/>
          </a:bodyPr>
          <a:lstStyle/>
          <a:p>
            <a:pPr algn="ctr">
              <a:lnSpc>
                <a:spcPts val="16759"/>
              </a:lnSpc>
            </a:pPr>
            <a:r>
              <a:rPr lang="en-US" sz="18020">
                <a:solidFill>
                  <a:srgbClr val="1B1B1B"/>
                </a:solidFill>
                <a:latin typeface="Times New Roman MT"/>
                <a:ea typeface="Times New Roman MT"/>
                <a:cs typeface="Times New Roman MT"/>
                <a:sym typeface="Times New Roman MT"/>
              </a:rPr>
              <a:t>Thank You</a:t>
            </a:r>
          </a:p>
        </p:txBody>
      </p:sp>
      <p:sp>
        <p:nvSpPr>
          <p:cNvPr id="3" name="Freeform 3"/>
          <p:cNvSpPr/>
          <p:nvPr/>
        </p:nvSpPr>
        <p:spPr>
          <a:xfrm>
            <a:off x="14670319" y="-1432063"/>
            <a:ext cx="4688686" cy="4651703"/>
          </a:xfrm>
          <a:custGeom>
            <a:avLst/>
            <a:gdLst/>
            <a:ahLst/>
            <a:cxnLst/>
            <a:rect l="l" t="t" r="r" b="b"/>
            <a:pathLst>
              <a:path w="4688686" h="4651703">
                <a:moveTo>
                  <a:pt x="0" y="0"/>
                </a:moveTo>
                <a:lnTo>
                  <a:pt x="4688686" y="0"/>
                </a:lnTo>
                <a:lnTo>
                  <a:pt x="4688686" y="4651703"/>
                </a:lnTo>
                <a:lnTo>
                  <a:pt x="0" y="46517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4" name="Freeform 4"/>
          <p:cNvSpPr/>
          <p:nvPr/>
        </p:nvSpPr>
        <p:spPr>
          <a:xfrm rot="-5400000">
            <a:off x="-188380" y="5652884"/>
            <a:ext cx="5023479" cy="4646718"/>
          </a:xfrm>
          <a:custGeom>
            <a:avLst/>
            <a:gdLst/>
            <a:ahLst/>
            <a:cxnLst/>
            <a:rect l="l" t="t" r="r" b="b"/>
            <a:pathLst>
              <a:path w="5023479" h="4646718">
                <a:moveTo>
                  <a:pt x="0" y="0"/>
                </a:moveTo>
                <a:lnTo>
                  <a:pt x="5023478" y="0"/>
                </a:lnTo>
                <a:lnTo>
                  <a:pt x="5023478" y="4646718"/>
                </a:lnTo>
                <a:lnTo>
                  <a:pt x="0" y="464671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5" name="Freeform 5"/>
          <p:cNvSpPr/>
          <p:nvPr/>
        </p:nvSpPr>
        <p:spPr>
          <a:xfrm>
            <a:off x="1028700" y="7736049"/>
            <a:ext cx="1050353" cy="1522251"/>
          </a:xfrm>
          <a:custGeom>
            <a:avLst/>
            <a:gdLst/>
            <a:ahLst/>
            <a:cxnLst/>
            <a:rect l="l" t="t" r="r" b="b"/>
            <a:pathLst>
              <a:path w="1050353" h="1522251">
                <a:moveTo>
                  <a:pt x="0" y="0"/>
                </a:moveTo>
                <a:lnTo>
                  <a:pt x="1050353" y="0"/>
                </a:lnTo>
                <a:lnTo>
                  <a:pt x="1050353" y="1522251"/>
                </a:lnTo>
                <a:lnTo>
                  <a:pt x="0" y="1522251"/>
                </a:lnTo>
                <a:lnTo>
                  <a:pt x="0" y="0"/>
                </a:lnTo>
                <a:close/>
              </a:path>
            </a:pathLst>
          </a:custGeom>
          <a:blipFill>
            <a:blip>
              <a:alphaModFix amt="84000"/>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Freeform 6"/>
          <p:cNvSpPr/>
          <p:nvPr/>
        </p:nvSpPr>
        <p:spPr>
          <a:xfrm rot="-766226">
            <a:off x="12434667" y="5080341"/>
            <a:ext cx="7699557" cy="7699557"/>
          </a:xfrm>
          <a:custGeom>
            <a:avLst/>
            <a:gdLst/>
            <a:ahLst/>
            <a:cxnLst/>
            <a:rect l="l" t="t" r="r" b="b"/>
            <a:pathLst>
              <a:path w="7699557" h="7699557">
                <a:moveTo>
                  <a:pt x="0" y="0"/>
                </a:moveTo>
                <a:lnTo>
                  <a:pt x="7699557" y="0"/>
                </a:lnTo>
                <a:lnTo>
                  <a:pt x="7699557" y="7699557"/>
                </a:lnTo>
                <a:lnTo>
                  <a:pt x="0" y="7699557"/>
                </a:lnTo>
                <a:lnTo>
                  <a:pt x="0" y="0"/>
                </a:lnTo>
                <a:close/>
              </a:path>
            </a:pathLst>
          </a:custGeom>
          <a:blipFill>
            <a:blip r:embed="rId5">
              <a:alphaModFix amt="81000"/>
            </a:blip>
            <a:stretch>
              <a:fillRect/>
            </a:stretch>
          </a:blipFill>
        </p:spPr>
        <p:txBody>
          <a:bodyPr/>
          <a:lstStyle/>
          <a:p>
            <a:endParaRPr lang="en-US"/>
          </a:p>
        </p:txBody>
      </p:sp>
      <p:sp>
        <p:nvSpPr>
          <p:cNvPr id="7" name="Freeform 7"/>
          <p:cNvSpPr/>
          <p:nvPr/>
        </p:nvSpPr>
        <p:spPr>
          <a:xfrm rot="-10800000">
            <a:off x="-1468762" y="-1722343"/>
            <a:ext cx="12753461" cy="8247042"/>
          </a:xfrm>
          <a:custGeom>
            <a:avLst/>
            <a:gdLst/>
            <a:ahLst/>
            <a:cxnLst/>
            <a:rect l="l" t="t" r="r" b="b"/>
            <a:pathLst>
              <a:path w="12753461" h="8247042">
                <a:moveTo>
                  <a:pt x="0" y="0"/>
                </a:moveTo>
                <a:lnTo>
                  <a:pt x="12753461" y="0"/>
                </a:lnTo>
                <a:lnTo>
                  <a:pt x="12753461" y="8247041"/>
                </a:lnTo>
                <a:lnTo>
                  <a:pt x="0" y="8247041"/>
                </a:lnTo>
                <a:lnTo>
                  <a:pt x="0" y="0"/>
                </a:lnTo>
                <a:close/>
              </a:path>
            </a:pathLst>
          </a:custGeom>
          <a:blipFill>
            <a:blip r:embed="rId6"/>
            <a:stretch>
              <a:fillRect/>
            </a:stretch>
          </a:blipFill>
        </p:spPr>
        <p:txBody>
          <a:bodyPr/>
          <a:lstStyle/>
          <a:p>
            <a:endParaRPr lang="en-US"/>
          </a:p>
        </p:txBody>
      </p:sp>
      <p:grpSp>
        <p:nvGrpSpPr>
          <p:cNvPr id="8" name="Group 8"/>
          <p:cNvGrpSpPr/>
          <p:nvPr/>
        </p:nvGrpSpPr>
        <p:grpSpPr>
          <a:xfrm>
            <a:off x="12243762" y="-414936"/>
            <a:ext cx="2838650" cy="2458271"/>
            <a:chOff x="0" y="0"/>
            <a:chExt cx="6350000" cy="5499100"/>
          </a:xfrm>
        </p:grpSpPr>
        <p:sp>
          <p:nvSpPr>
            <p:cNvPr id="9" name="Freeform 9"/>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7">
                <a:alphaModFix amt="70000"/>
              </a:blip>
              <a:stretch>
                <a:fillRect l="-7733" r="-7733"/>
              </a:stretch>
            </a:blipFill>
          </p:spPr>
          <p:txBody>
            <a:bodyPr/>
            <a:lstStyle/>
            <a:p>
              <a:endParaRPr lang="en-US"/>
            </a:p>
          </p:txBody>
        </p:sp>
      </p:grpSp>
      <p:grpSp>
        <p:nvGrpSpPr>
          <p:cNvPr id="10" name="Group 10"/>
          <p:cNvGrpSpPr/>
          <p:nvPr/>
        </p:nvGrpSpPr>
        <p:grpSpPr>
          <a:xfrm>
            <a:off x="14826106" y="1028700"/>
            <a:ext cx="2344343" cy="2046392"/>
            <a:chOff x="0" y="0"/>
            <a:chExt cx="6350000" cy="5542956"/>
          </a:xfrm>
        </p:grpSpPr>
        <p:sp>
          <p:nvSpPr>
            <p:cNvPr id="11" name="Freeform 11"/>
            <p:cNvSpPr/>
            <p:nvPr/>
          </p:nvSpPr>
          <p:spPr>
            <a:xfrm>
              <a:off x="0" y="0"/>
              <a:ext cx="6350000" cy="5542956"/>
            </a:xfrm>
            <a:custGeom>
              <a:avLst/>
              <a:gdLst/>
              <a:ahLst/>
              <a:cxnLst/>
              <a:rect l="l" t="t" r="r" b="b"/>
              <a:pathLst>
                <a:path w="6350000" h="5542956">
                  <a:moveTo>
                    <a:pt x="4762500" y="0"/>
                  </a:moveTo>
                  <a:lnTo>
                    <a:pt x="1587500" y="0"/>
                  </a:lnTo>
                  <a:lnTo>
                    <a:pt x="0" y="2771478"/>
                  </a:lnTo>
                  <a:lnTo>
                    <a:pt x="1587500" y="5542956"/>
                  </a:lnTo>
                  <a:lnTo>
                    <a:pt x="4762500" y="5542956"/>
                  </a:lnTo>
                  <a:lnTo>
                    <a:pt x="6350000" y="2771478"/>
                  </a:lnTo>
                  <a:close/>
                </a:path>
              </a:pathLst>
            </a:custGeom>
            <a:blipFill>
              <a:blip r:embed="rId7">
                <a:alphaModFix amt="70000"/>
              </a:blip>
              <a:stretch>
                <a:fillRect l="-8193" r="-8193"/>
              </a:stretch>
            </a:blipFill>
          </p:spPr>
          <p:txBody>
            <a:bodyPr/>
            <a:lstStyle/>
            <a:p>
              <a:endParaRPr lang="en-US"/>
            </a:p>
          </p:txBody>
        </p:sp>
      </p:grpSp>
      <p:grpSp>
        <p:nvGrpSpPr>
          <p:cNvPr id="12" name="Group 12"/>
          <p:cNvGrpSpPr/>
          <p:nvPr/>
        </p:nvGrpSpPr>
        <p:grpSpPr>
          <a:xfrm>
            <a:off x="14826106" y="-1292946"/>
            <a:ext cx="2433194" cy="2107146"/>
            <a:chOff x="0" y="0"/>
            <a:chExt cx="6350000" cy="5499100"/>
          </a:xfrm>
        </p:grpSpPr>
        <p:sp>
          <p:nvSpPr>
            <p:cNvPr id="13" name="Freeform 13"/>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7">
                <a:alphaModFix amt="70000"/>
              </a:blip>
              <a:stretch>
                <a:fillRect l="-7733" r="-7733"/>
              </a:stretch>
            </a:blipFill>
          </p:spPr>
          <p:txBody>
            <a:bodyPr/>
            <a:lstStyle/>
            <a:p>
              <a:endParaRPr lang="en-US"/>
            </a:p>
          </p:txBody>
        </p:sp>
      </p:grpSp>
      <p:grpSp>
        <p:nvGrpSpPr>
          <p:cNvPr id="14" name="Group 14"/>
          <p:cNvGrpSpPr/>
          <p:nvPr/>
        </p:nvGrpSpPr>
        <p:grpSpPr>
          <a:xfrm>
            <a:off x="16804992" y="-159784"/>
            <a:ext cx="2433194" cy="2107146"/>
            <a:chOff x="0" y="0"/>
            <a:chExt cx="6350000" cy="5499100"/>
          </a:xfrm>
        </p:grpSpPr>
        <p:sp>
          <p:nvSpPr>
            <p:cNvPr id="15" name="Freeform 15"/>
            <p:cNvSpPr/>
            <p:nvPr/>
          </p:nvSpPr>
          <p:spPr>
            <a:xfrm>
              <a:off x="0" y="0"/>
              <a:ext cx="6350000" cy="5499100"/>
            </a:xfrm>
            <a:custGeom>
              <a:avLst/>
              <a:gdLst/>
              <a:ahLst/>
              <a:cxnLst/>
              <a:rect l="l" t="t" r="r" b="b"/>
              <a:pathLst>
                <a:path w="6350000" h="5499100">
                  <a:moveTo>
                    <a:pt x="4762500" y="0"/>
                  </a:moveTo>
                  <a:lnTo>
                    <a:pt x="1587500" y="0"/>
                  </a:lnTo>
                  <a:lnTo>
                    <a:pt x="0" y="2749550"/>
                  </a:lnTo>
                  <a:lnTo>
                    <a:pt x="1587500" y="5499100"/>
                  </a:lnTo>
                  <a:lnTo>
                    <a:pt x="4762500" y="5499100"/>
                  </a:lnTo>
                  <a:lnTo>
                    <a:pt x="6350000" y="2749550"/>
                  </a:lnTo>
                  <a:close/>
                </a:path>
              </a:pathLst>
            </a:custGeom>
            <a:blipFill>
              <a:blip r:embed="rId7">
                <a:alphaModFix amt="70000"/>
              </a:blip>
              <a:stretch>
                <a:fillRect l="-7733" r="-7733"/>
              </a:stretch>
            </a:blipFill>
          </p:spPr>
          <p:txBody>
            <a:bodyPr/>
            <a:lstStyle/>
            <a:p>
              <a:endParaRPr lang="en-US"/>
            </a:p>
          </p:txBody>
        </p:sp>
      </p:grpSp>
      <p:grpSp>
        <p:nvGrpSpPr>
          <p:cNvPr id="16" name="Group 16"/>
          <p:cNvGrpSpPr/>
          <p:nvPr/>
        </p:nvGrpSpPr>
        <p:grpSpPr>
          <a:xfrm>
            <a:off x="12243762" y="-325944"/>
            <a:ext cx="2838650" cy="2439465"/>
            <a:chOff x="0" y="0"/>
            <a:chExt cx="812800" cy="698500"/>
          </a:xfrm>
        </p:grpSpPr>
        <p:sp>
          <p:nvSpPr>
            <p:cNvPr id="17" name="Freeform 17"/>
            <p:cNvSpPr/>
            <p:nvPr/>
          </p:nvSpPr>
          <p:spPr>
            <a:xfrm>
              <a:off x="0" y="0"/>
              <a:ext cx="812800" cy="698500"/>
            </a:xfrm>
            <a:custGeom>
              <a:avLst/>
              <a:gdLst/>
              <a:ahLst/>
              <a:cxnLst/>
              <a:rect l="l" t="t" r="r" b="b"/>
              <a:pathLst>
                <a:path w="812800" h="698500">
                  <a:moveTo>
                    <a:pt x="812800" y="349250"/>
                  </a:moveTo>
                  <a:lnTo>
                    <a:pt x="609600" y="698500"/>
                  </a:lnTo>
                  <a:lnTo>
                    <a:pt x="203200" y="698500"/>
                  </a:lnTo>
                  <a:lnTo>
                    <a:pt x="0" y="349250"/>
                  </a:lnTo>
                  <a:lnTo>
                    <a:pt x="203200" y="0"/>
                  </a:lnTo>
                  <a:lnTo>
                    <a:pt x="609600" y="0"/>
                  </a:lnTo>
                  <a:lnTo>
                    <a:pt x="812800" y="349250"/>
                  </a:lnTo>
                  <a:close/>
                </a:path>
              </a:pathLst>
            </a:custGeom>
            <a:ln w="66675" cap="sq">
              <a:solidFill>
                <a:srgbClr val="1B1B1B"/>
              </a:solidFill>
              <a:prstDash val="solid"/>
              <a:miter/>
            </a:ln>
          </p:spPr>
          <p:txBody>
            <a:bodyPr/>
            <a:lstStyle/>
            <a:p>
              <a:endParaRPr lang="en-US"/>
            </a:p>
          </p:txBody>
        </p:sp>
        <p:sp>
          <p:nvSpPr>
            <p:cNvPr id="18" name="TextBox 18"/>
            <p:cNvSpPr txBox="1"/>
            <p:nvPr/>
          </p:nvSpPr>
          <p:spPr>
            <a:xfrm>
              <a:off x="114300" y="-57150"/>
              <a:ext cx="584200" cy="755650"/>
            </a:xfrm>
            <a:prstGeom prst="rect">
              <a:avLst/>
            </a:prstGeom>
          </p:spPr>
          <p:txBody>
            <a:bodyPr lIns="50800" tIns="50800" rIns="50800" bIns="50800" rtlCol="0" anchor="ctr"/>
            <a:lstStyle/>
            <a:p>
              <a:pPr algn="ctr">
                <a:lnSpc>
                  <a:spcPts val="3359"/>
                </a:lnSpc>
              </a:pPr>
              <a:endParaRPr/>
            </a:p>
          </p:txBody>
        </p:sp>
      </p:grpSp>
      <p:sp>
        <p:nvSpPr>
          <p:cNvPr id="19" name="Freeform 19"/>
          <p:cNvSpPr/>
          <p:nvPr/>
        </p:nvSpPr>
        <p:spPr>
          <a:xfrm rot="-4208746">
            <a:off x="16803444" y="1835572"/>
            <a:ext cx="3183011" cy="3183011"/>
          </a:xfrm>
          <a:custGeom>
            <a:avLst/>
            <a:gdLst/>
            <a:ahLst/>
            <a:cxnLst/>
            <a:rect l="l" t="t" r="r" b="b"/>
            <a:pathLst>
              <a:path w="3183011" h="3183011">
                <a:moveTo>
                  <a:pt x="0" y="0"/>
                </a:moveTo>
                <a:lnTo>
                  <a:pt x="3183011" y="0"/>
                </a:lnTo>
                <a:lnTo>
                  <a:pt x="3183011" y="3183010"/>
                </a:lnTo>
                <a:lnTo>
                  <a:pt x="0" y="3183010"/>
                </a:lnTo>
                <a:lnTo>
                  <a:pt x="0" y="0"/>
                </a:lnTo>
                <a:close/>
              </a:path>
            </a:pathLst>
          </a:custGeom>
          <a:blipFill>
            <a:blip r:embed="rId8">
              <a:alphaModFix amt="70000"/>
            </a:blip>
            <a:stretch>
              <a:fillRect/>
            </a:stretch>
          </a:blipFill>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2976</Words>
  <Application>Microsoft Office PowerPoint</Application>
  <PresentationFormat>Custom</PresentationFormat>
  <Paragraphs>347</Paragraphs>
  <Slides>38</Slides>
  <Notes>0</Notes>
  <HiddenSlides>0</HiddenSlides>
  <MMClips>3</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38</vt:i4>
      </vt:variant>
    </vt:vector>
  </HeadingPairs>
  <TitlesOfParts>
    <vt:vector size="52" baseType="lpstr">
      <vt:lpstr>Arimo</vt:lpstr>
      <vt:lpstr>Arimo Bold</vt:lpstr>
      <vt:lpstr>Times New Roman MT Semi-Bold</vt:lpstr>
      <vt:lpstr>Times New Roman MT Bold</vt:lpstr>
      <vt:lpstr>Work Sans Bold</vt:lpstr>
      <vt:lpstr>Times New Roman MT</vt:lpstr>
      <vt:lpstr>Canva Sans Bold</vt:lpstr>
      <vt:lpstr>Vollkorn</vt:lpstr>
      <vt:lpstr>The Seasons</vt:lpstr>
      <vt:lpstr>Work Sans</vt:lpstr>
      <vt:lpstr>Arial</vt:lpstr>
      <vt:lpstr>Vollkorn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EOB Presentation final</dc:title>
  <cp:lastModifiedBy>Suryansh Mishra</cp:lastModifiedBy>
  <cp:revision>2</cp:revision>
  <dcterms:created xsi:type="dcterms:W3CDTF">2006-08-16T00:00:00Z</dcterms:created>
  <dcterms:modified xsi:type="dcterms:W3CDTF">2026-10-13T15:54:07Z</dcterms:modified>
  <dc:identifier>DAHVqYCYk6k</dc:identifier>
</cp:coreProperties>
</file>